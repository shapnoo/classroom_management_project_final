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Hind Siliguri" panose="02000000000000000000" pitchFamily="2" charset="77"/>
      <p:regular r:id="rId27"/>
      <p:bold r:id="rId28"/>
    </p:embeddedFont>
    <p:embeddedFont>
      <p:font typeface="Plus Jakarta Sans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F00"/>
    <a:srgbClr val="096400"/>
    <a:srgbClr val="0E5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1"/>
    <p:restoredTop sz="94708"/>
  </p:normalViewPr>
  <p:slideViewPr>
    <p:cSldViewPr snapToGrid="0">
      <p:cViewPr varScale="1">
        <p:scale>
          <a:sx n="95" d="100"/>
          <a:sy n="95" d="100"/>
        </p:scale>
        <p:origin x="208" y="6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772025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9431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2381250"/>
            <a:ext cx="99012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ন্যাশনাল হসপিটালিটি ক্লাউড ও ইউনিফাইড ট্যুরিজম ইকোসিস্টেম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676650"/>
            <a:ext cx="7905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7F3D0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বাংলাদেশ পর্যটন করপোরেশনের ৪৩+ হোটেল, মোটেল, রিসোর্ট ও ট্যুরিজম সেবার কেন্দ্রীয় ক্লাউড রূপান্তর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1943100"/>
            <a:ext cx="37147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পাকীজা সফটওয়্যার লিমিটেড | কৌশলগত প্রযুক্তি প্রস্তাবনা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429000" y="4698675"/>
            <a:ext cx="574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Hind Siliguri"/>
                <a:ea typeface="Hind Siliguri"/>
                <a:cs typeface="Hind Siliguri"/>
                <a:sym typeface="Hind Siliguri"/>
              </a:rPr>
              <a:t>উপস্থাপনায়: </a:t>
            </a:r>
            <a:r>
              <a:rPr lang="en-US" sz="1200">
                <a:solidFill>
                  <a:srgbClr val="CBD5E1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পাকীজা সফটওয়্যার লিমিটেড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E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2892623"/>
            <a:ext cx="38100" cy="20383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343400" y="2892623"/>
            <a:ext cx="38100" cy="20383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8077200" y="2892623"/>
            <a:ext cx="38100" cy="20383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6300" y="3197423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201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09600" y="587831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পটভূমি ও চ্যালেঞ্জ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762083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বর্তমান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ব্যবস্থার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সীমাবদ্ধতা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বনাম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আধুনিক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সেন্ট্রালাইজেশন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654623"/>
            <a:ext cx="31003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91B1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বিচ্ছিন্ন ইউনিট পরিচালনা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4073723"/>
            <a:ext cx="2952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কেন্দ্রীয় ডাটাবেস না থাকায় রিয়েল-টাইম আসন ও আয়ের তথ্য অনুপস্থিত।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86300" y="3654623"/>
            <a:ext cx="31003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2400E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ইনভেন্টরি লিকুইডেশন সংকট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686300" y="4073723"/>
            <a:ext cx="2952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ম্যানুয়াল বুকিংয়ের কারণে ডাবল-বুকিং ও রাজস্ব হারানোর ঝুঁকি।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20100" y="3654623"/>
            <a:ext cx="31003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65F46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পাকীজার সমন্বিত রূপরেখা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420100" y="4073723"/>
            <a:ext cx="29527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একক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পোর্টালে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১০০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%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স্বচ্ছতা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অটো-চালান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কেন্দ্রীয়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অডিট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ট্রেইল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496528-AD93-C094-1CDA-522AA1F92547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9FCB916-02DE-300A-69C8-0F037BB9DC74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112" name="Google Shape;112;p14"/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104;p14">
              <a:extLst>
                <a:ext uri="{FF2B5EF4-FFF2-40B4-BE49-F238E27FC236}">
                  <a16:creationId xmlns:a16="http://schemas.microsoft.com/office/drawing/2014/main" id="{A55F3693-A970-F9E8-FBF0-3B78D48CCCEA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B696D8F-E372-F742-5C9D-6EE6A661F588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5510B8-01CE-9C4A-66FF-6B1B2E5C6929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7C891C7-D3E4-353F-3930-DDD615EA1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609600" y="2535435"/>
            <a:ext cx="2600325" cy="275272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400425" y="2535435"/>
            <a:ext cx="2600325" cy="275272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191250" y="2535435"/>
            <a:ext cx="2600325" cy="275272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982075" y="2535435"/>
            <a:ext cx="2600325" cy="2752725"/>
          </a:xfrm>
          <a:prstGeom prst="roundRect">
            <a:avLst>
              <a:gd name="adj" fmla="val 4395"/>
            </a:avLst>
          </a:prstGeom>
          <a:solidFill>
            <a:srgbClr val="064E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38200" y="4154685"/>
            <a:ext cx="2143125" cy="62865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629025" y="4430910"/>
            <a:ext cx="2143125" cy="62865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419850" y="4154685"/>
            <a:ext cx="2143125" cy="62865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210675" y="4154685"/>
            <a:ext cx="2143125" cy="628650"/>
          </a:xfrm>
          <a:prstGeom prst="roundRect">
            <a:avLst>
              <a:gd name="adj" fmla="val 9090"/>
            </a:avLst>
          </a:prstGeom>
          <a:solidFill>
            <a:srgbClr val="2B69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538524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আঞ্চলিক</a:t>
            </a:r>
            <a:r>
              <a:rPr lang="en-US" sz="1125" b="1" i="0" u="none" strike="noStrike" cap="none" dirty="0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125" b="1" i="0" u="none" strike="noStrike" cap="none" dirty="0" err="1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দৃষ্টান্ত</a:t>
            </a:r>
            <a:r>
              <a:rPr lang="en-US" sz="1125" b="1" i="0" u="none" strike="noStrike" cap="none" dirty="0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125" b="1" i="0" u="none" strike="noStrike" cap="none" dirty="0" err="1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1125" b="1" i="0" u="none" strike="noStrike" cap="none" dirty="0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125" b="1" i="0" u="none" strike="noStrike" cap="none" dirty="0" err="1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তুলনামূলক</a:t>
            </a:r>
            <a:r>
              <a:rPr lang="en-US" sz="1125" b="1" i="0" u="none" strike="noStrike" cap="none" dirty="0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125" b="1" i="0" u="none" strike="noStrike" cap="none" dirty="0" err="1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পর্যালোচনা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73967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প্রতিবেশী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দেশসমূহের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অভিজ্ঞতা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থেকে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বাংলাদেশের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কৌশলগত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শ্রেষ্ঠত্ব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38200" y="3487935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স্থানীয় পেমেন্ট গেটওয়ে থাকলেও কোনো এআই রুট প্ল্যানার নেই।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52500" y="4230885"/>
            <a:ext cx="20097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সীমাবদ্ধতা: বিচ্ছিন্ন আঞ্চলিক ফ্রেমওয়ার্ক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629025" y="3487935"/>
            <a:ext cx="2238375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ডিজিটাল ভেরিফিকেশন উন্নত হলেও অভ্যন্তরীণ হোটেল বুকিং দুর্বল।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3743325" y="4507110"/>
            <a:ext cx="20097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সীমাবদ্ধতা: শুধুমাত্র আন্তর্জাতিক ভিসা কেন্দ্রিক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419850" y="3487935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প্রাইভেট ওটিএ নির্ভরতায় সরকারি রাজস্বের সরাসরি নিয়ন্ত্রণ নেই।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34150" y="4230885"/>
            <a:ext cx="20097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সীমাবদ্ধতা: সরকারি ট্রেজারি লিংকের অনুপস্থিতি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210675" y="3487935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CFDF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হোটেল বুকিং + ই-টিকিট + এআই ট্রিপ + সরকারি ট্রেজারি একীভূত।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324975" y="4230885"/>
            <a:ext cx="20097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শ্রেষ্ঠত্ব: শতভাগ সার্বভৌম ক্লাউড সিস্টেম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200" y="2764035"/>
            <a:ext cx="166770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নেপাল (eBookingNepal)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2331243" y="2764035"/>
            <a:ext cx="74533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Wallets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3629025" y="2764035"/>
            <a:ext cx="151097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মালদ্বীপ (Maldives 2.0)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972794" y="2764035"/>
            <a:ext cx="89460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Biometric E-Visa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419850" y="2764035"/>
            <a:ext cx="149737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থাইল্যান্ড (TAGTHAi)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7750671" y="2764035"/>
            <a:ext cx="90755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All-in-one Pass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210675" y="2764035"/>
            <a:ext cx="152019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পাকীজার সমাধান (বিপিসি)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0563225" y="2764035"/>
            <a:ext cx="88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A7F3D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Sovereign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D3E687-B4BB-AC75-DB2A-99C3CCCDC370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B5F834E-03B9-619F-C85F-FA9BD32A22E7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A47B5FEE-C888-C980-81B1-C5072934950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9436979C-36F4-5C18-8755-1A2093C86B96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C1868C-3453-665F-3C1C-5DB581B5A018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2C83F4D-5E58-D48C-A955-BF03A524F29C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803CFF-D59F-CF3B-4B71-6D14FE88A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609600" y="3025973"/>
            <a:ext cx="2600325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400425" y="3025973"/>
            <a:ext cx="2600325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191250" y="3025973"/>
            <a:ext cx="2600325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982075" y="3025973"/>
            <a:ext cx="2600325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254573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9025" y="325457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850" y="325457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10675" y="325457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সিস্টেম আর্কিটেকচার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09600" y="645541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এন্টারপ্রাইজ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মাইক্রোসার্ভিসেস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ন্যাশনাল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ডেটা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সেন্টার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হোস্টিং</a:t>
            </a:r>
            <a:endParaRPr dirty="0"/>
          </a:p>
        </p:txBody>
      </p:sp>
      <p:sp>
        <p:nvSpPr>
          <p:cNvPr id="157" name="Google Shape;157;p16"/>
          <p:cNvSpPr txBox="1"/>
          <p:nvPr/>
        </p:nvSpPr>
        <p:spPr>
          <a:xfrm>
            <a:off x="838200" y="3635573"/>
            <a:ext cx="23502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মাইক্রোসার্ভিসেস ফ্রেমওয়ার্ক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38200" y="4016573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মডুলার ডকার ও কুবারনেটিস ম্যানেজমেন্ট।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3629025" y="3635573"/>
            <a:ext cx="23502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Tier-IV NDC কমপ্লায়েন্ট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629025" y="4016573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জাতীয় ডেটা সেন্টারে ১০০% ডেটা সভরেন্টি।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419850" y="3635573"/>
            <a:ext cx="23502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অটো-স্কেলিং সক্ষমতা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419850" y="4016573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পিক সিজনে ২০,০০০+ কনকারেন্ট রিকোয়েস্ট।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210675" y="3635573"/>
            <a:ext cx="23502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BNDA স্ট্যান্ডার্ড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9210675" y="4016573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বাংলাদেশ ন্যাশনাল ডিজিটাল আর্কিটেকচার মানদণ্ড।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BC6B9F-B7B4-8629-D6C8-6300124AF3F0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2E2F78-C9F6-897A-9887-4878338BE71E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ED4784B8-32D2-0BF3-A056-E4459BA5CCA8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0B8775CE-2586-1154-1569-792D8C345FBF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D097844-18B7-FB9A-1223-14A690D31797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5EEA4F-2796-9A22-83D5-C3BEF8BB3B1C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F8DE62-0B0B-22BA-B77F-C9D151474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609600" y="2959298"/>
            <a:ext cx="1685925" cy="19050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466975" y="2959298"/>
            <a:ext cx="1685925" cy="19050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324350" y="2959298"/>
            <a:ext cx="1685925" cy="19050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181725" y="2959298"/>
            <a:ext cx="1685925" cy="19050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8039100" y="2959298"/>
            <a:ext cx="1685925" cy="19050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9896475" y="2959298"/>
            <a:ext cx="1685925" cy="19050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9212" y="316884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7537" y="3168848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3962" y="316884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05625" y="316884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48712" y="316884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39425" y="3168848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ইকোসিস্টেমের রূপরেখা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09600" y="658988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একটি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প্ল্যাটফর্মে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৬টি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মূল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মডিউলের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সমন্বয়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621208" y="3549848"/>
            <a:ext cx="166270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১. হোটেল পিএমএস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60796" y="4159448"/>
            <a:ext cx="158353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কেন্দ্রীয় বুকিং ও রুম বণ্টন।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2478583" y="3549848"/>
            <a:ext cx="16627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২. ই-টিকেটিং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2518171" y="3883223"/>
            <a:ext cx="158353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পার্ক ও হেরিটেজ কিউআর গেট।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335958" y="3549848"/>
            <a:ext cx="166270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৩. এআই ট্রিপ প্ল্যানার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4375546" y="4159448"/>
            <a:ext cx="158353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স্মার্ট রুট ও গাইড হায়ার।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193333" y="3549848"/>
            <a:ext cx="166270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৪. লোকাল ই-কমার্স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232921" y="4159448"/>
            <a:ext cx="158353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স্থানীয় জিআই কারুশিল্প বাজার।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050708" y="3549848"/>
            <a:ext cx="166270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৫. ট্যুরিস্ট পুলিশ এসওএস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090296" y="4159448"/>
            <a:ext cx="158353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Hind Siliguri"/>
                <a:ea typeface="Hind Siliguri"/>
                <a:cs typeface="Hind Siliguri"/>
                <a:sym typeface="Hind Siliguri"/>
              </a:rPr>
              <a:t>১-ক্লিক জরুরি নিরাপত্তা হাব।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9908083" y="3549848"/>
            <a:ext cx="166270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৬. ট্রেজারি অটো-চালান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9947671" y="4159448"/>
            <a:ext cx="158353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সোনালী ব্যাংক রাজস্ব লিংকেজ।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02E6046-3ABF-1FF0-32B2-70CEC2CF3983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19EC56D-BF56-7DF2-D7A4-37E0DA45A5A0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8AF08F28-578B-0BFE-2255-E419CD322401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9134FD4B-E376-6D4D-4403-F7DF38DE623D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850863B-688C-ED99-3A34-2DC36FE2C5C6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4DB958-94DD-F4C9-5F4C-1D63A18D33E9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A86B7E-E79E-4518-A06E-720CFF875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০১: সিটিজেন বুকিং পোর্টাল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09600" y="658988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নাগরিক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পর্যটক-বান্ধব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আধুনিক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ওয়েব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ইন্টারফেস</a:t>
            </a:r>
            <a:endParaRPr dirty="0"/>
          </a:p>
        </p:txBody>
      </p:sp>
      <p:sp>
        <p:nvSpPr>
          <p:cNvPr id="207" name="Google Shape;207;p18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সুনির্দিষ্ট রুম সিলেকশন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914400" y="4073723"/>
            <a:ext cx="29908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ফ্লোর ম্যাপ দেখে পছন্দের রুম নম্বর নির্বাচন।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৩৬০° ভার্চুয়াল ট্যুর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4648200" y="4073723"/>
            <a:ext cx="29908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রুম বুকিংয়ের পূর্বেই সুযোগ-সুবিধা পরিদর্শন।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দ্বিভাষিক ও বহু-মুদ্রা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বাংলা/ইংরেজি ভাষা ও টাকা/ডলারে স্বয়ংক্রিয় মূল্য।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D91954-A19E-7B06-F44E-4D172FAA1403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E7B9E07-0350-15C8-8BF8-16ABCC49EA94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66E96176-6B57-761D-788A-829B3B354AD9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13A621D4-ABDD-99C0-4A39-7D201D477F36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BF0E268-E940-9B0C-F3F0-FE9C1D179EFD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4B88E7-3924-FE8A-3310-24FDE32C3BBC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2815A61-AB17-95EF-B681-6FB1B3F44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০২: ফ্রন্ট-ডেস্ক পিএমএস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09600" y="685882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মাঠপর্যায়ে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দ্রুততম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এনআইডি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ভেরিফিকেশন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কি-কার্ড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ম্যানেজমেন্ট</a:t>
            </a:r>
            <a:endParaRPr dirty="0"/>
          </a:p>
        </p:txBody>
      </p:sp>
      <p:sp>
        <p:nvSpPr>
          <p:cNvPr id="225" name="Google Shape;225;p19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২০ সেকেন্ডে এনআইডি চেক-ইন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পরিচয় এপিআই বা স্ক্যানারে স্বয়ংক্রিয় গেস্ট রেজিস্ট্রেশন।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আরএফআইডি ডোর-লক লিংক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বিল ক্লিয়ারের সাথে ডিজিটাল কি-কার্ড অ্যাক্টিভেশন।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রুম স্ট্যাটাস টেপ-চার্ট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কালার-কোডেড গ্রিডে খালি ও সংরক্ষিত রুমের দৃশ্যমানতা।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502E05-9AD6-17D4-166F-79487AC7229D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EDAD564-AAC4-99A4-0706-52DB2E23A883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69571F23-E663-FD5E-793D-219D772D9D84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A42EDCA4-7B9A-3532-6329-9EC6F9575838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20FBAD7-37E7-455D-55B0-D0306C4A4B6D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49CD7C-91DC-C236-5266-8181BDD6F5DA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0E38EB5-3BD2-E987-0685-43D61AFC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609600" y="2630685"/>
            <a:ext cx="5334000" cy="2562225"/>
          </a:xfrm>
          <a:prstGeom prst="roundRect">
            <a:avLst>
              <a:gd name="adj" fmla="val 5204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248400" y="2630685"/>
            <a:ext cx="5334000" cy="2562225"/>
          </a:xfrm>
          <a:prstGeom prst="roundRect">
            <a:avLst>
              <a:gd name="adj" fmla="val 5204"/>
            </a:avLst>
          </a:prstGeom>
          <a:solidFill>
            <a:srgbClr val="FEFCE8"/>
          </a:solidFill>
          <a:ln w="9525" cap="flat" cmpd="sng">
            <a:solidFill>
              <a:srgbClr val="FEF0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2025" y="298311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00825" y="298311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০৩: নেটওয়ার্ক স্থিতিশীলতা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প্রত্যন্ত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অঞ্চলের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মোটেলের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জন্য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অফলাইন-ফার্স্ট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এজ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ইঞ্জিন</a:t>
            </a:r>
            <a:endParaRPr dirty="0"/>
          </a:p>
        </p:txBody>
      </p:sp>
      <p:sp>
        <p:nvSpPr>
          <p:cNvPr id="241" name="Google Shape;241;p20"/>
          <p:cNvSpPr txBox="1"/>
          <p:nvPr/>
        </p:nvSpPr>
        <p:spPr>
          <a:xfrm>
            <a:off x="962025" y="3440310"/>
            <a:ext cx="4960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66534"/>
                </a:solidFill>
                <a:latin typeface="Hind Siliguri"/>
                <a:ea typeface="Hind Siliguri"/>
                <a:cs typeface="Hind Siliguri"/>
                <a:sym typeface="Hind Siliguri"/>
              </a:rPr>
              <a:t>লোকাল এজ সার্ভার ক্যাশ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962025" y="3897510"/>
            <a:ext cx="47244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বান্দরবান বা সাজেকে ইন্টারনেট না থাকলেও নিরবচ্ছিন্ন ফ্রন্ট ডেস্ক অপারেশন।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962025" y="4564260"/>
            <a:ext cx="4724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স্থানীয় ক্যাশ রসিদ ও চেক-ইন চালু থাকে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600825" y="3440310"/>
            <a:ext cx="4960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54D0E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কনফ্লিক্ট-ফ্রি ক্লাউড সিঙ্ক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600825" y="3897510"/>
            <a:ext cx="47244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ইন্টারনেট সংযুক্ত হওয়া মাত্র সেন্ট্রাল ডাটাবেজে তাৎক্ষণিক ব্যাকগ্রাউন্ড সিঙ্ক।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600825" y="4564260"/>
            <a:ext cx="4724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1620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শূন্য ডেটা লস ও ডাবল বুকিং সুরক্ষা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CB3D54-633D-515C-1EF3-02A11E351951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42522D2-69BC-4D1A-3A65-699DE924A57F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5B03A3A7-A4CD-255F-F2CC-1170F027447C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563B6AED-A1FA-3C53-5D76-2AEF4759C492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1CE4375-CEFD-A8AD-3305-E2F99BECBF39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2A7065-DBD9-B54E-8D90-2305CBFD3DBA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B39142A-DBFF-08B9-1D96-0ACD92266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০৪: পার্ক ও স্পট টিকেটিং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ঐতিহাসিক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স্থান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ইকোপার্ক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সমূহের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ডিজিটাল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এন্ট্রি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গেটওয়ে</a:t>
            </a:r>
            <a:endParaRPr dirty="0"/>
          </a:p>
        </p:txBody>
      </p:sp>
      <p:sp>
        <p:nvSpPr>
          <p:cNvPr id="259" name="Google Shape;259;p21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টার্নস্টাইল কিউআর গেট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মোবাইল টিকিট স্ক্যানে স্বয়ংক্রিয় ব্যারিয়ার উন্মোচন।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ক্রাউড ম্যানেজমেন্ট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4648200" y="4073723"/>
            <a:ext cx="29908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স্লট-ভিত্তিক ভিজিটর ক্যাপাসিটি নিয়ন্ত্রণ।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গেটের অনিয়ম রোধ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টিকেটের পুনর্ব্যবহার রোধে শতভাগ রাজস্ব স্বচ্ছতা।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BF6354-7C50-A3A2-6096-904219549C32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3FD6B3-2D9C-63EE-541C-057E05B3D65A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919C160B-717C-E463-4209-944F627956BB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3C5EFFC2-1013-E40B-FBB8-007B0E986728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8BE22A5-BCB8-5414-2EDC-F51AF6BD1C14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5AC395-5A42-0824-8D57-E6F6AC7BD0A7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D10E7B0-A4BF-26B2-403D-406448846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০৫: রেস্তোরাঁ ও পিওএস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সমন্বিত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পয়েন্ট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অব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সেল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রুম-বিল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মার্জিং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সিস্টেম</a:t>
            </a:r>
            <a:endParaRPr dirty="0"/>
          </a:p>
        </p:txBody>
      </p:sp>
      <p:sp>
        <p:nvSpPr>
          <p:cNvPr id="277" name="Google Shape;277;p22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রুম ফোলিও চার্জিং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রেস্তোরাঁর খাবারের বিল সরাসরি রুমের মূল বিলে মার্জ।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কিচেন ডিসপ্লে (KDS)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অর্ডার সরাসরি কিচেন স্ক্রিনে প্রেরণ ও খাবার ট্র্যাকিং।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ডিউটি-ফ্রি ও বার ট্র্যাকিং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লাইসেন্স ও পাসপোর্ট ভেরিফিকেশন সহ এক্সাইজ কমপ্লায়েন্স।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147AFA-BC36-D976-8125-C15F2AF861A2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E671B72-029C-1307-9254-D6B9687425D7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948B28E4-40A7-6C9F-75E6-B3AE13D88EFC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23B7A7BB-C348-89CA-3AD5-1C87F33484C4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2CF5FD8-AC4A-01C7-AD8A-5AEFCE1BF641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2863F4-2ED5-833F-A876-BA5532546862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F5A1D9B-697D-19E9-91A3-475B293D9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০৬: কনফারেন্স ও ব্যাঙ্কোয়েট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সরকারি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সেমিনার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প্রাতিষ্ঠানিক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হলরুম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বুকিং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ব্যবস্থাপনা</a:t>
            </a:r>
            <a:endParaRPr dirty="0"/>
          </a:p>
        </p:txBody>
      </p:sp>
      <p:sp>
        <p:nvSpPr>
          <p:cNvPr id="295" name="Google Shape;295;p23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স্লট-ভিত্তিক হল শিডিউলিং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অর্ধদিবস ও পূর্ণদিবস হিসেবে অডিটোরিয়াম বুকিং।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অ্যাড-অন সার্ভিস প্যাকেজ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সাউন্ড সিস্টেম, প্রজেক্টর ও ক্যাটারিং হিসাবের সমন্বয়।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সরকারি রেফারেন্স কোটেশন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সরকারি দপ্তরের অফিশিয়াল জিও (GO) ট্র্যাকিং সুবিধা।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F98FA5-3FC9-7ACF-8CDD-15BF7FC86CE3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1E738EC-F13A-8985-9DB6-0B2D212F46A7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B2BEF827-E40D-A9BE-2610-4F21CB8C882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36926AAD-8F42-7C60-53B8-0982E2F8222A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81BF4DB-CB96-3DD4-6DCA-F27F67DCF9C4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481E94-6CDC-24FC-1D97-8853D5460284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EBD6C2-F9DB-844D-E0FD-58E8EB8CC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০৭: স্থানীয় ঐতিহ্য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প্রান্তিক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কারুশিল্পী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ভৌগোলিক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নির্দেশক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(GI)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পণ্যের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বাজার</a:t>
            </a:r>
            <a:endParaRPr dirty="0"/>
          </a:p>
        </p:txBody>
      </p:sp>
      <p:sp>
        <p:nvSpPr>
          <p:cNvPr id="313" name="Google Shape;313;p24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খাদি, জামদানি ও পাহাড়ি তাঁত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স্থানীয় প্রস্তুতকারকদের কাছ থেকে সরাসরি সংগ্রহ।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মোটেলে পণ্য ডেলিভারি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অ্যাপে অর্ডার করে রুমেই আসল কারুপণ্য গ্রহণ।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ন্যায্য মূল্য নিশ্চিতকরণ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8382000" y="4073723"/>
            <a:ext cx="29908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মধ্যস্বত্বভোগী ছাড়া রাজস্ব ভাগাভাগি ব্যবস্থা।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874048-8EA5-66AF-6C74-4CF12BBAA17D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9E0CD8C-107A-0F73-7EF4-00B2CBF9909F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CB581C1F-8D30-71F9-D9B9-AE1BB3B5A4AA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7FFF87E1-1714-43E1-0191-54D1584599F9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8629E90-A1B3-B687-0A5B-922B42499AD6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87557C-4B4E-FD52-9DBF-77D1B8A2EB0A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47F8F1-4A3E-DFD0-DC14-4D8AF7F10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০৮: এআই ভ্রমণ সহকারী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স্মার্ট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ট্যুর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প্ল্যানার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সার্টিফাইড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গাইড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বুকিং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হাব</a:t>
            </a:r>
            <a:endParaRPr dirty="0"/>
          </a:p>
        </p:txBody>
      </p:sp>
      <p:sp>
        <p:nvSpPr>
          <p:cNvPr id="331" name="Google Shape;331;p25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অটোমেটেড ভ্রমণ রুট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বাজেট ও সময় অনুযায়ী সেকেন্ডে ভ্রমণ পরিকল্পনা তৈরি।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বিপিসি অনুমোদিত গাইড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4648200" y="4073723"/>
            <a:ext cx="29908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রেটিং ও ভাষা দক্ষতা যাচাই করে গাইড বুকিং।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২৪/৭ স্মার্ট চ্যাটবট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পর্যটকদের তাৎক্ষণিক প্রশ্নের নির্ভরযোগ্য সমাধান।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73EBCD-679A-BFBB-983A-BA0BD0CBB4AA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151A6D7-90D3-8C60-5B6D-EA1D3CD47C53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F246A77D-7759-2CE7-E3FC-2C094C84F3B3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3B2E0C20-7446-AFB1-153B-9F3D69A4CBFE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3FF793F-E949-6B94-3575-518DBAC5FE3A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284A38-9C9C-5DB3-AB32-5FE7CA10EC63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98AC59-4F1B-854B-F16C-B56640E44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6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০৯: পর্যটক নিরাপত্তা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১-ক্লিক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ইমার্জেন্সি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এসওএস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ট্যুরিস্ট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পুলিশ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ইন্টিগ্রেশন</a:t>
            </a:r>
            <a:endParaRPr dirty="0"/>
          </a:p>
        </p:txBody>
      </p:sp>
      <p:sp>
        <p:nvSpPr>
          <p:cNvPr id="349" name="Google Shape;349;p26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১-ক্লিক এসওএস এলার্ট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তাৎক্ষণিক জিপিএস লোকেশন সরাসরি পুলিশ কন্ট্রোলে প্রেরণ।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৯৯৯ ও স্থানীয় ফাঁড়ি লিংক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জাতীয় জরুরি সেবায় সরাসরি সংযোগ ও সহায়তা।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জিও-ফেন্সিং সতর্কবার্তা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সৈকত বা পাহাড়ের ঝুঁকিপূর্ণ জোনে স্বয়ংক্রিয় পুশ অ্যালার্ট।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1D83F4-EA0A-60BE-EE00-8968C0E51529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0A17C8C-A3B3-AED4-E2D9-CB65F90650A8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AEE2FDAF-4771-0F04-4D58-AD3A6ACD5F39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1D5250A3-CB68-B155-9C3E-E2B56BED28B2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1FEF671-494C-0606-89D1-626EB4408421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5B80AF-DB94-F036-07CC-6C52E1062421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DA9F8F-C758-BE25-721E-955EEE6F0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7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মডিউল ১০: সরকারি প্রটোকল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মন্ত্রণালয়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ভিআইপি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কোটা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বরাদ্দ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ব্যবস্থাপনা</a:t>
            </a:r>
            <a:endParaRPr dirty="0"/>
          </a:p>
        </p:txBody>
      </p:sp>
      <p:sp>
        <p:nvSpPr>
          <p:cNvPr id="367" name="Google Shape;367;p27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ভিআইপি সুইট রিজার্ভেশন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রাষ্ট্রীয় ডেলিগেটদের জন্য নির্ধারিত সংরক্ষিত রুম ব্যবস্থা।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ডিজিটাল অনুমোদন লেয়ার</a:t>
            </a:r>
            <a:endParaRPr/>
          </a:p>
        </p:txBody>
      </p:sp>
      <p:sp>
        <p:nvSpPr>
          <p:cNvPr id="370" name="Google Shape;370;p27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হেড অফিসের দায়িত্বশীল কর্মকর্তার ডিজিটাল ওটিপি নিশ্চিতকরণ।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অফিসিয়াল টিএ/ডিএ ইনভয়েস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সরকারি গেজেট নির্ধারিত ভ্রমণ ভাতা রেটে স্বয়ংক্রিয় বিল।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5773A4-F951-48EC-655A-A7E9691600E8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C7292E6-4C95-D96B-EADA-D6161C287B8D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5BF91FD7-CF68-73C3-05DC-8FDEBA1FA541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731B54E5-8BC4-365C-157B-0B4ACD98554A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E004BE-151E-02DA-B415-54BA0A8ED001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219C186-FD76-A852-5E84-F9B2DC01744C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3A64EDA-20BB-40A3-0F4C-A93C04433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82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রাজস্ব অপ্টিমাইজেশন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সরকারি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সিলিংয়ের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মধ্যে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স্মার্ট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ডায়নামিক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প্রাইসিং</a:t>
            </a:r>
            <a:endParaRPr dirty="0"/>
          </a:p>
        </p:txBody>
      </p:sp>
      <p:sp>
        <p:nvSpPr>
          <p:cNvPr id="384" name="Google Shape;384;p28"/>
          <p:cNvSpPr txBox="1"/>
          <p:nvPr/>
        </p:nvSpPr>
        <p:spPr>
          <a:xfrm>
            <a:off x="914400" y="344507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চাহিদাভিত্তিক রেট পলিসি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914400" y="386417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পিক মৌসুমে রাজস্ব বাড়াতে রুল-বেসড রেট অ্যাডাপ্টেশন।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মন্ত্রণালয় নির্ধারিত সিলিং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ভাড়া বৃদ্ধির সর্বোচ্চ সীমা অক্ষুণ্ণ রেখে ভোক্তার সুরক্ষা।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অফ-পিক সিজন প্যাকেজ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বর্ষা ও অফ-সিজনে স্বয়ংক্রিয় কর্পোরেট ডিসকাউন্ট ইঞ্জিন।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8CC7C4-091E-1F13-A050-AEC8F867878A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BE84FBD-04A9-2D50-8A6B-D2D88BFA1106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B24E2E58-E4FD-3F80-6F58-E1B091F4E58F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A3E8082F-92D1-01E7-B2F9-8D3031F83818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26EE5A4-7C6B-1D36-871A-EF793857FF1D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7DAAEA-E6EC-6EAA-CC3A-74B12A42AECC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3FF505-C1DE-4590-A7ED-61AFBF297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"/>
          <p:cNvSpPr/>
          <p:nvPr/>
        </p:nvSpPr>
        <p:spPr>
          <a:xfrm>
            <a:off x="609600" y="3016448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3400425" y="3016448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6191250" y="3016448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8982075" y="3016448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26409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8075" y="3264098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326409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29725" y="3264098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সরকারি আর্থিক স্বচ্ছতা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সরাসরি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বিপিসি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ব্যাংক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অ্যাকাউন্ট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অটোমেটেড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এ-চালান</a:t>
            </a:r>
            <a:endParaRPr dirty="0"/>
          </a:p>
        </p:txBody>
      </p:sp>
      <p:sp>
        <p:nvSpPr>
          <p:cNvPr id="404" name="Google Shape;404;p29"/>
          <p:cNvSpPr txBox="1"/>
          <p:nvPr/>
        </p:nvSpPr>
        <p:spPr>
          <a:xfrm>
            <a:off x="857250" y="3645098"/>
            <a:ext cx="23102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সোনালী ব্যাংক গেটওয়ে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857250" y="4007048"/>
            <a:ext cx="2200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সরকারি ট্রেজারির সাথে তাৎক্ষণিক সমন্বয়।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3648075" y="3645098"/>
            <a:ext cx="23102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অটোমেটেড এ-চালান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3648075" y="4007048"/>
            <a:ext cx="2200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নির্দিষ্ট রাজস্ব কোডে স্বয়ংক্রিয় চালান প্রাপ্তি।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6438900" y="3645098"/>
            <a:ext cx="23102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মূসক-৬.৩ ইনভয়েস</a:t>
            </a:r>
            <a:endParaRPr/>
          </a:p>
        </p:txBody>
      </p:sp>
      <p:sp>
        <p:nvSpPr>
          <p:cNvPr id="409" name="Google Shape;409;p29"/>
          <p:cNvSpPr txBox="1"/>
          <p:nvPr/>
        </p:nvSpPr>
        <p:spPr>
          <a:xfrm>
            <a:off x="6438900" y="4007048"/>
            <a:ext cx="2200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জাতীয় রাজস্ব বোর্ড (NBR) অনুমোদিত ভ্যাট রশিদ।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9229725" y="3645098"/>
            <a:ext cx="23102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সরাসরি বিপিসির একাউন্ট</a:t>
            </a:r>
            <a:endParaRPr/>
          </a:p>
        </p:txBody>
      </p:sp>
      <p:sp>
        <p:nvSpPr>
          <p:cNvPr id="411" name="Google Shape;411;p29"/>
          <p:cNvSpPr txBox="1"/>
          <p:nvPr/>
        </p:nvSpPr>
        <p:spPr>
          <a:xfrm>
            <a:off x="9229725" y="4007048"/>
            <a:ext cx="2200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কোনো মধ্যবর্তী একাউন্ট নয়; শতভাগ স্বচ্ছতা।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BB6CA2-477F-3655-D27C-64B228ED5ACD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CE5C975-98D5-A515-B93B-E5A0222F3F38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0FE70401-EB07-361C-96C9-18477816CDDB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5465360C-0874-5CE2-D103-7E6AD586C853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B60743-4D73-8115-B42A-97C376947D7D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840C10-CF17-2E61-0319-ACAC61ED21F5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74FAFD2-1BC6-2A78-720C-00CACC367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"/>
          <p:cNvSpPr/>
          <p:nvPr/>
        </p:nvSpPr>
        <p:spPr>
          <a:xfrm>
            <a:off x="6964709" y="2630685"/>
            <a:ext cx="4617690" cy="2562225"/>
          </a:xfrm>
          <a:prstGeom prst="roundRect">
            <a:avLst>
              <a:gd name="adj" fmla="val 594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609600" y="2730698"/>
            <a:ext cx="601220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609600" y="3997523"/>
            <a:ext cx="601220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609600" y="2730698"/>
            <a:ext cx="38100" cy="1095375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0"/>
          <p:cNvSpPr/>
          <p:nvPr/>
        </p:nvSpPr>
        <p:spPr>
          <a:xfrm>
            <a:off x="609600" y="3997523"/>
            <a:ext cx="38100" cy="1095375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সদর দপ্তর নিয়ন্ত্রণ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লাইভ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অকুপেন্সি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ট্র্যাকিং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এক্সিকিউটিভ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ড্যাশবোর্ড</a:t>
            </a:r>
            <a:endParaRPr dirty="0"/>
          </a:p>
        </p:txBody>
      </p:sp>
      <p:sp>
        <p:nvSpPr>
          <p:cNvPr id="423" name="Google Shape;423;p30"/>
          <p:cNvSpPr txBox="1"/>
          <p:nvPr/>
        </p:nvSpPr>
        <p:spPr>
          <a:xfrm>
            <a:off x="7269509" y="2935485"/>
            <a:ext cx="430850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হেড অফিসের অডিট কন্ট্রোল</a:t>
            </a:r>
            <a:endParaRPr/>
          </a:p>
        </p:txBody>
      </p:sp>
      <p:sp>
        <p:nvSpPr>
          <p:cNvPr id="424" name="Google Shape;424;p30"/>
          <p:cNvSpPr txBox="1"/>
          <p:nvPr/>
        </p:nvSpPr>
        <p:spPr>
          <a:xfrm>
            <a:off x="876300" y="2959298"/>
            <a:ext cx="589276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দেশব্যাপী অকুপেন্সি লাইভ চিত্র</a:t>
            </a:r>
            <a:endParaRPr/>
          </a:p>
        </p:txBody>
      </p:sp>
      <p:sp>
        <p:nvSpPr>
          <p:cNvPr id="425" name="Google Shape;425;p30"/>
          <p:cNvSpPr txBox="1"/>
          <p:nvPr/>
        </p:nvSpPr>
        <p:spPr>
          <a:xfrm>
            <a:off x="876300" y="3321248"/>
            <a:ext cx="56121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সকল মোটেল ও রিসোর্টের খালি ও বুকড রুম এক স্ক্রিনে দেখা।</a:t>
            </a:r>
            <a:endParaRPr/>
          </a:p>
        </p:txBody>
      </p:sp>
      <p:sp>
        <p:nvSpPr>
          <p:cNvPr id="426" name="Google Shape;426;p30"/>
          <p:cNvSpPr txBox="1"/>
          <p:nvPr/>
        </p:nvSpPr>
        <p:spPr>
          <a:xfrm>
            <a:off x="876300" y="4226123"/>
            <a:ext cx="589276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জিও-স্প্যাশিয়াল হিটম্যাপ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876300" y="4588073"/>
            <a:ext cx="56121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কোন জেলায় বিদেশি ও দেশি পর্যটকদের সমাগম বেশি তার দৃশ্যমানতা।</a:t>
            </a:r>
            <a:endParaRPr/>
          </a:p>
        </p:txBody>
      </p:sp>
      <p:sp>
        <p:nvSpPr>
          <p:cNvPr id="428" name="Google Shape;428;p30"/>
          <p:cNvSpPr txBox="1"/>
          <p:nvPr/>
        </p:nvSpPr>
        <p:spPr>
          <a:xfrm>
            <a:off x="7269509" y="3430785"/>
            <a:ext cx="819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মোট প্রপার্টি</a:t>
            </a:r>
            <a:endParaRPr/>
          </a:p>
        </p:txBody>
      </p:sp>
      <p:sp>
        <p:nvSpPr>
          <p:cNvPr id="429" name="Google Shape;429;p30"/>
          <p:cNvSpPr txBox="1"/>
          <p:nvPr/>
        </p:nvSpPr>
        <p:spPr>
          <a:xfrm>
            <a:off x="10487025" y="3430785"/>
            <a:ext cx="8858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43+ Units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7269509" y="4021335"/>
            <a:ext cx="147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দৈনিক আয় পর্যবেক্ষণ</a:t>
            </a:r>
            <a:endParaRPr/>
          </a:p>
        </p:txBody>
      </p:sp>
      <p:sp>
        <p:nvSpPr>
          <p:cNvPr id="431" name="Google Shape;431;p30"/>
          <p:cNvSpPr txBox="1"/>
          <p:nvPr/>
        </p:nvSpPr>
        <p:spPr>
          <a:xfrm>
            <a:off x="10029825" y="4021335"/>
            <a:ext cx="13430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রিয়েল-টাইম লাইভ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7269509" y="4611885"/>
            <a:ext cx="19907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মন্ত্রণালয়ের রিপোর্ট জেনারেশন</a:t>
            </a:r>
            <a:endParaRPr/>
          </a:p>
        </p:txBody>
      </p:sp>
      <p:sp>
        <p:nvSpPr>
          <p:cNvPr id="433" name="Google Shape;433;p30"/>
          <p:cNvSpPr txBox="1"/>
          <p:nvPr/>
        </p:nvSpPr>
        <p:spPr>
          <a:xfrm>
            <a:off x="9582150" y="4611885"/>
            <a:ext cx="179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ADE80"/>
                </a:solidFill>
                <a:latin typeface="Hind Siliguri"/>
                <a:ea typeface="Hind Siliguri"/>
                <a:cs typeface="Hind Siliguri"/>
                <a:sym typeface="Hind Siliguri"/>
              </a:rPr>
              <a:t>১-ক্লিকে পিডিএফ/এক্সেল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3ED95F-D944-7681-FD2B-2B63C819B749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A6FE54-E2B0-4ABA-0A5D-5180A39081DB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B40A18A7-1D02-FF1B-393D-E6C192A060A6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49AB44DF-D4FA-B6AC-797C-1D9847C0886D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45D1D81-2B70-49BC-20E4-FDF7FBB9B29A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1B65C0-0FE6-BF2A-FC07-A69BB926C499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07E2C7-E719-3720-27C6-E127668BE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1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1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রক্ষণাবেক্ষণ ও সম্পদ ব্যবস্থাপনা</a:t>
            </a:r>
            <a:endParaRPr/>
          </a:p>
        </p:txBody>
      </p:sp>
      <p:sp>
        <p:nvSpPr>
          <p:cNvPr id="445" name="Google Shape;445;p31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হাউসকিপিং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মোবাইল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অ্যাপ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সেন্ট্রাল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ইনভেন্টরি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চেইন</a:t>
            </a:r>
            <a:endParaRPr dirty="0"/>
          </a:p>
        </p:txBody>
      </p:sp>
      <p:sp>
        <p:nvSpPr>
          <p:cNvPr id="446" name="Google Shape;446;p31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হাউসকিপিং মোবাইল আপডেট</a:t>
            </a:r>
            <a:endParaRPr/>
          </a:p>
        </p:txBody>
      </p:sp>
      <p:sp>
        <p:nvSpPr>
          <p:cNvPr id="447" name="Google Shape;447;p31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রুম পরিষ্কার হওয়া মাত্রই ডেস্কে 'রেডি' স্ট্যাটাস দৃশ্যমান।</a:t>
            </a:r>
            <a:endParaRPr/>
          </a:p>
        </p:txBody>
      </p:sp>
      <p:sp>
        <p:nvSpPr>
          <p:cNvPr id="448" name="Google Shape;448;p31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রুম অ্যাসেট ও মেরামত লগ</a:t>
            </a:r>
            <a:endParaRPr/>
          </a:p>
        </p:txBody>
      </p:sp>
      <p:sp>
        <p:nvSpPr>
          <p:cNvPr id="449" name="Google Shape;449;p31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এসি ও গিজার ফিটিংসের ওয়ারেন্টি ও সার্ভিসিং ট্র্যাকিং।</a:t>
            </a:r>
            <a:endParaRPr/>
          </a:p>
        </p:txBody>
      </p:sp>
      <p:sp>
        <p:nvSpPr>
          <p:cNvPr id="450" name="Google Shape;450;p31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সেন্ট্রাল লিনেন ও স্টক রিকুইজিশন</a:t>
            </a:r>
            <a:endParaRPr/>
          </a:p>
        </p:txBody>
      </p:sp>
      <p:sp>
        <p:nvSpPr>
          <p:cNvPr id="451" name="Google Shape;451;p31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স্টক নির্দিষ্ট সীমার নিচে গেলে হেড অফিসে অটো-রিকুইজিশন।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90F116-FEF0-FA25-9B34-22F98D37C237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B33261-4FC6-2107-7866-729331C23B28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0161CC58-D354-C266-C171-C82747953E77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AE89DC94-D4EC-CEBD-6AFB-167BF241DEF1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1AA3A48-0ABB-501C-1227-1F1853FD13E2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06B4FA-3305-317F-0D1A-1BA3DB24F02C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48F7AE-ECA4-56E7-BC77-614C7885E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/>
          <p:nvPr/>
        </p:nvSpPr>
        <p:spPr>
          <a:xfrm>
            <a:off x="6096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43434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2"/>
          <p:cNvSpPr/>
          <p:nvPr/>
        </p:nvSpPr>
        <p:spPr>
          <a:xfrm>
            <a:off x="8077200" y="2892623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974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974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9742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আন্তর্জাতিক সংযোগ</a:t>
            </a:r>
            <a:endParaRPr/>
          </a:p>
        </p:txBody>
      </p:sp>
      <p:sp>
        <p:nvSpPr>
          <p:cNvPr id="463" name="Google Shape;463;p32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গ্লোবাল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ওটিএ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চ্যানেল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ম্যানেজার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(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Booking.com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, Agoda)</a:t>
            </a:r>
            <a:endParaRPr dirty="0"/>
          </a:p>
        </p:txBody>
      </p:sp>
      <p:sp>
        <p:nvSpPr>
          <p:cNvPr id="464" name="Google Shape;464;p32"/>
          <p:cNvSpPr txBox="1"/>
          <p:nvPr/>
        </p:nvSpPr>
        <p:spPr>
          <a:xfrm>
            <a:off x="9144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দ্বিমুখী ইনভেন্টরি সিঙ্ক</a:t>
            </a:r>
            <a:endParaRPr/>
          </a:p>
        </p:txBody>
      </p:sp>
      <p:sp>
        <p:nvSpPr>
          <p:cNvPr id="465" name="Google Shape;465;p32"/>
          <p:cNvSpPr txBox="1"/>
          <p:nvPr/>
        </p:nvSpPr>
        <p:spPr>
          <a:xfrm>
            <a:off x="9144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নিজস্ব পোর্টালে বুক হলে আন্তর্জাতিক ওটিএ-তে স্বয়ংক্রিয় ব্লক।</a:t>
            </a:r>
            <a:endParaRPr/>
          </a:p>
        </p:txBody>
      </p:sp>
      <p:sp>
        <p:nvSpPr>
          <p:cNvPr id="466" name="Google Shape;466;p32"/>
          <p:cNvSpPr txBox="1"/>
          <p:nvPr/>
        </p:nvSpPr>
        <p:spPr>
          <a:xfrm>
            <a:off x="46482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রেট প্যারিটি নিয়ন্ত্রণ</a:t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46482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হেড অফিস থেকে সকল প্ল্যাটফর্মের মূল্য এককভাবে নির্ধারণ।</a:t>
            </a:r>
            <a:endParaRPr/>
          </a:p>
        </p:txBody>
      </p:sp>
      <p:sp>
        <p:nvSpPr>
          <p:cNvPr id="468" name="Google Shape;468;p32"/>
          <p:cNvSpPr txBox="1"/>
          <p:nvPr/>
        </p:nvSpPr>
        <p:spPr>
          <a:xfrm>
            <a:off x="8382000" y="3654623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বিদেশি পর্যটক আকর্ষণ</a:t>
            </a:r>
            <a:endParaRPr/>
          </a:p>
        </p:txBody>
      </p:sp>
      <p:sp>
        <p:nvSpPr>
          <p:cNvPr id="469" name="Google Shape;469;p32"/>
          <p:cNvSpPr txBox="1"/>
          <p:nvPr/>
        </p:nvSpPr>
        <p:spPr>
          <a:xfrm>
            <a:off x="8382000" y="4073723"/>
            <a:ext cx="29908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বিশ্ববাজারে বাংলাদেশ পর্যটন করপোরেশনের আন্তর্জাতিক ব্র্যান্ডিং।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9FAEE5-1AA3-87C1-7F61-55FA3C41ECD4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F8FC9D-1E8F-6A9A-43AD-8C6DA1631076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91AFDC28-D9D5-4C60-6BF7-2F8B4A474EE1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3A4E163A-BF1A-C7F9-EE06-96E518235AC5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6560AA2-EB52-2883-01BD-057ADE57C9D5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A0134B6-1322-F5E2-7D48-1461254F5E51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A0B16D6-C928-DA2F-5580-E689AE415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/>
          <p:nvPr/>
        </p:nvSpPr>
        <p:spPr>
          <a:xfrm>
            <a:off x="609600" y="2864048"/>
            <a:ext cx="2600325" cy="20955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3"/>
          <p:cNvSpPr/>
          <p:nvPr/>
        </p:nvSpPr>
        <p:spPr>
          <a:xfrm>
            <a:off x="3400425" y="2864048"/>
            <a:ext cx="2600325" cy="20955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6191250" y="2864048"/>
            <a:ext cx="2600325" cy="20955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3"/>
          <p:cNvSpPr/>
          <p:nvPr/>
        </p:nvSpPr>
        <p:spPr>
          <a:xfrm>
            <a:off x="8982075" y="2864048"/>
            <a:ext cx="2600325" cy="20955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11169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8075" y="3111698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3111698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29725" y="3111698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3"/>
          <p:cNvSpPr txBox="1"/>
          <p:nvPr/>
        </p:nvSpPr>
        <p:spPr>
          <a:xfrm>
            <a:off x="609600" y="511630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সাইবার নিরাপত্তা ও মানদণ্ড</a:t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609600" y="80690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মিলিটারি-গ্রেড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এনক্রিপশন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অপরিবর্তনীয়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অডিট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ট্রেইল</a:t>
            </a:r>
            <a:endParaRPr dirty="0"/>
          </a:p>
        </p:txBody>
      </p:sp>
      <p:sp>
        <p:nvSpPr>
          <p:cNvPr id="484" name="Google Shape;484;p33"/>
          <p:cNvSpPr txBox="1"/>
          <p:nvPr/>
        </p:nvSpPr>
        <p:spPr>
          <a:xfrm>
            <a:off x="857250" y="3492698"/>
            <a:ext cx="23102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TLS 1.3 ও AES-256</a:t>
            </a:r>
            <a:endParaRPr/>
          </a:p>
        </p:txBody>
      </p:sp>
      <p:sp>
        <p:nvSpPr>
          <p:cNvPr id="485" name="Google Shape;485;p33"/>
          <p:cNvSpPr txBox="1"/>
          <p:nvPr/>
        </p:nvSpPr>
        <p:spPr>
          <a:xfrm>
            <a:off x="857250" y="3854648"/>
            <a:ext cx="2200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ডেটা আদান-প্রদান ও স্টোরেজে সর্বোচ্চ এনক্রিপশন।</a:t>
            </a:r>
            <a:endParaRPr/>
          </a:p>
        </p:txBody>
      </p:sp>
      <p:sp>
        <p:nvSpPr>
          <p:cNvPr id="486" name="Google Shape;486;p33"/>
          <p:cNvSpPr txBox="1"/>
          <p:nvPr/>
        </p:nvSpPr>
        <p:spPr>
          <a:xfrm>
            <a:off x="3648075" y="3492698"/>
            <a:ext cx="231028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ভূমিকা-ভিত্তিক অ্যাক্সেস (RBAC)</a:t>
            </a:r>
            <a:endParaRPr/>
          </a:p>
        </p:txBody>
      </p:sp>
      <p:sp>
        <p:nvSpPr>
          <p:cNvPr id="487" name="Google Shape;487;p33"/>
          <p:cNvSpPr txBox="1"/>
          <p:nvPr/>
        </p:nvSpPr>
        <p:spPr>
          <a:xfrm>
            <a:off x="3648075" y="4159448"/>
            <a:ext cx="2200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সুনির্দিষ্ট অনুমতি ছাড়া অডিট ডেটায় প্রবেশাধিকার বন্ধ।</a:t>
            </a:r>
            <a:endParaRPr/>
          </a:p>
        </p:txBody>
      </p:sp>
      <p:sp>
        <p:nvSpPr>
          <p:cNvPr id="488" name="Google Shape;488;p33"/>
          <p:cNvSpPr txBox="1"/>
          <p:nvPr/>
        </p:nvSpPr>
        <p:spPr>
          <a:xfrm>
            <a:off x="6438900" y="3492698"/>
            <a:ext cx="23102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ইমিউটেবল অডিট লগ</a:t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6438900" y="3854648"/>
            <a:ext cx="2200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প্রতিটি এডিট ও ক্যান্সেলেশনের টাইমস্ট্যাম্প সহ লগ।</a:t>
            </a:r>
            <a:endParaRPr/>
          </a:p>
        </p:txBody>
      </p:sp>
      <p:sp>
        <p:nvSpPr>
          <p:cNvPr id="490" name="Google Shape;490;p33"/>
          <p:cNvSpPr txBox="1"/>
          <p:nvPr/>
        </p:nvSpPr>
        <p:spPr>
          <a:xfrm>
            <a:off x="9229725" y="3492698"/>
            <a:ext cx="23102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নিয়মিত VAPT নিরীক্ষা</a:t>
            </a:r>
            <a:endParaRPr/>
          </a:p>
        </p:txBody>
      </p:sp>
      <p:sp>
        <p:nvSpPr>
          <p:cNvPr id="491" name="Google Shape;491;p33"/>
          <p:cNvSpPr txBox="1"/>
          <p:nvPr/>
        </p:nvSpPr>
        <p:spPr>
          <a:xfrm>
            <a:off x="9229725" y="3854648"/>
            <a:ext cx="2200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সার্টিফাইড এথিক্যাল হ্যাকার দ্বারা ত্রৈমাসিক পরীক্ষা।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002F5F-2069-805B-9CDB-CA79E6FB7C85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BFB73C6-1F89-693A-8F61-013387B005E1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6D297B88-58B3-B483-0E18-74C749A34D74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BD449E1B-B62F-6250-FE49-8D8732AFB002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6930131-BF89-A1CD-C80B-E7BDF75B3AF6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8B5A7A-3540-8034-D793-9FD55C97BEBF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FC96862-DB24-814C-1086-BD0BA5FAF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"/>
          <p:cNvSpPr/>
          <p:nvPr/>
        </p:nvSpPr>
        <p:spPr>
          <a:xfrm>
            <a:off x="609600" y="3106935"/>
            <a:ext cx="2600325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4"/>
          <p:cNvSpPr/>
          <p:nvPr/>
        </p:nvSpPr>
        <p:spPr>
          <a:xfrm>
            <a:off x="3400425" y="3106935"/>
            <a:ext cx="2600325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6191250" y="3106935"/>
            <a:ext cx="2600325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4"/>
          <p:cNvSpPr/>
          <p:nvPr/>
        </p:nvSpPr>
        <p:spPr>
          <a:xfrm>
            <a:off x="8982075" y="3106935"/>
            <a:ext cx="2600325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33553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9025" y="333553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850" y="333553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10675" y="333553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4"/>
          <p:cNvSpPr txBox="1"/>
          <p:nvPr/>
        </p:nvSpPr>
        <p:spPr>
          <a:xfrm>
            <a:off x="609600" y="522516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প্রচার ও গ্রাহক সম্পৃক্ততা</a:t>
            </a:r>
            <a:endParaRPr/>
          </a:p>
        </p:txBody>
      </p:sp>
      <p:sp>
        <p:nvSpPr>
          <p:cNvPr id="505" name="Google Shape;505;p34"/>
          <p:cNvSpPr txBox="1"/>
          <p:nvPr/>
        </p:nvSpPr>
        <p:spPr>
          <a:xfrm>
            <a:off x="609600" y="817791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দেশব্যাপী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সমন্বিত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১০-চ্যানেল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ব্র্যান্ডিং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প্রমোশন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রূপরেখা</a:t>
            </a:r>
            <a:endParaRPr dirty="0"/>
          </a:p>
        </p:txBody>
      </p:sp>
      <p:sp>
        <p:nvSpPr>
          <p:cNvPr id="506" name="Google Shape;506;p34"/>
          <p:cNvSpPr txBox="1"/>
          <p:nvPr/>
        </p:nvSpPr>
        <p:spPr>
          <a:xfrm>
            <a:off x="838200" y="3659385"/>
            <a:ext cx="23502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বিমানবন্দর কিয়স্ক</a:t>
            </a:r>
            <a:endParaRPr/>
          </a:p>
        </p:txBody>
      </p:sp>
      <p:sp>
        <p:nvSpPr>
          <p:cNvPr id="507" name="Google Shape;507;p34"/>
          <p:cNvSpPr txBox="1"/>
          <p:nvPr/>
        </p:nvSpPr>
        <p:spPr>
          <a:xfrm>
            <a:off x="838200" y="3992760"/>
            <a:ext cx="2238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আন্তর্জাতিক টার্মিনালে ডিজিটাল স্ক্যান পয়েন্ট।</a:t>
            </a:r>
            <a:endParaRPr/>
          </a:p>
        </p:txBody>
      </p:sp>
      <p:sp>
        <p:nvSpPr>
          <p:cNvPr id="508" name="Google Shape;508;p34"/>
          <p:cNvSpPr txBox="1"/>
          <p:nvPr/>
        </p:nvSpPr>
        <p:spPr>
          <a:xfrm>
            <a:off x="3629025" y="3659385"/>
            <a:ext cx="23502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গুগল এসইও প্রচার</a:t>
            </a:r>
            <a:endParaRPr/>
          </a:p>
        </p:txBody>
      </p:sp>
      <p:sp>
        <p:nvSpPr>
          <p:cNvPr id="509" name="Google Shape;509;p34"/>
          <p:cNvSpPr txBox="1"/>
          <p:nvPr/>
        </p:nvSpPr>
        <p:spPr>
          <a:xfrm>
            <a:off x="3629025" y="3992760"/>
            <a:ext cx="2238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ট্যুরিজম কি-ওয়ার্ডে প্রথম পেজে র‍্যাংকিং।</a:t>
            </a:r>
            <a:endParaRPr/>
          </a:p>
        </p:txBody>
      </p:sp>
      <p:sp>
        <p:nvSpPr>
          <p:cNvPr id="510" name="Google Shape;510;p34"/>
          <p:cNvSpPr txBox="1"/>
          <p:nvPr/>
        </p:nvSpPr>
        <p:spPr>
          <a:xfrm>
            <a:off x="6419850" y="3659385"/>
            <a:ext cx="23502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রেলওয়ে ও বাস লিংকেজ</a:t>
            </a:r>
            <a:endParaRPr/>
          </a:p>
        </p:txBody>
      </p:sp>
      <p:sp>
        <p:nvSpPr>
          <p:cNvPr id="511" name="Google Shape;511;p34"/>
          <p:cNvSpPr txBox="1"/>
          <p:nvPr/>
        </p:nvSpPr>
        <p:spPr>
          <a:xfrm>
            <a:off x="6419850" y="3992760"/>
            <a:ext cx="2238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টিকিট নিশ্চিতকরণের সাথে হোটেল অফার লিংক।</a:t>
            </a:r>
            <a:endParaRPr/>
          </a:p>
        </p:txBody>
      </p:sp>
      <p:sp>
        <p:nvSpPr>
          <p:cNvPr id="512" name="Google Shape;512;p34"/>
          <p:cNvSpPr txBox="1"/>
          <p:nvPr/>
        </p:nvSpPr>
        <p:spPr>
          <a:xfrm>
            <a:off x="9210675" y="3659385"/>
            <a:ext cx="23502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জাতীয় মিডিয়া ক্যাম্পেইন</a:t>
            </a:r>
            <a:endParaRPr/>
          </a:p>
        </p:txBody>
      </p:sp>
      <p:sp>
        <p:nvSpPr>
          <p:cNvPr id="513" name="Google Shape;513;p34"/>
          <p:cNvSpPr txBox="1"/>
          <p:nvPr/>
        </p:nvSpPr>
        <p:spPr>
          <a:xfrm>
            <a:off x="9210675" y="3992760"/>
            <a:ext cx="2238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টিভি বিজ্ঞাপন ও সোশ্যাল ইনফ্লুয়েন্সার পার্টনারশিপ।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D40E3C-7DEE-BF94-29CB-72D4DC443D15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F975068-92D6-EAA4-E6F0-5B3B85686EE0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A02A00AA-1CE7-BC63-4C91-223D458A79E9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AC941667-3A32-3081-F73A-352A2A528C95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A3E6678-D668-277B-7627-CE8650503D77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7ACA21-4BDC-1233-51A9-4C0F708434CF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83BB5A-6501-9701-86DA-9434F0CE3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5"/>
          <p:cNvSpPr/>
          <p:nvPr/>
        </p:nvSpPr>
        <p:spPr>
          <a:xfrm>
            <a:off x="609600" y="3097410"/>
            <a:ext cx="2600325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3400425" y="3097410"/>
            <a:ext cx="2600325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6191250" y="3097410"/>
            <a:ext cx="2600325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5"/>
          <p:cNvSpPr/>
          <p:nvPr/>
        </p:nvSpPr>
        <p:spPr>
          <a:xfrm>
            <a:off x="8982075" y="3097410"/>
            <a:ext cx="2600325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609600" y="522516"/>
            <a:ext cx="11068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47857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বাস্তবায়ন পরিকল্পনা</a:t>
            </a:r>
            <a:endParaRPr/>
          </a:p>
        </p:txBody>
      </p:sp>
      <p:sp>
        <p:nvSpPr>
          <p:cNvPr id="523" name="Google Shape;523;p35"/>
          <p:cNvSpPr txBox="1"/>
          <p:nvPr/>
        </p:nvSpPr>
        <p:spPr>
          <a:xfrm>
            <a:off x="609600" y="817791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২৪-সপ্তাহের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পর্যায়ক্রমিক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রূপরেখা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সার্বক্ষণিক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এসএলএ</a:t>
            </a:r>
            <a:endParaRPr dirty="0"/>
          </a:p>
        </p:txBody>
      </p:sp>
      <p:sp>
        <p:nvSpPr>
          <p:cNvPr id="524" name="Google Shape;524;p35"/>
          <p:cNvSpPr txBox="1"/>
          <p:nvPr/>
        </p:nvSpPr>
        <p:spPr>
          <a:xfrm>
            <a:off x="838200" y="3326010"/>
            <a:ext cx="2678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ফেজ ০১ (১-৪ সপ্তাহ)</a:t>
            </a:r>
            <a:endParaRPr/>
          </a:p>
        </p:txBody>
      </p:sp>
      <p:sp>
        <p:nvSpPr>
          <p:cNvPr id="525" name="Google Shape;525;p35"/>
          <p:cNvSpPr txBox="1"/>
          <p:nvPr/>
        </p:nvSpPr>
        <p:spPr>
          <a:xfrm>
            <a:off x="838200" y="3583185"/>
            <a:ext cx="23502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ফিল্ড অডিট ও ডিজাইন</a:t>
            </a:r>
            <a:endParaRPr/>
          </a:p>
        </p:txBody>
      </p:sp>
      <p:sp>
        <p:nvSpPr>
          <p:cNvPr id="526" name="Google Shape;526;p35"/>
          <p:cNvSpPr txBox="1"/>
          <p:nvPr/>
        </p:nvSpPr>
        <p:spPr>
          <a:xfrm>
            <a:off x="838200" y="3945135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সকল প্রপার্টির রিকয়ারমেন্টস বিশ্লেষণ।</a:t>
            </a:r>
            <a:endParaRPr/>
          </a:p>
        </p:txBody>
      </p:sp>
      <p:sp>
        <p:nvSpPr>
          <p:cNvPr id="527" name="Google Shape;527;p35"/>
          <p:cNvSpPr txBox="1"/>
          <p:nvPr/>
        </p:nvSpPr>
        <p:spPr>
          <a:xfrm>
            <a:off x="3629025" y="3326010"/>
            <a:ext cx="2678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ফেজ ০২ (৫-১২ সপ্তাহ)</a:t>
            </a:r>
            <a:endParaRPr/>
          </a:p>
        </p:txBody>
      </p:sp>
      <p:sp>
        <p:nvSpPr>
          <p:cNvPr id="528" name="Google Shape;528;p35"/>
          <p:cNvSpPr txBox="1"/>
          <p:nvPr/>
        </p:nvSpPr>
        <p:spPr>
          <a:xfrm>
            <a:off x="3629025" y="3583185"/>
            <a:ext cx="23502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কোর ডেভেলপমেন্ট</a:t>
            </a:r>
            <a:endParaRPr/>
          </a:p>
        </p:txBody>
      </p:sp>
      <p:sp>
        <p:nvSpPr>
          <p:cNvPr id="529" name="Google Shape;529;p35"/>
          <p:cNvSpPr txBox="1"/>
          <p:nvPr/>
        </p:nvSpPr>
        <p:spPr>
          <a:xfrm>
            <a:off x="3629025" y="3945135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পিএমএস, এজ ক্যাশ ও এনডিসি ডিপ্লয়মেন্ট।</a:t>
            </a:r>
            <a:endParaRPr/>
          </a:p>
        </p:txBody>
      </p:sp>
      <p:sp>
        <p:nvSpPr>
          <p:cNvPr id="530" name="Google Shape;530;p35"/>
          <p:cNvSpPr txBox="1"/>
          <p:nvPr/>
        </p:nvSpPr>
        <p:spPr>
          <a:xfrm>
            <a:off x="6419850" y="3326010"/>
            <a:ext cx="2678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ফেজ ০৩ (১৩-১৮ সপ্তাহ)</a:t>
            </a:r>
            <a:endParaRPr/>
          </a:p>
        </p:txBody>
      </p:sp>
      <p:sp>
        <p:nvSpPr>
          <p:cNvPr id="531" name="Google Shape;531;p35"/>
          <p:cNvSpPr txBox="1"/>
          <p:nvPr/>
        </p:nvSpPr>
        <p:spPr>
          <a:xfrm>
            <a:off x="6419850" y="3583185"/>
            <a:ext cx="23502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পাইলট রোলআউট</a:t>
            </a:r>
            <a:endParaRPr/>
          </a:p>
        </p:txBody>
      </p:sp>
      <p:sp>
        <p:nvSpPr>
          <p:cNvPr id="532" name="Google Shape;532;p35"/>
          <p:cNvSpPr txBox="1"/>
          <p:nvPr/>
        </p:nvSpPr>
        <p:spPr>
          <a:xfrm>
            <a:off x="6419850" y="3945135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শৈবাল, সুরমা ও কুয়াকাটায় পরীক্ষামূলক লাইভ।</a:t>
            </a:r>
            <a:endParaRPr/>
          </a:p>
        </p:txBody>
      </p:sp>
      <p:sp>
        <p:nvSpPr>
          <p:cNvPr id="533" name="Google Shape;533;p35"/>
          <p:cNvSpPr txBox="1"/>
          <p:nvPr/>
        </p:nvSpPr>
        <p:spPr>
          <a:xfrm>
            <a:off x="9210675" y="3326010"/>
            <a:ext cx="2678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ফেজ ০৪ (১৯-২৪ সপ্তাহ)</a:t>
            </a:r>
            <a:endParaRPr/>
          </a:p>
        </p:txBody>
      </p:sp>
      <p:sp>
        <p:nvSpPr>
          <p:cNvPr id="534" name="Google Shape;534;p35"/>
          <p:cNvSpPr txBox="1"/>
          <p:nvPr/>
        </p:nvSpPr>
        <p:spPr>
          <a:xfrm>
            <a:off x="9210675" y="3583185"/>
            <a:ext cx="23502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জাতীয় গো-লাইভ</a:t>
            </a:r>
            <a:endParaRPr/>
          </a:p>
        </p:txBody>
      </p:sp>
      <p:sp>
        <p:nvSpPr>
          <p:cNvPr id="535" name="Google Shape;535;p35"/>
          <p:cNvSpPr txBox="1"/>
          <p:nvPr/>
        </p:nvSpPr>
        <p:spPr>
          <a:xfrm>
            <a:off x="9210675" y="3945135"/>
            <a:ext cx="2238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দেশব্যাপী স্টাফদের বাংলা প্রশিক্ষণ ও উদ্বোধন।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017961-AFF3-6D59-BAEB-148AB3E0493E}"/>
              </a:ext>
            </a:extLst>
          </p:cNvPr>
          <p:cNvGrpSpPr/>
          <p:nvPr/>
        </p:nvGrpSpPr>
        <p:grpSpPr>
          <a:xfrm>
            <a:off x="0" y="-24132"/>
            <a:ext cx="12192000" cy="443232"/>
            <a:chOff x="0" y="-24132"/>
            <a:chExt cx="12192000" cy="4432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9949EFA-8967-3C02-BE25-CD360D979D4E}"/>
                </a:ext>
              </a:extLst>
            </p:cNvPr>
            <p:cNvSpPr/>
            <p:nvPr/>
          </p:nvSpPr>
          <p:spPr>
            <a:xfrm>
              <a:off x="0" y="-24132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" name="Google Shape;112;p14">
              <a:extLst>
                <a:ext uri="{FF2B5EF4-FFF2-40B4-BE49-F238E27FC236}">
                  <a16:creationId xmlns:a16="http://schemas.microsoft.com/office/drawing/2014/main" id="{F4613802-CCC0-877A-E193-29055F69E73F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970" y="57217"/>
              <a:ext cx="423139" cy="29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04;p14">
              <a:extLst>
                <a:ext uri="{FF2B5EF4-FFF2-40B4-BE49-F238E27FC236}">
                  <a16:creationId xmlns:a16="http://schemas.microsoft.com/office/drawing/2014/main" id="{55DBF801-2AA4-B56E-2A8D-AC4C5AF6A129}"/>
                </a:ext>
              </a:extLst>
            </p:cNvPr>
            <p:cNvSpPr txBox="1"/>
            <p:nvPr/>
          </p:nvSpPr>
          <p:spPr>
            <a:xfrm>
              <a:off x="659615" y="80353"/>
              <a:ext cx="3271157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19958"/>
                </a:lnSpc>
              </a:pPr>
              <a:r>
                <a:rPr lang="bn-BD" b="1" dirty="0">
                  <a:solidFill>
                    <a:schemeClr val="bg1"/>
                  </a:solidFill>
                  <a:latin typeface="Hind Siliguri"/>
                  <a:ea typeface="Hind Siliguri"/>
                  <a:cs typeface="Hind Siliguri"/>
                  <a:sym typeface="Hind Siliguri"/>
                </a:rPr>
                <a:t>বাংলাদেশ পর্যটন করপোরেশন</a:t>
              </a:r>
              <a:endParaRPr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D9AAE87-E25F-A796-D368-16B87266AC7F}"/>
              </a:ext>
            </a:extLst>
          </p:cNvPr>
          <p:cNvGrpSpPr/>
          <p:nvPr/>
        </p:nvGrpSpPr>
        <p:grpSpPr>
          <a:xfrm>
            <a:off x="0" y="6425654"/>
            <a:ext cx="12192000" cy="443232"/>
            <a:chOff x="0" y="6425654"/>
            <a:chExt cx="12192000" cy="4432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D58254-434F-9390-E3CD-E48A5C83CF30}"/>
                </a:ext>
              </a:extLst>
            </p:cNvPr>
            <p:cNvSpPr/>
            <p:nvPr/>
          </p:nvSpPr>
          <p:spPr>
            <a:xfrm>
              <a:off x="0" y="6425654"/>
              <a:ext cx="12192000" cy="443232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F51D22F-C1B6-399D-3372-7B43D2F4E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23172" y="6494055"/>
              <a:ext cx="868816" cy="2968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00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6"/>
          <p:cNvSpPr/>
          <p:nvPr/>
        </p:nvSpPr>
        <p:spPr>
          <a:xfrm>
            <a:off x="3119437" y="4683323"/>
            <a:ext cx="5953125" cy="561975"/>
          </a:xfrm>
          <a:prstGeom prst="roundRect">
            <a:avLst>
              <a:gd name="adj" fmla="val 50000"/>
            </a:avLst>
          </a:prstGeom>
          <a:solidFill>
            <a:srgbClr val="153A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1" name="Google Shape;54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200" y="161270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5987" y="1784151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62337" y="487858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1262" y="487858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6"/>
          <p:cNvSpPr txBox="1"/>
          <p:nvPr/>
        </p:nvSpPr>
        <p:spPr>
          <a:xfrm>
            <a:off x="782835" y="2450901"/>
            <a:ext cx="10626328" cy="105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পাকীজা সফটওয়্যার লিমিটেড: স্মার্ট বাংলাদেশ গড়ার বিশ্বস্ত সহযোগী</a:t>
            </a:r>
            <a:endParaRPr/>
          </a:p>
        </p:txBody>
      </p:sp>
      <p:sp>
        <p:nvSpPr>
          <p:cNvPr id="546" name="Google Shape;546;p36"/>
          <p:cNvSpPr txBox="1"/>
          <p:nvPr/>
        </p:nvSpPr>
        <p:spPr>
          <a:xfrm>
            <a:off x="1631156" y="3654623"/>
            <a:ext cx="892968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7F3D0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বিপিসির সার্বভৌম ডিজিটাল নিয়ন্ত্রণ ও বিশ্বমানের আতিথেয়তা নিশ্চিতকরণে আমরা প্রতিশ্রুতিবদ্ধ</a:t>
            </a:r>
            <a:endParaRPr/>
          </a:p>
        </p:txBody>
      </p:sp>
      <p:sp>
        <p:nvSpPr>
          <p:cNvPr id="547" name="Google Shape;547;p36"/>
          <p:cNvSpPr txBox="1"/>
          <p:nvPr/>
        </p:nvSpPr>
        <p:spPr>
          <a:xfrm>
            <a:off x="3456384" y="4854773"/>
            <a:ext cx="27265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info@pakizasoftware.com</a:t>
            </a:r>
            <a:endParaRPr/>
          </a:p>
        </p:txBody>
      </p:sp>
      <p:sp>
        <p:nvSpPr>
          <p:cNvPr id="548" name="Google Shape;548;p36"/>
          <p:cNvSpPr txBox="1"/>
          <p:nvPr/>
        </p:nvSpPr>
        <p:spPr>
          <a:xfrm>
            <a:off x="6286500" y="4854773"/>
            <a:ext cx="2714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www.pakizasoftware.com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1295</Words>
  <Application>Microsoft Macintosh PowerPoint</Application>
  <PresentationFormat>Widescreen</PresentationFormat>
  <Paragraphs>241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Hind Siliguri</vt:lpstr>
      <vt:lpstr>Plus Jakarta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Tahmid Afsar</cp:lastModifiedBy>
  <cp:revision>2</cp:revision>
  <dcterms:modified xsi:type="dcterms:W3CDTF">2026-10-07T11:07:09Z</dcterms:modified>
</cp:coreProperties>
</file>