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4230"/>
    <a:srgbClr val="ECE6DA"/>
    <a:srgbClr val="B3461E"/>
    <a:srgbClr val="1B4231"/>
    <a:srgbClr val="B78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59"/>
  </p:normalViewPr>
  <p:slideViewPr>
    <p:cSldViewPr snapToGrid="0">
      <p:cViewPr>
        <p:scale>
          <a:sx n="108" d="100"/>
          <a:sy n="108" d="100"/>
        </p:scale>
        <p:origin x="2560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B34F4-34D9-E43B-D64A-E1452C1F8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AA802-1558-CC8E-63EB-F64BAD0373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EA4DA-67B1-ED7E-E20B-78648B14F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C0A30-58CB-564F-8498-127BAF35019A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B76CF-BF64-E97D-51C4-310205811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141A1-5D87-A5D5-F682-54F5E7679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25665-C42A-8341-9ECD-CE447DF72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570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F39A0-0604-FEA1-53C4-FF676782D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B527A-73EB-A2F3-C47D-3712CA3DD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22CB2-F4E6-CEAB-84D0-153DCA9FC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C0A30-58CB-564F-8498-127BAF35019A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B8003-344D-F3E7-47F1-B1831537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E8AF1-6A39-9220-D26B-D3ABF3D30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25665-C42A-8341-9ECD-CE447DF72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808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AD84A-E9B3-77DD-B8AB-4A1CAD60E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41CE0-DFAC-2AB3-2EA4-E093351DF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E56CA-88EC-1658-A87B-1EDC927E7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C0A30-58CB-564F-8498-127BAF35019A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4BAC2-C15C-2E1A-4BDA-08410C5AD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E284E-449B-1D42-EB82-B631B520D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25665-C42A-8341-9ECD-CE447DF72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12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40CC5-176B-6851-2215-AB615F60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73E86-F487-553F-F3A1-1CD6F7F5B3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6E9C66-1842-7ED7-0BD4-4BF13BFF5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78954-6D51-4954-F2F0-AE0997C22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C0A30-58CB-564F-8498-127BAF35019A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69093-97E5-01B5-C5B8-C59ECBFE4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62684-FE80-109B-F2A0-0B0C78E15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25665-C42A-8341-9ECD-CE447DF72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97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3FB0F-BF65-9C0F-C429-8F4BD91A0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1411E-15BF-ED95-6FC2-1AFAB6EC6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B5BAD-0BFF-C755-7F1C-7547338C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14490A-6B4C-B646-6CD2-D2E74C29D1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2A11E7-83BD-1B10-BC27-23D28C1CC8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A60AFC-F075-FE8E-A49D-EEEE426BC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C0A30-58CB-564F-8498-127BAF35019A}" type="datetimeFigureOut">
              <a:rPr lang="en-US" smtClean="0"/>
              <a:t>9/6/26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16AF9C-074D-4F32-9090-DD252A1FC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94B45C-48D3-BD5E-72DF-79DD4E231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25665-C42A-8341-9ECD-CE447DF72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E3329-E27E-4297-C39B-3F078B8F9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D621D4-E3FE-EE3C-3015-B2A84A40B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C0A30-58CB-564F-8498-127BAF35019A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19EDB9-BADA-FC65-DB7B-33A5A4927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ECEF35-86F6-D333-8345-FFADB38CA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25665-C42A-8341-9ECD-CE447DF72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814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443437-67BD-F564-F001-B61A19F04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C0A30-58CB-564F-8498-127BAF35019A}" type="datetimeFigureOut">
              <a:rPr lang="en-US" smtClean="0"/>
              <a:t>9/6/26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EAB303-78CE-5865-A7C8-8E62C9726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9C741-9017-69FE-2414-75EDBAF80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25665-C42A-8341-9ECD-CE447DF72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544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5FC21-AE51-E38A-F33F-151585CE2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52D8C-FDF9-4CA8-1187-66BC0073C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AF0F60-6ADE-5EEF-8F06-D0F8B03BC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12A95-DD5F-6806-8A3F-419633B58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C0A30-58CB-564F-8498-127BAF35019A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DF754-D861-E24E-FB8B-D645F7D83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FE44F-E42C-64F4-F572-746DDDB6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25665-C42A-8341-9ECD-CE447DF72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773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71892-C29D-3D19-2463-B7C794A93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C819C1-D90F-1A08-B58B-54DC0C9BA8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40E95-35C1-2F88-6AF6-F6B9AE4433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C9BD6-4B78-66CB-B9F1-4ECA6E841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C0A30-58CB-564F-8498-127BAF35019A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54AC9-2BB5-C675-DAF8-B040CFBC8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505AA-503B-5D80-BD6D-D8252A3C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25665-C42A-8341-9ECD-CE447DF72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20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2A232-348D-8988-A60C-C0BDA438B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4C4B9C-4669-6011-8C9A-376DEF715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59A8C-AA88-5D16-CACD-A4A8144F2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C0A30-58CB-564F-8498-127BAF35019A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6E967-BF05-6CB8-8AC8-437C45A66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1F742-A044-F789-06A5-EB7ADBC34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25665-C42A-8341-9ECD-CE447DF72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15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BFF7B9-CCE1-675A-02D5-6DA6DD79B4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E975AE-8931-2778-3FFB-A5CD71579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B9BA4-483B-6C32-ABB4-D4F5AD8CE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C0A30-58CB-564F-8498-127BAF35019A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1EC3C-CA25-E48F-A460-F09C5FCC4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BCCDE-FA0C-B59F-5BAA-952C61411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25665-C42A-8341-9ECD-CE447DF72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24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9CAAA4-6C3A-6952-7234-F656C5DFF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C2578-2010-33D5-EE9F-226CC498C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B8BDF-5C02-03CC-FC5C-BF2417812A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DC0A30-58CB-564F-8498-127BAF35019A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2E69E-42A1-7122-05E0-D5D63C58F5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B1FF5-BB9A-1D5A-9B3F-685BC91B3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A25665-C42A-8341-9ECD-CE447DF72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57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549DB9-5B64-CDC5-FE06-F942493C8E73}"/>
              </a:ext>
            </a:extLst>
          </p:cNvPr>
          <p:cNvSpPr/>
          <p:nvPr/>
        </p:nvSpPr>
        <p:spPr>
          <a:xfrm>
            <a:off x="0" y="0"/>
            <a:ext cx="12192000" cy="35705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4E7A47-4E99-B0A2-8A8B-F9A3D2D3E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5836" y="650784"/>
            <a:ext cx="1160327" cy="1180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68C5B4-611E-B746-E2F0-CE9BB654861B}"/>
              </a:ext>
            </a:extLst>
          </p:cNvPr>
          <p:cNvSpPr txBox="1"/>
          <p:nvPr/>
        </p:nvSpPr>
        <p:spPr>
          <a:xfrm>
            <a:off x="2268581" y="1897843"/>
            <a:ext cx="7654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cap="all" spc="300" dirty="0">
                <a:latin typeface="+mj-lt"/>
              </a:rPr>
              <a:t>Government of the People's Republic of Bangladesh</a:t>
            </a:r>
          </a:p>
          <a:p>
            <a:pPr algn="ctr"/>
            <a:r>
              <a:rPr lang="en-US" sz="1200" i="1" dirty="0">
                <a:latin typeface="+mj-lt"/>
              </a:rPr>
              <a:t>Ministry of Commerce  ·  Bangladesh Regional Connectivity Project-1 [Part-2]</a:t>
            </a:r>
            <a:endParaRPr lang="en-US" sz="1200" dirty="0">
              <a:latin typeface="+mj-lt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7CA8F88-4826-B43D-A2A0-583F6AFA2630}"/>
              </a:ext>
            </a:extLst>
          </p:cNvPr>
          <p:cNvGrpSpPr/>
          <p:nvPr/>
        </p:nvGrpSpPr>
        <p:grpSpPr>
          <a:xfrm>
            <a:off x="747252" y="3398715"/>
            <a:ext cx="6584233" cy="1933865"/>
            <a:chOff x="1857508" y="3248897"/>
            <a:chExt cx="6584233" cy="19338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6AE66AE-C6E5-A310-1953-FA935241F8A1}"/>
                </a:ext>
              </a:extLst>
            </p:cNvPr>
            <p:cNvSpPr txBox="1"/>
            <p:nvPr/>
          </p:nvSpPr>
          <p:spPr>
            <a:xfrm>
              <a:off x="2060930" y="3248897"/>
              <a:ext cx="5564776" cy="846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 cap="all" spc="300" dirty="0">
                  <a:solidFill>
                    <a:srgbClr val="B3461E"/>
                  </a:solidFill>
                </a:rPr>
                <a:t>Package SD-56  ·  Contract Reference IBCS-PRIMAX/WENP/SD-56/2026/01</a:t>
              </a:r>
            </a:p>
            <a:p>
              <a:pPr algn="ctr"/>
              <a:r>
                <a:rPr lang="en-US" sz="3200" b="1" dirty="0">
                  <a:solidFill>
                    <a:srgbClr val="1B4231"/>
                  </a:solidFill>
                </a:rPr>
                <a:t>Inception Report</a:t>
              </a:r>
            </a:p>
            <a:p>
              <a:pPr algn="ctr"/>
              <a:r>
                <a:rPr lang="en-US" sz="1100" i="1" dirty="0"/>
                <a:t>New Features Development of the </a:t>
              </a:r>
              <a:r>
                <a:rPr lang="en-US" sz="1100" b="1" dirty="0"/>
                <a:t>Women Entrepreneurs Networking Platform (WENP)</a:t>
              </a:r>
              <a:endParaRPr lang="en-US" sz="1100" i="1" dirty="0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81B84C2-A89A-8BED-C62F-30A55DFD24ED}"/>
                </a:ext>
              </a:extLst>
            </p:cNvPr>
            <p:cNvGrpSpPr/>
            <p:nvPr/>
          </p:nvGrpSpPr>
          <p:grpSpPr>
            <a:xfrm>
              <a:off x="1857508" y="4518476"/>
              <a:ext cx="6584233" cy="664286"/>
              <a:chOff x="1857508" y="4518476"/>
              <a:chExt cx="6584233" cy="664286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DC4852BC-8185-F42C-6F4D-961B7E842B9E}"/>
                  </a:ext>
                </a:extLst>
              </p:cNvPr>
              <p:cNvGrpSpPr/>
              <p:nvPr/>
            </p:nvGrpSpPr>
            <p:grpSpPr>
              <a:xfrm>
                <a:off x="1857508" y="4518477"/>
                <a:ext cx="2580731" cy="664285"/>
                <a:chOff x="3166926" y="5059680"/>
                <a:chExt cx="2580731" cy="664285"/>
              </a:xfrm>
            </p:grpSpPr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FBB4D9B-1FF9-8B8D-5730-035A36668245}"/>
                    </a:ext>
                  </a:extLst>
                </p:cNvPr>
                <p:cNvSpPr txBox="1"/>
                <p:nvPr/>
              </p:nvSpPr>
              <p:spPr>
                <a:xfrm>
                  <a:off x="3200400" y="5059680"/>
                  <a:ext cx="2547257" cy="6642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indent="0" algn="l">
                    <a:spcAft>
                      <a:spcPts val="450"/>
                    </a:spcAft>
                    <a:buNone/>
                  </a:pPr>
                  <a:r>
                    <a:rPr lang="en-US" sz="1100" b="1" i="0" cap="all" dirty="0">
                      <a:solidFill>
                        <a:schemeClr val="tx1"/>
                      </a:solidFill>
                      <a:effectLst/>
                      <a:latin typeface="+mn-lt"/>
                    </a:rPr>
                    <a:t>Submitted To</a:t>
                  </a:r>
                </a:p>
                <a:p>
                  <a:pPr indent="0" algn="l">
                    <a:buNone/>
                  </a:pPr>
                  <a:r>
                    <a:rPr lang="en-US" sz="1100" b="1" i="0" dirty="0">
                      <a:solidFill>
                        <a:schemeClr val="tx1"/>
                      </a:solidFill>
                      <a:effectLst/>
                      <a:latin typeface="+mn-lt"/>
                    </a:rPr>
                    <a:t>Project Director</a:t>
                  </a:r>
                  <a:br>
                    <a:rPr lang="en-US" sz="1100" b="1" i="0" dirty="0">
                      <a:solidFill>
                        <a:schemeClr val="tx1"/>
                      </a:solidFill>
                      <a:effectLst/>
                      <a:latin typeface="+mn-lt"/>
                    </a:rPr>
                  </a:br>
                  <a:r>
                    <a:rPr lang="en-US" sz="1100" b="0" i="0" dirty="0">
                      <a:solidFill>
                        <a:schemeClr val="tx1"/>
                      </a:solidFill>
                      <a:effectLst/>
                      <a:latin typeface="+mn-lt"/>
                    </a:rPr>
                    <a:t>BRCP-1 [Part-2], Ministry of Commerce</a:t>
                  </a:r>
                  <a:endParaRPr lang="en-US" sz="1100" b="1" i="0" dirty="0">
                    <a:solidFill>
                      <a:schemeClr val="tx1"/>
                    </a:solidFill>
                    <a:effectLst/>
                    <a:latin typeface="+mn-lt"/>
                  </a:endParaRP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B4625063-275C-9287-57A2-3D0803F8B956}"/>
                    </a:ext>
                  </a:extLst>
                </p:cNvPr>
                <p:cNvSpPr/>
                <p:nvPr/>
              </p:nvSpPr>
              <p:spPr>
                <a:xfrm>
                  <a:off x="3166926" y="5059681"/>
                  <a:ext cx="49349" cy="664284"/>
                </a:xfrm>
                <a:prstGeom prst="rect">
                  <a:avLst/>
                </a:prstGeom>
                <a:solidFill>
                  <a:srgbClr val="B7840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5065C74-A4B7-FC95-47F6-E94CE2C59B2E}"/>
                  </a:ext>
                </a:extLst>
              </p:cNvPr>
              <p:cNvGrpSpPr/>
              <p:nvPr/>
            </p:nvGrpSpPr>
            <p:grpSpPr>
              <a:xfrm>
                <a:off x="4752809" y="4518476"/>
                <a:ext cx="2580731" cy="664285"/>
                <a:chOff x="3166926" y="5059680"/>
                <a:chExt cx="2580731" cy="664285"/>
              </a:xfrm>
            </p:grpSpPr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15A5FCC-88B4-91BF-18AB-19A64369A0DB}"/>
                    </a:ext>
                  </a:extLst>
                </p:cNvPr>
                <p:cNvSpPr txBox="1"/>
                <p:nvPr/>
              </p:nvSpPr>
              <p:spPr>
                <a:xfrm>
                  <a:off x="3200400" y="5059680"/>
                  <a:ext cx="2547257" cy="4950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spcAft>
                      <a:spcPts val="450"/>
                    </a:spcAft>
                  </a:pPr>
                  <a:r>
                    <a:rPr lang="en-US" sz="1100" b="1" i="0" cap="all" dirty="0">
                      <a:solidFill>
                        <a:schemeClr val="tx1"/>
                      </a:solidFill>
                      <a:effectLst/>
                      <a:latin typeface="+mn-lt"/>
                    </a:rPr>
                    <a:t>Date of Issue</a:t>
                  </a:r>
                </a:p>
                <a:p>
                  <a:r>
                    <a:rPr lang="en-US" sz="1100" b="1" i="0" dirty="0">
                      <a:solidFill>
                        <a:schemeClr val="tx1"/>
                      </a:solidFill>
                      <a:effectLst/>
                      <a:latin typeface="+mn-lt"/>
                    </a:rPr>
                    <a:t>September 2026</a:t>
                  </a: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1DB9F1F2-683B-2F02-6C1D-778AE06A2D77}"/>
                    </a:ext>
                  </a:extLst>
                </p:cNvPr>
                <p:cNvSpPr/>
                <p:nvPr/>
              </p:nvSpPr>
              <p:spPr>
                <a:xfrm>
                  <a:off x="3166926" y="5059681"/>
                  <a:ext cx="49349" cy="664284"/>
                </a:xfrm>
                <a:prstGeom prst="rect">
                  <a:avLst/>
                </a:prstGeom>
                <a:solidFill>
                  <a:srgbClr val="B7840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9071D4CD-23DB-EB3A-D827-BEE95EBB5EFF}"/>
                  </a:ext>
                </a:extLst>
              </p:cNvPr>
              <p:cNvGrpSpPr/>
              <p:nvPr/>
            </p:nvGrpSpPr>
            <p:grpSpPr>
              <a:xfrm>
                <a:off x="6794324" y="4518476"/>
                <a:ext cx="1647417" cy="664285"/>
                <a:chOff x="3166926" y="5059680"/>
                <a:chExt cx="1647417" cy="664285"/>
              </a:xfrm>
            </p:grpSpPr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12E5110-6361-8F0E-5990-F9597698803C}"/>
                    </a:ext>
                  </a:extLst>
                </p:cNvPr>
                <p:cNvSpPr txBox="1"/>
                <p:nvPr/>
              </p:nvSpPr>
              <p:spPr>
                <a:xfrm>
                  <a:off x="3200400" y="5059680"/>
                  <a:ext cx="1613943" cy="6642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spcAft>
                      <a:spcPts val="450"/>
                    </a:spcAft>
                  </a:pPr>
                  <a:r>
                    <a:rPr lang="en-US" sz="1100" b="1" i="0" cap="all" dirty="0">
                      <a:solidFill>
                        <a:schemeClr val="tx1"/>
                      </a:solidFill>
                      <a:effectLst/>
                      <a:latin typeface="+mn-lt"/>
                    </a:rPr>
                    <a:t>Project ID</a:t>
                  </a:r>
                </a:p>
                <a:p>
                  <a:r>
                    <a:rPr lang="en-US" sz="1100" b="1" i="0" dirty="0">
                      <a:solidFill>
                        <a:schemeClr val="tx1"/>
                      </a:solidFill>
                      <a:effectLst/>
                      <a:latin typeface="+mn-lt"/>
                    </a:rPr>
                    <a:t>P154580</a:t>
                  </a:r>
                  <a:br>
                    <a:rPr lang="en-US" sz="1100" b="1" i="0" dirty="0">
                      <a:solidFill>
                        <a:schemeClr val="tx1"/>
                      </a:solidFill>
                      <a:effectLst/>
                      <a:latin typeface="+mn-lt"/>
                    </a:rPr>
                  </a:br>
                  <a:r>
                    <a:rPr lang="en-US" sz="1100" b="0" i="0" dirty="0">
                      <a:solidFill>
                        <a:schemeClr val="tx1"/>
                      </a:solidFill>
                      <a:effectLst/>
                      <a:latin typeface="+mn-lt"/>
                    </a:rPr>
                    <a:t>IDA Credit No. 6022-BD</a:t>
                  </a:r>
                  <a:endParaRPr lang="en-US" sz="1100" b="1" i="0" dirty="0">
                    <a:solidFill>
                      <a:srgbClr val="1B4332"/>
                    </a:solidFill>
                    <a:effectLst/>
                    <a:latin typeface="Playfair Display" pitchFamily="2" charset="77"/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6473361C-0660-C75D-93C8-AA6DBF323536}"/>
                    </a:ext>
                  </a:extLst>
                </p:cNvPr>
                <p:cNvSpPr/>
                <p:nvPr/>
              </p:nvSpPr>
              <p:spPr>
                <a:xfrm>
                  <a:off x="3166926" y="5059681"/>
                  <a:ext cx="49349" cy="664284"/>
                </a:xfrm>
                <a:prstGeom prst="rect">
                  <a:avLst/>
                </a:prstGeom>
                <a:solidFill>
                  <a:srgbClr val="B7840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3591BCE7-EA2F-6B2F-A80C-3B4237FED0F5}"/>
              </a:ext>
            </a:extLst>
          </p:cNvPr>
          <p:cNvSpPr/>
          <p:nvPr/>
        </p:nvSpPr>
        <p:spPr>
          <a:xfrm>
            <a:off x="0" y="6500949"/>
            <a:ext cx="12192000" cy="35705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049B9E-02FF-E1F9-C4B2-D3B630EBBDD1}"/>
              </a:ext>
            </a:extLst>
          </p:cNvPr>
          <p:cNvSpPr txBox="1"/>
          <p:nvPr/>
        </p:nvSpPr>
        <p:spPr>
          <a:xfrm>
            <a:off x="75155" y="82347"/>
            <a:ext cx="5261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chemeClr val="bg1"/>
                </a:solidFill>
              </a:rPr>
              <a:t>Government of the People's Republic of Bangladesh</a:t>
            </a:r>
            <a:endParaRPr lang="en-US" sz="800" spc="3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B24CAC-729E-4B92-23AF-55033B784D33}"/>
              </a:ext>
            </a:extLst>
          </p:cNvPr>
          <p:cNvSpPr txBox="1"/>
          <p:nvPr/>
        </p:nvSpPr>
        <p:spPr>
          <a:xfrm>
            <a:off x="8333186" y="82347"/>
            <a:ext cx="3847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rgbClr val="FFC000"/>
                </a:solidFill>
              </a:rPr>
              <a:t>Ministry of Commerce  ·  BRCP-1 [Part-2]</a:t>
            </a:r>
            <a:endParaRPr lang="en-US" sz="800" spc="300" dirty="0">
              <a:solidFill>
                <a:srgbClr val="FFC000"/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E3EB81C-685D-3FEE-1239-83C170A56D38}"/>
              </a:ext>
            </a:extLst>
          </p:cNvPr>
          <p:cNvGrpSpPr/>
          <p:nvPr/>
        </p:nvGrpSpPr>
        <p:grpSpPr>
          <a:xfrm>
            <a:off x="8179380" y="2845361"/>
            <a:ext cx="3494878" cy="3412158"/>
            <a:chOff x="8179380" y="2880986"/>
            <a:chExt cx="3494878" cy="3412158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4CFDEA4-9CDF-915C-60D8-273BA2C67396}"/>
                </a:ext>
              </a:extLst>
            </p:cNvPr>
            <p:cNvGrpSpPr/>
            <p:nvPr/>
          </p:nvGrpSpPr>
          <p:grpSpPr>
            <a:xfrm>
              <a:off x="8179380" y="2880986"/>
              <a:ext cx="3494878" cy="3131507"/>
              <a:chOff x="8179380" y="2880986"/>
              <a:chExt cx="3494878" cy="3131507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F6A17DC-BDAB-0912-714B-ABBBE3B9B505}"/>
                  </a:ext>
                </a:extLst>
              </p:cNvPr>
              <p:cNvSpPr/>
              <p:nvPr/>
            </p:nvSpPr>
            <p:spPr>
              <a:xfrm>
                <a:off x="8179496" y="2880986"/>
                <a:ext cx="3494762" cy="3131507"/>
              </a:xfrm>
              <a:prstGeom prst="rect">
                <a:avLst/>
              </a:prstGeom>
              <a:solidFill>
                <a:srgbClr val="ECE6D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9E0E85F-CDE6-0A29-EF08-0710F2893829}"/>
                  </a:ext>
                </a:extLst>
              </p:cNvPr>
              <p:cNvSpPr/>
              <p:nvPr/>
            </p:nvSpPr>
            <p:spPr>
              <a:xfrm>
                <a:off x="8179380" y="2880987"/>
                <a:ext cx="3494762" cy="45719"/>
              </a:xfrm>
              <a:prstGeom prst="rect">
                <a:avLst/>
              </a:prstGeom>
              <a:solidFill>
                <a:srgbClr val="1A423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3C27237-832E-D860-CB19-E4B5F8204160}"/>
                </a:ext>
              </a:extLst>
            </p:cNvPr>
            <p:cNvSpPr txBox="1"/>
            <p:nvPr/>
          </p:nvSpPr>
          <p:spPr>
            <a:xfrm>
              <a:off x="8251075" y="2969157"/>
              <a:ext cx="3209056" cy="33239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/>
                <a:t>PROJECT</a:t>
              </a:r>
            </a:p>
            <a:p>
              <a:r>
                <a:rPr lang="en-US" sz="1050" dirty="0"/>
                <a:t>WENP — New Features Development</a:t>
              </a:r>
            </a:p>
            <a:p>
              <a:endParaRPr lang="en-US" sz="1050" dirty="0"/>
            </a:p>
            <a:p>
              <a:r>
                <a:rPr lang="en-US" sz="1050" b="1" dirty="0"/>
                <a:t>CONTRACT PACKAGE</a:t>
              </a:r>
            </a:p>
            <a:p>
              <a:r>
                <a:rPr lang="en-US" sz="1050" dirty="0"/>
                <a:t>SD-56  ·  RFP 26.00.0000.066.07.068.26</a:t>
              </a:r>
            </a:p>
            <a:p>
              <a:endParaRPr lang="en-US" sz="1050" dirty="0"/>
            </a:p>
            <a:p>
              <a:r>
                <a:rPr lang="en-US" sz="1050" b="1" dirty="0"/>
                <a:t>IMPLEMENTING AGENCY</a:t>
              </a:r>
            </a:p>
            <a:p>
              <a:r>
                <a:rPr lang="en-US" sz="1050" dirty="0"/>
                <a:t>Ministry of Commerce</a:t>
              </a:r>
              <a:br>
                <a:rPr lang="en-US" sz="1050" dirty="0"/>
              </a:br>
              <a:r>
                <a:rPr lang="en-US" sz="1050" dirty="0"/>
                <a:t>Government of the People's Republic of Bangladesh</a:t>
              </a:r>
            </a:p>
            <a:p>
              <a:endParaRPr lang="en-US" sz="1050" dirty="0"/>
            </a:p>
            <a:p>
              <a:r>
                <a:rPr lang="en-US" sz="1050" b="1" dirty="0"/>
                <a:t>PROJECT DIRECTOR</a:t>
              </a:r>
            </a:p>
            <a:p>
              <a:r>
                <a:rPr lang="en-US" sz="1050" dirty="0"/>
                <a:t>Shaila Yasmin  ·  Additional Charge, PIU Focal Point</a:t>
              </a:r>
            </a:p>
            <a:p>
              <a:endParaRPr lang="en-US" sz="1050" dirty="0"/>
            </a:p>
            <a:p>
              <a:r>
                <a:rPr lang="en-US" sz="1050" b="1" dirty="0"/>
                <a:t>PROJECT DIRECTOR</a:t>
              </a:r>
            </a:p>
            <a:p>
              <a:r>
                <a:rPr lang="en-US" sz="1050" dirty="0"/>
                <a:t>Shaila Yasmin  ·  Additional Charge, PIU Focal Point</a:t>
              </a:r>
            </a:p>
            <a:p>
              <a:endParaRPr lang="en-US" sz="1050" dirty="0"/>
            </a:p>
            <a:p>
              <a:r>
                <a:rPr lang="en-US" sz="1050" b="1" dirty="0"/>
                <a:t>LEAD EXECUTING AGENCIES</a:t>
              </a:r>
            </a:p>
            <a:p>
              <a:r>
                <a:rPr lang="en-US" sz="1050" dirty="0"/>
                <a:t>BLPA · NBR · WENP under </a:t>
              </a:r>
              <a:r>
                <a:rPr lang="en-US" sz="1050" dirty="0" err="1"/>
                <a:t>MoC</a:t>
              </a:r>
              <a:r>
                <a:rPr lang="en-US" sz="1050" dirty="0"/>
                <a:t> stewardship</a:t>
              </a:r>
            </a:p>
            <a:p>
              <a:endParaRPr lang="en-US" sz="1050" dirty="0"/>
            </a:p>
            <a:p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3610563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141</Words>
  <Application>Microsoft Macintosh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Playfair Display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Tahmid Afsar</dc:creator>
  <cp:lastModifiedBy>Tahmid Afsar</cp:lastModifiedBy>
  <cp:revision>2</cp:revision>
  <dcterms:created xsi:type="dcterms:W3CDTF">2026-09-06T09:37:17Z</dcterms:created>
  <dcterms:modified xsi:type="dcterms:W3CDTF">2026-09-06T10:12:55Z</dcterms:modified>
</cp:coreProperties>
</file>