
<file path=[Content_Types].xml><?xml version="1.0" encoding="utf-8"?>
<Types xmlns="http://schemas.openxmlformats.org/package/2006/content-types">
  <Default Extension="jpeg" ContentType="image/jpeg"/>
  <Default Extension="org&amp;utm_campaign=index&amp;utm_content=original" ContentType="image/png"/>
  <Default Extension="org&amp;utm_campaign=index&amp;utm_content=thumbnail" ContentType="image/png"/>
  <Default Extension="org&amp;utm_campaign=index&amp;utm_content=thumbnail&amp;_=20170517184425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1" r:id="rId6"/>
    <p:sldId id="262" r:id="rId7"/>
    <p:sldId id="267" r:id="rId8"/>
    <p:sldId id="268" r:id="rId9"/>
    <p:sldId id="269" r:id="rId10"/>
    <p:sldId id="260" r:id="rId11"/>
    <p:sldId id="265" r:id="rId12"/>
    <p:sldId id="271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1" r:id="rId22"/>
    <p:sldId id="264" r:id="rId23"/>
    <p:sldId id="263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BED"/>
    <a:srgbClr val="1A422F"/>
    <a:srgbClr val="F6EFE4"/>
    <a:srgbClr val="B1451E"/>
    <a:srgbClr val="1A4230"/>
    <a:srgbClr val="F5EFE4"/>
    <a:srgbClr val="21563F"/>
    <a:srgbClr val="F7F6F4"/>
    <a:srgbClr val="F6BA05"/>
    <a:srgbClr val="ECE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4708"/>
  </p:normalViewPr>
  <p:slideViewPr>
    <p:cSldViewPr snapToGrid="0">
      <p:cViewPr varScale="1">
        <p:scale>
          <a:sx n="118" d="100"/>
          <a:sy n="118" d="100"/>
        </p:scale>
        <p:origin x="5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27DD4-0BE9-4BA5-B6A6-22DA6DC3796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57021-1129-427C-8CE8-AD8E1B7B8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03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81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7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761CE-7E99-BBEE-F4A8-8BB56E2D1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1E1D6-E01D-ACD8-484E-AEAC88DBF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ADBBD-38CF-E971-AA73-6F9249DE9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AC970-F0E2-8EAD-25C2-ECFF15FE3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30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C2B6-A390-D31C-D3E5-FC8617D4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0EE19-B3D9-DF6A-CC1E-F5273C952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48449-74E9-A90E-0410-470375161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D69A7-B967-FA4B-91F6-BA902466C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09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C9B12-C3AD-8CED-B2E9-14E76480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5CF2A-6F73-E1A2-CD3B-14F5520A4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4107F-DC3D-3764-6854-9A59EB686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3B5E0-CE5B-23DF-763A-ADF824217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37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6B6ED-D860-3612-68DB-62EEF5CD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B21F6-5AF9-0899-F1F0-00C82D4EF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1F9F1-FD4B-260F-10DB-BE2616902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D92C1-D326-8749-88D2-5C325A915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92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5C3C4-E4E1-5A88-6BFD-297330E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A6418-111F-AAF5-49DF-B54D207A1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C0FB5-7D46-7059-6721-8258AC386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373A5-8EDF-4F99-1022-F672DFD26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88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FF001-A9E3-F906-F990-E5B3DFC61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BCA39-6D82-4861-5CC2-EDE57CFF1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3BBE8-6047-5462-4302-EF89D2605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6EBA9-8AC6-D1FB-8648-158C9D2C7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3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695F1-3781-24CE-38E8-F5FAC35DC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C3BB8-FB94-299F-0416-016FF661F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C1241-376D-5E44-AD93-208030C24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5C608-F96B-35FD-6E39-F6EF60C40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70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83553-B79A-2F57-7917-57A8D262D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2F446-E5FF-7101-0DC9-691E941D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7FE11-5171-81EC-A5E1-823F34A9D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04863-48EC-BF95-922D-238FA3B80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97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636D4-AACE-0515-F9C6-0A436B987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88414-622B-9E07-710D-91EF05BC5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0C888-AA58-4CA1-CE0C-ABEC182FE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B9DFC-36EC-551C-2163-45894F62C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787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AE34E-BCF6-203D-E64A-955DF67D9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844146-8071-FE7A-EA90-4B3F180BF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86E4B-99E4-D749-715F-D337552F0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A1D6A-9AC7-041C-A0BB-216C6D672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28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B07C7-8FB8-3E7D-90A2-36DCE4366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6C050-490B-D20F-1D7B-68B3681AB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005C6-AF26-A95A-FFA8-57D8CB806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C000B-E779-6BAF-3B22-FFE3E72BF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268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7C252-610F-1D1A-7197-063F26E2C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722E3-7279-0448-BBC2-9F4BC3DBF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17AD8-7CF2-2FDC-834F-1E2C0BA58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A034D-F478-0196-6942-CE857E65C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84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DCABD-9E8F-161B-738B-B9B861E55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01247-7B6A-336C-D34A-5EB2E1106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0D95E-CA33-E3A4-7F9C-F48518EC0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54225-383A-F9D5-7A94-D968B3425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35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D2FC-D05D-A550-A93E-F110EC57A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5D020-1FF3-2067-4205-2BFCEB163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D7738-EE48-6A47-FD4A-FE256063D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DAE8F-C30D-9C75-F5D2-FBF2B5BBD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55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0DC03-12F2-F9A6-2E24-53E87467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F5ED5-173E-8716-11D6-BD1658027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C3868-3BE1-52ED-B9C5-1EDF80CC5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5B5B2-B897-AA1D-33FC-749D6A002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940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144C-E72A-F70E-9321-C62D2366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D9C21-0EDF-FBAC-2E2E-B9A73B310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6AA791-1CBC-B576-13FD-9400BB3B6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8395-1B85-3FE6-91E7-C6F34E318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978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3DB65-7751-D568-A623-E4871B08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9F758-0879-0361-FF58-1229D5EAD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54A9E-B97F-37EE-BAF6-348FB76CC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67327-3826-0611-2895-9EBF7434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400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CBCEA-8C27-A3EB-7987-1FC6553B0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33E97-A7CC-D9BF-C910-ED01785F9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C8DAA-E12A-5DC9-319A-FC64BDAAC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C9841-7582-406F-0C52-1C63AB689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297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752EB-1A65-430F-5E40-4AEC52700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FF1B2-204F-0FB3-F469-3AF1FBED0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B9D5C-CAEB-8177-4302-A52694F3B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1DC92-FC21-B416-B958-388CA9EBF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80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8DDE4-2998-BA9F-6017-EAD053642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B3AD5-B122-9DE4-9D8D-2725696D7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9BE98-3784-9C7C-F9D8-0F8A25CF8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4984C-89F6-4288-6AE6-75526A8E3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443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F7140-0ABE-EE2E-6B69-15A587606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0F6BE-6968-C315-41BC-B7D67BD89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50E9F-2E4B-7B58-6068-1535C8FB4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E10E8-5EE3-15A8-8F20-66EAB1D09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7021-1129-427C-8CE8-AD8E1B7B8C0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96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34F4-34D9-E43B-D64A-E1452C1F8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AA802-1558-CC8E-63EB-F64BAD037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EA4DA-67B1-ED7E-E20B-78648B14F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B76CF-BF64-E97D-51C4-310205811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141A1-5D87-A5D5-F682-54F5E7679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7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39A0-0604-FEA1-53C4-FF676782D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B527A-73EB-A2F3-C47D-3712CA3DD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22CB2-F4E6-CEAB-84D0-153DCA9FC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B8003-344D-F3E7-47F1-B1831537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E8AF1-6A39-9220-D26B-D3ABF3D30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08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D84A-E9B3-77DD-B8AB-4A1CAD60E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41CE0-DFAC-2AB3-2EA4-E093351DF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E56CA-88EC-1658-A87B-1EDC927E7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4BAC2-C15C-2E1A-4BDA-08410C5A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E284E-449B-1D42-EB82-B631B520D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1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40CC5-176B-6851-2215-AB615F60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73E86-F487-553F-F3A1-1CD6F7F5B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E9C66-1842-7ED7-0BD4-4BF13BFF5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78954-6D51-4954-F2F0-AE0997C22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69093-97E5-01B5-C5B8-C59ECBFE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62684-FE80-109B-F2A0-0B0C78E1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97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FB0F-BF65-9C0F-C429-8F4BD91A0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1411E-15BF-ED95-6FC2-1AFAB6EC6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B5BAD-0BFF-C755-7F1C-7547338C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14490A-6B4C-B646-6CD2-D2E74C29D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2A11E7-83BD-1B10-BC27-23D28C1CC8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60AFC-F075-FE8E-A49D-EEEE426BC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16AF9C-074D-4F32-9090-DD252A1F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94B45C-48D3-BD5E-72DF-79DD4E23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E3329-E27E-4297-C39B-3F078B8F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621D4-E3FE-EE3C-3015-B2A84A40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19EDB9-BADA-FC65-DB7B-33A5A4927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CEF35-86F6-D333-8345-FFADB38C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1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443437-67BD-F564-F001-B61A19F0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EAB303-78CE-5865-A7C8-8E62C9726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9C741-9017-69FE-2414-75EDBAF80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4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FC21-AE51-E38A-F33F-151585CE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52D8C-FDF9-4CA8-1187-66BC0073C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F0F60-6ADE-5EEF-8F06-D0F8B03BC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12A95-DD5F-6806-8A3F-419633B5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DF754-D861-E24E-FB8B-D645F7D8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FE44F-E42C-64F4-F572-746DDDB6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7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1892-C29D-3D19-2463-B7C794A93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819C1-D90F-1A08-B58B-54DC0C9BA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40E95-35C1-2F88-6AF6-F6B9AE443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C9BD6-4B78-66CB-B9F1-4ECA6E84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54AC9-2BB5-C675-DAF8-B040CFBC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505AA-503B-5D80-BD6D-D8252A3C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2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2A232-348D-8988-A60C-C0BDA438B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C4B9C-4669-6011-8C9A-376DEF715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59A8C-AA88-5D16-CACD-A4A8144F2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E967-BF05-6CB8-8AC8-437C45A6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1F742-A044-F789-06A5-EB7ADBC3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15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BFF7B9-CCE1-675A-02D5-6DA6DD79B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975AE-8931-2778-3FFB-A5CD71579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B9BA4-483B-6C32-ABB4-D4F5AD8C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C0A30-58CB-564F-8498-127BAF35019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1EC3C-CA25-E48F-A460-F09C5FCC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BCCDE-FA0C-B59F-5BAA-952C6141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2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9CAAA4-6C3A-6952-7234-F656C5DF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C2578-2010-33D5-EE9F-226CC498C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8BDF-5C02-03CC-FC5C-BF2417812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C0A30-58CB-564F-8498-127BAF35019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2E69E-42A1-7122-05E0-D5D63C58F5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B1FF5-BB9A-1D5A-9B3F-685BC91B3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25665-C42A-8341-9ECD-CE447DF72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5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org&amp;utm_campaign=index&amp;utm_content=thumbnail&amp;_=20170517184425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org&amp;utm_campaign=index&amp;utm_content=origi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org&amp;utm_campaign=index&amp;utm_content=thumbnail"/><Relationship Id="rId11" Type="http://schemas.openxmlformats.org/officeDocument/2006/relationships/image" Target="../media/image10.png"/><Relationship Id="rId5" Type="http://schemas.openxmlformats.org/officeDocument/2006/relationships/image" Target="../media/image4.org&amp;utm_campaign=index&amp;utm_content=thumbnail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org&amp;utm_campaign=index&amp;utm_content=thumbnai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549DB9-5B64-CDC5-FE06-F942493C8E73}"/>
              </a:ext>
            </a:extLst>
          </p:cNvPr>
          <p:cNvSpPr/>
          <p:nvPr/>
        </p:nvSpPr>
        <p:spPr>
          <a:xfrm>
            <a:off x="0" y="0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E7A47-4E99-B0A2-8A8B-F9A3D2D3E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836" y="650784"/>
            <a:ext cx="1160327" cy="1180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68C5B4-611E-B746-E2F0-CE9BB654861B}"/>
              </a:ext>
            </a:extLst>
          </p:cNvPr>
          <p:cNvSpPr txBox="1"/>
          <p:nvPr/>
        </p:nvSpPr>
        <p:spPr>
          <a:xfrm>
            <a:off x="2268581" y="1897843"/>
            <a:ext cx="7654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cap="all" spc="300" dirty="0">
                <a:latin typeface="+mj-lt"/>
              </a:rPr>
              <a:t>Government of the People's Republic of Bangladesh</a:t>
            </a:r>
          </a:p>
          <a:p>
            <a:pPr algn="ctr"/>
            <a:r>
              <a:rPr lang="en-US" sz="1200" i="1" dirty="0">
                <a:latin typeface="+mj-lt"/>
              </a:rPr>
              <a:t>Ministry of Commerce  ·  Bangladesh Regional Connectivity Project-1 [Part-2]</a:t>
            </a:r>
            <a:endParaRPr lang="en-US" sz="1200" dirty="0">
              <a:latin typeface="+mj-lt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CA8F88-4826-B43D-A2A0-583F6AFA2630}"/>
              </a:ext>
            </a:extLst>
          </p:cNvPr>
          <p:cNvGrpSpPr/>
          <p:nvPr/>
        </p:nvGrpSpPr>
        <p:grpSpPr>
          <a:xfrm>
            <a:off x="747252" y="3407457"/>
            <a:ext cx="6584233" cy="1832657"/>
            <a:chOff x="1857508" y="3350105"/>
            <a:chExt cx="6584233" cy="183265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AE66AE-C6E5-A310-1953-FA935241F8A1}"/>
                </a:ext>
              </a:extLst>
            </p:cNvPr>
            <p:cNvSpPr txBox="1"/>
            <p:nvPr/>
          </p:nvSpPr>
          <p:spPr>
            <a:xfrm>
              <a:off x="2019770" y="3350105"/>
              <a:ext cx="5997124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cap="all" spc="300" dirty="0">
                  <a:solidFill>
                    <a:srgbClr val="B3461E"/>
                  </a:solidFill>
                </a:rPr>
                <a:t>Package SD-56  ·  Contract Reference IBCS-PRIMAX/WENP/SD-56/2026/01</a:t>
              </a:r>
            </a:p>
            <a:p>
              <a:pPr algn="ctr"/>
              <a:r>
                <a:rPr lang="en-US" sz="3200" b="1" dirty="0">
                  <a:solidFill>
                    <a:srgbClr val="1A4230"/>
                  </a:solidFill>
                  <a:latin typeface="Playfair Display Black" panose="00000500000000000000" pitchFamily="2" charset="0"/>
                </a:rPr>
                <a:t>Inception Report</a:t>
              </a:r>
              <a:endParaRPr lang="en-US" sz="3200" b="1" dirty="0">
                <a:solidFill>
                  <a:srgbClr val="1B4231"/>
                </a:solidFill>
                <a:latin typeface=""/>
              </a:endParaRPr>
            </a:p>
            <a:p>
              <a:pPr algn="ctr"/>
              <a:r>
                <a:rPr lang="en-US" sz="1100" i="1" dirty="0"/>
                <a:t>New Features Development of the </a:t>
              </a:r>
              <a:r>
                <a:rPr lang="en-US" sz="1100" b="1" dirty="0"/>
                <a:t>Women Entrepreneurs Networking Platform (WENP)</a:t>
              </a:r>
              <a:endParaRPr lang="en-US" sz="1100" i="1" dirty="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81B84C2-A89A-8BED-C62F-30A55DFD24ED}"/>
                </a:ext>
              </a:extLst>
            </p:cNvPr>
            <p:cNvGrpSpPr/>
            <p:nvPr/>
          </p:nvGrpSpPr>
          <p:grpSpPr>
            <a:xfrm>
              <a:off x="1857508" y="4518476"/>
              <a:ext cx="6584233" cy="664286"/>
              <a:chOff x="1857508" y="4518476"/>
              <a:chExt cx="6584233" cy="664286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C4852BC-8185-F42C-6F4D-961B7E842B9E}"/>
                  </a:ext>
                </a:extLst>
              </p:cNvPr>
              <p:cNvGrpSpPr/>
              <p:nvPr/>
            </p:nvGrpSpPr>
            <p:grpSpPr>
              <a:xfrm>
                <a:off x="1857508" y="4518477"/>
                <a:ext cx="2580731" cy="664285"/>
                <a:chOff x="3166926" y="5059680"/>
                <a:chExt cx="2580731" cy="664285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FBB4D9B-1FF9-8B8D-5730-035A36668245}"/>
                    </a:ext>
                  </a:extLst>
                </p:cNvPr>
                <p:cNvSpPr txBox="1"/>
                <p:nvPr/>
              </p:nvSpPr>
              <p:spPr>
                <a:xfrm>
                  <a:off x="3200400" y="5059680"/>
                  <a:ext cx="2547257" cy="6642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indent="0" algn="l">
                    <a:spcAft>
                      <a:spcPts val="450"/>
                    </a:spcAft>
                    <a:buNone/>
                  </a:pPr>
                  <a:r>
                    <a:rPr lang="en-US" sz="1100" b="1" i="0" cap="all" dirty="0">
                      <a:solidFill>
                        <a:schemeClr val="tx1"/>
                      </a:solidFill>
                      <a:effectLst/>
                      <a:latin typeface="+mn-lt"/>
                    </a:rPr>
                    <a:t>Submitted To</a:t>
                  </a:r>
                </a:p>
                <a:p>
                  <a:pPr indent="0" algn="l">
                    <a:buNone/>
                  </a:pPr>
                  <a:r>
                    <a:rPr lang="en-US" sz="1100" b="1" i="0" dirty="0">
                      <a:solidFill>
                        <a:schemeClr val="tx1"/>
                      </a:solidFill>
                      <a:effectLst/>
                      <a:latin typeface="+mn-lt"/>
                    </a:rPr>
                    <a:t>Project Director</a:t>
                  </a:r>
                  <a:br>
                    <a:rPr lang="en-US" sz="1100" b="1" i="0" dirty="0">
                      <a:solidFill>
                        <a:schemeClr val="tx1"/>
                      </a:solidFill>
                      <a:effectLst/>
                      <a:latin typeface="+mn-lt"/>
                    </a:rPr>
                  </a:br>
                  <a:r>
                    <a:rPr lang="en-US" sz="1100" b="0" i="0" dirty="0">
                      <a:solidFill>
                        <a:schemeClr val="tx1"/>
                      </a:solidFill>
                      <a:effectLst/>
                      <a:latin typeface="+mn-lt"/>
                    </a:rPr>
                    <a:t>BRCP-1 [Part-2], Ministry of Commerce</a:t>
                  </a:r>
                  <a:endParaRPr lang="en-US" sz="1100" b="1" i="0" dirty="0">
                    <a:solidFill>
                      <a:schemeClr val="tx1"/>
                    </a:solidFill>
                    <a:effectLst/>
                    <a:latin typeface="+mn-lt"/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B4625063-275C-9287-57A2-3D0803F8B956}"/>
                    </a:ext>
                  </a:extLst>
                </p:cNvPr>
                <p:cNvSpPr/>
                <p:nvPr/>
              </p:nvSpPr>
              <p:spPr>
                <a:xfrm>
                  <a:off x="3166926" y="5059681"/>
                  <a:ext cx="49349" cy="664284"/>
                </a:xfrm>
                <a:prstGeom prst="rect">
                  <a:avLst/>
                </a:prstGeom>
                <a:solidFill>
                  <a:srgbClr val="B7840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5065C74-A4B7-FC95-47F6-E94CE2C59B2E}"/>
                  </a:ext>
                </a:extLst>
              </p:cNvPr>
              <p:cNvGrpSpPr/>
              <p:nvPr/>
            </p:nvGrpSpPr>
            <p:grpSpPr>
              <a:xfrm>
                <a:off x="4752809" y="4518476"/>
                <a:ext cx="2580731" cy="664285"/>
                <a:chOff x="3166926" y="5059680"/>
                <a:chExt cx="2580731" cy="664285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15A5FCC-88B4-91BF-18AB-19A64369A0DB}"/>
                    </a:ext>
                  </a:extLst>
                </p:cNvPr>
                <p:cNvSpPr txBox="1"/>
                <p:nvPr/>
              </p:nvSpPr>
              <p:spPr>
                <a:xfrm>
                  <a:off x="3200400" y="5059680"/>
                  <a:ext cx="2547257" cy="4950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450"/>
                    </a:spcAft>
                  </a:pPr>
                  <a:r>
                    <a:rPr lang="en-US" sz="1100" b="1" i="0" cap="all" dirty="0">
                      <a:solidFill>
                        <a:schemeClr val="tx1"/>
                      </a:solidFill>
                      <a:effectLst/>
                      <a:latin typeface="+mn-lt"/>
                    </a:rPr>
                    <a:t>Date of Issue</a:t>
                  </a:r>
                </a:p>
                <a:p>
                  <a:r>
                    <a:rPr lang="en-US" sz="1100" b="1" i="0" dirty="0">
                      <a:solidFill>
                        <a:schemeClr val="tx1"/>
                      </a:solidFill>
                      <a:effectLst/>
                      <a:latin typeface="+mn-lt"/>
                    </a:rPr>
                    <a:t>September 2026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DB9F1F2-683B-2F02-6C1D-778AE06A2D77}"/>
                    </a:ext>
                  </a:extLst>
                </p:cNvPr>
                <p:cNvSpPr/>
                <p:nvPr/>
              </p:nvSpPr>
              <p:spPr>
                <a:xfrm>
                  <a:off x="3166926" y="5059681"/>
                  <a:ext cx="49349" cy="664284"/>
                </a:xfrm>
                <a:prstGeom prst="rect">
                  <a:avLst/>
                </a:prstGeom>
                <a:solidFill>
                  <a:srgbClr val="B7840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071D4CD-23DB-EB3A-D827-BEE95EBB5EFF}"/>
                  </a:ext>
                </a:extLst>
              </p:cNvPr>
              <p:cNvGrpSpPr/>
              <p:nvPr/>
            </p:nvGrpSpPr>
            <p:grpSpPr>
              <a:xfrm>
                <a:off x="6794324" y="4518476"/>
                <a:ext cx="1647417" cy="664285"/>
                <a:chOff x="3166926" y="5059680"/>
                <a:chExt cx="1647417" cy="664285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12E5110-6361-8F0E-5990-F9597698803C}"/>
                    </a:ext>
                  </a:extLst>
                </p:cNvPr>
                <p:cNvSpPr txBox="1"/>
                <p:nvPr/>
              </p:nvSpPr>
              <p:spPr>
                <a:xfrm>
                  <a:off x="3200400" y="5059680"/>
                  <a:ext cx="1613943" cy="6642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450"/>
                    </a:spcAft>
                  </a:pPr>
                  <a:r>
                    <a:rPr lang="en-US" sz="1100" b="1" i="0" cap="all" dirty="0">
                      <a:solidFill>
                        <a:schemeClr val="tx1"/>
                      </a:solidFill>
                      <a:effectLst/>
                      <a:latin typeface="+mn-lt"/>
                    </a:rPr>
                    <a:t>Project ID</a:t>
                  </a:r>
                </a:p>
                <a:p>
                  <a:r>
                    <a:rPr lang="en-US" sz="1100" b="1" i="0" dirty="0">
                      <a:solidFill>
                        <a:schemeClr val="tx1"/>
                      </a:solidFill>
                      <a:effectLst/>
                      <a:latin typeface="+mn-lt"/>
                    </a:rPr>
                    <a:t>P154580</a:t>
                  </a:r>
                  <a:br>
                    <a:rPr lang="en-US" sz="1100" b="1" i="0" dirty="0">
                      <a:solidFill>
                        <a:schemeClr val="tx1"/>
                      </a:solidFill>
                      <a:effectLst/>
                      <a:latin typeface="+mn-lt"/>
                    </a:rPr>
                  </a:br>
                  <a:r>
                    <a:rPr lang="en-US" sz="1100" b="0" i="0" dirty="0">
                      <a:solidFill>
                        <a:schemeClr val="tx1"/>
                      </a:solidFill>
                      <a:effectLst/>
                      <a:latin typeface="+mn-lt"/>
                    </a:rPr>
                    <a:t>IDA Credit No. 6022-BD</a:t>
                  </a:r>
                  <a:endParaRPr lang="en-US" sz="1100" b="1" i="0" dirty="0">
                    <a:solidFill>
                      <a:srgbClr val="1B4332"/>
                    </a:solidFill>
                    <a:effectLst/>
                    <a:latin typeface="Playfair Display Black" pitchFamily="2" charset="77"/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6473361C-0660-C75D-93C8-AA6DBF323536}"/>
                    </a:ext>
                  </a:extLst>
                </p:cNvPr>
                <p:cNvSpPr/>
                <p:nvPr/>
              </p:nvSpPr>
              <p:spPr>
                <a:xfrm>
                  <a:off x="3166926" y="5059681"/>
                  <a:ext cx="49349" cy="664284"/>
                </a:xfrm>
                <a:prstGeom prst="rect">
                  <a:avLst/>
                </a:prstGeom>
                <a:solidFill>
                  <a:srgbClr val="B7840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3591BCE7-EA2F-6B2F-A80C-3B4237FED0F5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049B9E-02FF-E1F9-C4B2-D3B630EBBDD1}"/>
              </a:ext>
            </a:extLst>
          </p:cNvPr>
          <p:cNvSpPr txBox="1"/>
          <p:nvPr/>
        </p:nvSpPr>
        <p:spPr>
          <a:xfrm>
            <a:off x="75155" y="8234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B24CAC-729E-4B92-23AF-55033B784D33}"/>
              </a:ext>
            </a:extLst>
          </p:cNvPr>
          <p:cNvSpPr txBox="1"/>
          <p:nvPr/>
        </p:nvSpPr>
        <p:spPr>
          <a:xfrm>
            <a:off x="8333186" y="8234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E3EB81C-685D-3FEE-1239-83C170A56D38}"/>
              </a:ext>
            </a:extLst>
          </p:cNvPr>
          <p:cNvGrpSpPr/>
          <p:nvPr/>
        </p:nvGrpSpPr>
        <p:grpSpPr>
          <a:xfrm>
            <a:off x="8179380" y="2845361"/>
            <a:ext cx="3494878" cy="3412158"/>
            <a:chOff x="8179380" y="2880986"/>
            <a:chExt cx="3494878" cy="3412158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4CFDEA4-9CDF-915C-60D8-273BA2C67396}"/>
                </a:ext>
              </a:extLst>
            </p:cNvPr>
            <p:cNvGrpSpPr/>
            <p:nvPr/>
          </p:nvGrpSpPr>
          <p:grpSpPr>
            <a:xfrm>
              <a:off x="8179380" y="2880986"/>
              <a:ext cx="3494878" cy="3131507"/>
              <a:chOff x="8179380" y="2880986"/>
              <a:chExt cx="3494878" cy="3131507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F6A17DC-BDAB-0912-714B-ABBBE3B9B505}"/>
                  </a:ext>
                </a:extLst>
              </p:cNvPr>
              <p:cNvSpPr/>
              <p:nvPr/>
            </p:nvSpPr>
            <p:spPr>
              <a:xfrm>
                <a:off x="8179496" y="2880986"/>
                <a:ext cx="3494762" cy="3131507"/>
              </a:xfrm>
              <a:prstGeom prst="rect">
                <a:avLst/>
              </a:prstGeom>
              <a:solidFill>
                <a:srgbClr val="ECE6D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9E0E85F-CDE6-0A29-EF08-0710F2893829}"/>
                  </a:ext>
                </a:extLst>
              </p:cNvPr>
              <p:cNvSpPr/>
              <p:nvPr/>
            </p:nvSpPr>
            <p:spPr>
              <a:xfrm>
                <a:off x="8179380" y="2880987"/>
                <a:ext cx="3494762" cy="45719"/>
              </a:xfrm>
              <a:prstGeom prst="rect">
                <a:avLst/>
              </a:prstGeom>
              <a:solidFill>
                <a:srgbClr val="1A42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3C27237-832E-D860-CB19-E4B5F8204160}"/>
                </a:ext>
              </a:extLst>
            </p:cNvPr>
            <p:cNvSpPr txBox="1"/>
            <p:nvPr/>
          </p:nvSpPr>
          <p:spPr>
            <a:xfrm>
              <a:off x="8251075" y="2969157"/>
              <a:ext cx="3209056" cy="3323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/>
                <a:t>PROJECT</a:t>
              </a:r>
            </a:p>
            <a:p>
              <a:r>
                <a:rPr lang="en-US" sz="1050" dirty="0"/>
                <a:t>WENP — New Features Development</a:t>
              </a:r>
            </a:p>
            <a:p>
              <a:endParaRPr lang="en-US" sz="1050" dirty="0"/>
            </a:p>
            <a:p>
              <a:r>
                <a:rPr lang="en-US" sz="1050" b="1" dirty="0"/>
                <a:t>CONTRACT PACKAGE</a:t>
              </a:r>
            </a:p>
            <a:p>
              <a:r>
                <a:rPr lang="en-US" sz="1050" dirty="0"/>
                <a:t>SD-56  ·  RFP 26.00.0000.066.07.068.26</a:t>
              </a:r>
            </a:p>
            <a:p>
              <a:endParaRPr lang="en-US" sz="1050" dirty="0"/>
            </a:p>
            <a:p>
              <a:r>
                <a:rPr lang="en-US" sz="1050" b="1" dirty="0"/>
                <a:t>IMPLEMENTING AGENCY</a:t>
              </a:r>
            </a:p>
            <a:p>
              <a:r>
                <a:rPr lang="en-US" sz="1050" dirty="0"/>
                <a:t>Ministry of Commerce</a:t>
              </a:r>
              <a:br>
                <a:rPr lang="en-US" sz="1050" dirty="0"/>
              </a:br>
              <a:r>
                <a:rPr lang="en-US" sz="1050" dirty="0"/>
                <a:t>Government of the People's Republic of Bangladesh</a:t>
              </a:r>
            </a:p>
            <a:p>
              <a:endParaRPr lang="en-US" sz="1050" dirty="0"/>
            </a:p>
            <a:p>
              <a:r>
                <a:rPr lang="en-US" sz="1050" b="1" dirty="0"/>
                <a:t>PROJECT DIRECTOR</a:t>
              </a:r>
            </a:p>
            <a:p>
              <a:r>
                <a:rPr lang="en-US" sz="1050" dirty="0"/>
                <a:t>Shaila Yasmin  ·  Additional Charge, PIU Focal Point</a:t>
              </a:r>
            </a:p>
            <a:p>
              <a:endParaRPr lang="en-US" sz="1050" dirty="0"/>
            </a:p>
            <a:p>
              <a:r>
                <a:rPr lang="en-US" sz="1050" b="1" dirty="0"/>
                <a:t>PROJECT DIRECTOR</a:t>
              </a:r>
            </a:p>
            <a:p>
              <a:r>
                <a:rPr lang="en-US" sz="1050" dirty="0"/>
                <a:t>Shaila Yasmin  ·  Additional Charge, PIU Focal Point</a:t>
              </a:r>
            </a:p>
            <a:p>
              <a:endParaRPr lang="en-US" sz="1050" dirty="0"/>
            </a:p>
            <a:p>
              <a:r>
                <a:rPr lang="en-US" sz="1050" b="1" dirty="0"/>
                <a:t>LEAD EXECUTING AGENCIES</a:t>
              </a:r>
            </a:p>
            <a:p>
              <a:r>
                <a:rPr lang="en-US" sz="1050" dirty="0"/>
                <a:t>BLPA · NBR · WENP under </a:t>
              </a:r>
              <a:r>
                <a:rPr lang="en-US" sz="1050" dirty="0" err="1"/>
                <a:t>MoC</a:t>
              </a:r>
              <a:r>
                <a:rPr lang="en-US" sz="1050" dirty="0"/>
                <a:t> stewardship</a:t>
              </a:r>
            </a:p>
            <a:p>
              <a:endParaRPr lang="en-US" sz="1050" dirty="0"/>
            </a:p>
            <a:p>
              <a:endParaRPr lang="en-US" sz="1050" dirty="0"/>
            </a:p>
          </p:txBody>
        </p:sp>
      </p:grp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E0B45C4F-3310-DA34-6E0F-7DFFA3981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63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5D0E47-3D46-CEAA-33B7-1E3B67ECE8A8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7105C-5C0B-B884-4726-149BC3D24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490711-E75E-2EDE-CFB2-C6D17CB8233E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04412C-40A1-9716-801E-95FB994D25A2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79DA56-5127-E500-39E8-70795A1D165B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99CDA-9FED-6CB0-8844-D8D5E4688271}"/>
              </a:ext>
            </a:extLst>
          </p:cNvPr>
          <p:cNvSpPr txBox="1"/>
          <p:nvPr/>
        </p:nvSpPr>
        <p:spPr>
          <a:xfrm>
            <a:off x="535352" y="705411"/>
            <a:ext cx="9137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Inception Report Acceptance Meeting</a:t>
            </a:r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BFFD8C2B-F9FB-4230-FFFB-2F56865ED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DC8FA8-EF5B-8B44-048A-B46CC2053D5E}"/>
              </a:ext>
            </a:extLst>
          </p:cNvPr>
          <p:cNvSpPr/>
          <p:nvPr/>
        </p:nvSpPr>
        <p:spPr>
          <a:xfrm>
            <a:off x="699247" y="1366222"/>
            <a:ext cx="5930153" cy="4786368"/>
          </a:xfrm>
          <a:prstGeom prst="rect">
            <a:avLst/>
          </a:prstGeom>
          <a:solidFill>
            <a:srgbClr val="ECE6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12C3E2-B27C-2B74-4EC3-D7ED142893F4}"/>
              </a:ext>
            </a:extLst>
          </p:cNvPr>
          <p:cNvSpPr/>
          <p:nvPr/>
        </p:nvSpPr>
        <p:spPr>
          <a:xfrm>
            <a:off x="699247" y="1372963"/>
            <a:ext cx="5930153" cy="117453"/>
          </a:xfrm>
          <a:prstGeom prst="rect">
            <a:avLst/>
          </a:prstGeom>
          <a:solidFill>
            <a:srgbClr val="1A4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37A955-696A-AB32-22E1-FDB33D9AA034}"/>
              </a:ext>
            </a:extLst>
          </p:cNvPr>
          <p:cNvSpPr txBox="1"/>
          <p:nvPr/>
        </p:nvSpPr>
        <p:spPr>
          <a:xfrm>
            <a:off x="849182" y="1653293"/>
            <a:ext cx="5708153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cap="all" dirty="0">
                <a:solidFill>
                  <a:srgbClr val="D08100"/>
                </a:solidFill>
              </a:rPr>
              <a:t>Meeting Purpose</a:t>
            </a:r>
          </a:p>
          <a:p>
            <a:r>
              <a:rPr lang="en-US" sz="1400" dirty="0"/>
              <a:t>Formal Inception Report Presentation &amp; Acceptance Meeting</a:t>
            </a:r>
          </a:p>
          <a:p>
            <a:endParaRPr lang="en-US" b="1" cap="all" dirty="0"/>
          </a:p>
          <a:p>
            <a:r>
              <a:rPr lang="en-US" sz="1400" b="1" cap="all" spc="200" dirty="0">
                <a:solidFill>
                  <a:srgbClr val="D08100"/>
                </a:solidFill>
              </a:rPr>
              <a:t>Platform</a:t>
            </a:r>
          </a:p>
          <a:p>
            <a:r>
              <a:rPr lang="en-US" sz="1400" b="1" dirty="0"/>
              <a:t>Women Entrepreneurs Networking Platform (WENP)</a:t>
            </a:r>
            <a:endParaRPr lang="en-US" sz="1400" dirty="0"/>
          </a:p>
          <a:p>
            <a:endParaRPr lang="en-US" sz="1400" b="1" cap="all" dirty="0"/>
          </a:p>
          <a:p>
            <a:r>
              <a:rPr lang="en-US" sz="1400" b="1" cap="all" spc="200" dirty="0">
                <a:solidFill>
                  <a:srgbClr val="D08100"/>
                </a:solidFill>
              </a:rPr>
              <a:t>Implementing Agency</a:t>
            </a:r>
          </a:p>
          <a:p>
            <a:r>
              <a:rPr lang="en-US" sz="1400" dirty="0"/>
              <a:t>Bangladesh Regional Connectivity Project-1 (BRCP-1)</a:t>
            </a:r>
            <a:br>
              <a:rPr lang="en-US" sz="1400" dirty="0"/>
            </a:br>
            <a:r>
              <a:rPr lang="en-US" sz="1400" dirty="0"/>
              <a:t>Ministry of Commerce</a:t>
            </a:r>
            <a:br>
              <a:rPr lang="en-US" sz="1400" dirty="0"/>
            </a:br>
            <a:r>
              <a:rPr lang="en-US" sz="1400" dirty="0"/>
              <a:t>Government of the People's Republic of Bangladesh</a:t>
            </a:r>
          </a:p>
          <a:p>
            <a:endParaRPr lang="en-US" b="1" cap="all" dirty="0"/>
          </a:p>
          <a:p>
            <a:r>
              <a:rPr lang="en-US" sz="1400" b="1" cap="all" spc="200" dirty="0">
                <a:solidFill>
                  <a:srgbClr val="D08100"/>
                </a:solidFill>
              </a:rPr>
              <a:t>Chairperson</a:t>
            </a:r>
          </a:p>
          <a:p>
            <a:r>
              <a:rPr lang="en-US" sz="1400" b="1" dirty="0"/>
              <a:t>Shaila Yasmin</a:t>
            </a:r>
            <a:r>
              <a:rPr lang="en-US" sz="1400" dirty="0"/>
              <a:t> — Joint Secretary &amp; Project Director (Additional Charge), BRCP-1, Ministry of Commerce</a:t>
            </a:r>
          </a:p>
          <a:p>
            <a:endParaRPr lang="en-US" b="1" cap="all" dirty="0"/>
          </a:p>
          <a:p>
            <a:r>
              <a:rPr lang="en-US" sz="1400" b="1" cap="all" spc="200" dirty="0">
                <a:solidFill>
                  <a:srgbClr val="D08100"/>
                </a:solidFill>
              </a:rPr>
              <a:t>Consulting Firm</a:t>
            </a:r>
          </a:p>
          <a:p>
            <a:r>
              <a:rPr lang="en-US" sz="1400" b="1" dirty="0"/>
              <a:t>IBCS-PRIMAX Software (Bangladesh) Ltd.</a:t>
            </a:r>
            <a:br>
              <a:rPr lang="en-US" sz="1400" dirty="0"/>
            </a:br>
            <a:r>
              <a:rPr lang="en-US" sz="1400" dirty="0"/>
              <a:t>Contract Package No. SD-56  ·  IDA Credit No. 6022-BD</a:t>
            </a:r>
          </a:p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12D93B-920D-3A16-E311-977A03E9A2D4}"/>
              </a:ext>
            </a:extLst>
          </p:cNvPr>
          <p:cNvSpPr/>
          <p:nvPr/>
        </p:nvSpPr>
        <p:spPr>
          <a:xfrm>
            <a:off x="6749800" y="1372963"/>
            <a:ext cx="5200900" cy="1840137"/>
          </a:xfrm>
          <a:prstGeom prst="rect">
            <a:avLst/>
          </a:prstGeom>
          <a:solidFill>
            <a:srgbClr val="1A4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393D2E-2A2E-05B0-629E-6E9C8CF15513}"/>
              </a:ext>
            </a:extLst>
          </p:cNvPr>
          <p:cNvSpPr txBox="1"/>
          <p:nvPr/>
        </p:nvSpPr>
        <p:spPr>
          <a:xfrm>
            <a:off x="6988050" y="1568810"/>
            <a:ext cx="4724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cap="all" dirty="0">
                <a:solidFill>
                  <a:srgbClr val="F6BA05"/>
                </a:solidFill>
              </a:rPr>
              <a:t>Consultant Credentials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IBCS-PRIMAX Software (Bangladesh) Ltd.</a:t>
            </a:r>
          </a:p>
          <a:p>
            <a:r>
              <a:rPr lang="en-US" sz="1200" b="1" dirty="0">
                <a:solidFill>
                  <a:srgbClr val="F6BA05"/>
                </a:solidFill>
              </a:rPr>
              <a:t>CMMI Level 3</a:t>
            </a:r>
            <a:r>
              <a:rPr lang="en-US" sz="1200" dirty="0">
                <a:solidFill>
                  <a:srgbClr val="F6BA05"/>
                </a:solidFill>
              </a:rPr>
              <a:t> </a:t>
            </a:r>
            <a:r>
              <a:rPr lang="en-US" sz="1200" dirty="0">
                <a:solidFill>
                  <a:schemeClr val="bg1"/>
                </a:solidFill>
              </a:rPr>
              <a:t>appraised  ·  </a:t>
            </a:r>
            <a:r>
              <a:rPr lang="en-US" sz="1200" b="1" dirty="0">
                <a:solidFill>
                  <a:srgbClr val="F6BA05"/>
                </a:solidFill>
              </a:rPr>
              <a:t>ISO 9001:2015</a:t>
            </a:r>
            <a:r>
              <a:rPr lang="en-US" sz="1200" dirty="0">
                <a:solidFill>
                  <a:srgbClr val="F6BA05"/>
                </a:solidFill>
              </a:rPr>
              <a:t>  ·  </a:t>
            </a:r>
            <a:r>
              <a:rPr lang="en-US" sz="1200" b="1" dirty="0">
                <a:solidFill>
                  <a:srgbClr val="F6BA05"/>
                </a:solidFill>
              </a:rPr>
              <a:t>ISO 27001</a:t>
            </a:r>
            <a:r>
              <a:rPr lang="en-US" sz="1200" dirty="0">
                <a:solidFill>
                  <a:srgbClr val="F6BA05"/>
                </a:solidFill>
              </a:rPr>
              <a:t> </a:t>
            </a:r>
            <a:r>
              <a:rPr lang="en-US" sz="1200" dirty="0">
                <a:solidFill>
                  <a:schemeClr val="bg1"/>
                </a:solidFill>
              </a:rPr>
              <a:t>certified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b="1" dirty="0">
                <a:solidFill>
                  <a:srgbClr val="F6BA05"/>
                </a:solidFill>
              </a:rPr>
              <a:t>35+ years</a:t>
            </a:r>
            <a:r>
              <a:rPr lang="en-US" sz="1200" dirty="0">
                <a:solidFill>
                  <a:srgbClr val="F6BA05"/>
                </a:solidFill>
              </a:rPr>
              <a:t> </a:t>
            </a:r>
            <a:r>
              <a:rPr lang="en-US" sz="1200" dirty="0">
                <a:solidFill>
                  <a:schemeClr val="bg1"/>
                </a:solidFill>
              </a:rPr>
              <a:t>of enterprise software engineering experience in Bangladesh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b="1" dirty="0">
                <a:solidFill>
                  <a:srgbClr val="F6BA05"/>
                </a:solidFill>
              </a:rPr>
              <a:t>28 experts</a:t>
            </a:r>
            <a:r>
              <a:rPr lang="en-US" sz="1200" dirty="0">
                <a:solidFill>
                  <a:srgbClr val="F6BA05"/>
                </a:solidFill>
              </a:rPr>
              <a:t> </a:t>
            </a:r>
            <a:r>
              <a:rPr lang="en-US" sz="1200" dirty="0" err="1">
                <a:solidFill>
                  <a:schemeClr val="bg1"/>
                </a:solidFill>
              </a:rPr>
              <a:t>mobilised</a:t>
            </a:r>
            <a:r>
              <a:rPr lang="en-US" sz="1200" dirty="0">
                <a:solidFill>
                  <a:schemeClr val="bg1"/>
                </a:solidFill>
              </a:rPr>
              <a:t> — 16 Key and 12 Non-Key  ·  </a:t>
            </a:r>
            <a:r>
              <a:rPr lang="en-US" sz="1200" b="1" dirty="0">
                <a:solidFill>
                  <a:srgbClr val="F6BA05"/>
                </a:solidFill>
              </a:rPr>
              <a:t>57.0</a:t>
            </a:r>
            <a:r>
              <a:rPr lang="en-US" sz="1200" dirty="0">
                <a:solidFill>
                  <a:srgbClr val="F6BA05"/>
                </a:solidFill>
              </a:rPr>
              <a:t> </a:t>
            </a:r>
            <a:r>
              <a:rPr lang="en-US" sz="1200" dirty="0">
                <a:solidFill>
                  <a:schemeClr val="bg1"/>
                </a:solidFill>
              </a:rPr>
              <a:t>person-months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829F7F-16D6-11C4-9A4D-3BE80C935E73}"/>
              </a:ext>
            </a:extLst>
          </p:cNvPr>
          <p:cNvSpPr/>
          <p:nvPr/>
        </p:nvSpPr>
        <p:spPr>
          <a:xfrm>
            <a:off x="6749800" y="3319929"/>
            <a:ext cx="5200901" cy="2832660"/>
          </a:xfrm>
          <a:prstGeom prst="rect">
            <a:avLst/>
          </a:prstGeom>
          <a:solidFill>
            <a:srgbClr val="ECE6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C72704-A5C7-A535-6E8A-C28D924DE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761" y="4159834"/>
            <a:ext cx="965941" cy="9825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D5ADD89-7216-F9F0-D711-BEC0A5A274B4}"/>
              </a:ext>
            </a:extLst>
          </p:cNvPr>
          <p:cNvSpPr txBox="1"/>
          <p:nvPr/>
        </p:nvSpPr>
        <p:spPr>
          <a:xfrm>
            <a:off x="8067167" y="3946228"/>
            <a:ext cx="3704792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cap="all" spc="200" dirty="0"/>
              <a:t>Official Endorsements</a:t>
            </a:r>
          </a:p>
          <a:p>
            <a:endParaRPr lang="en-US" sz="1200" b="1" dirty="0"/>
          </a:p>
          <a:p>
            <a:r>
              <a:rPr lang="en-US" sz="1200" b="1" dirty="0"/>
              <a:t>Government of the People's Republic of Bangladesh</a:t>
            </a:r>
            <a:r>
              <a:rPr lang="en-US" sz="1200" dirty="0"/>
              <a:t> — Ministry of Commerce</a:t>
            </a:r>
            <a:br>
              <a:rPr lang="en-US" sz="1200" dirty="0"/>
            </a:br>
            <a:r>
              <a:rPr lang="en-US" sz="1200" b="1" dirty="0"/>
              <a:t>World Bank / IDA</a:t>
            </a:r>
            <a:r>
              <a:rPr lang="en-US" sz="1200" dirty="0"/>
              <a:t> — Credit No. 6022-BD, Project ID P154580</a:t>
            </a:r>
            <a:br>
              <a:rPr lang="en-US" sz="1200" dirty="0"/>
            </a:br>
            <a:r>
              <a:rPr lang="en-US" sz="1200" b="1" dirty="0"/>
              <a:t>WENP</a:t>
            </a:r>
            <a:r>
              <a:rPr lang="en-US" sz="1200" dirty="0"/>
              <a:t> project identity under </a:t>
            </a:r>
            <a:r>
              <a:rPr lang="en-US" sz="1200" dirty="0" err="1"/>
              <a:t>MoC</a:t>
            </a:r>
            <a:r>
              <a:rPr lang="en-US" sz="1200" dirty="0"/>
              <a:t> stewardship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646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3EED6-3126-BD60-87CA-F71F2E90B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56362A-8105-7B1E-BE79-AA32E3BEA5E3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041FC-AAD1-5343-8E61-6187188CF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123C7F-290E-040C-301A-418FD986E3EA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96597-20DE-F9D4-E681-3B7E58D868A9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096129-2513-CA32-18FA-1E4099251CEE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C4BABE-3B40-5143-35EB-2C95711C4348}"/>
              </a:ext>
            </a:extLst>
          </p:cNvPr>
          <p:cNvSpPr txBox="1"/>
          <p:nvPr/>
        </p:nvSpPr>
        <p:spPr>
          <a:xfrm>
            <a:off x="535352" y="705411"/>
            <a:ext cx="9137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Background of the Project</a:t>
            </a:r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7C7BC8CB-E24B-3819-D227-57A3574DE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DBDC75A8-E53C-DDCE-03C3-CC872B2F630A}"/>
              </a:ext>
            </a:extLst>
          </p:cNvPr>
          <p:cNvGrpSpPr/>
          <p:nvPr/>
        </p:nvGrpSpPr>
        <p:grpSpPr>
          <a:xfrm>
            <a:off x="658283" y="1713734"/>
            <a:ext cx="10794358" cy="3773157"/>
            <a:chOff x="596139" y="1527302"/>
            <a:chExt cx="10794358" cy="377315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8850ACF-7881-AD38-B28D-E7E7C8A3C5B9}"/>
                </a:ext>
              </a:extLst>
            </p:cNvPr>
            <p:cNvGrpSpPr/>
            <p:nvPr/>
          </p:nvGrpSpPr>
          <p:grpSpPr>
            <a:xfrm>
              <a:off x="596139" y="1527302"/>
              <a:ext cx="4384234" cy="3773157"/>
              <a:chOff x="596139" y="1391081"/>
              <a:chExt cx="4384234" cy="3773157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7F9EB53-2F4A-62E6-3F89-C163B713E179}"/>
                  </a:ext>
                </a:extLst>
              </p:cNvPr>
              <p:cNvSpPr/>
              <p:nvPr/>
            </p:nvSpPr>
            <p:spPr>
              <a:xfrm>
                <a:off x="596139" y="1391081"/>
                <a:ext cx="4384234" cy="3773157"/>
              </a:xfrm>
              <a:prstGeom prst="rect">
                <a:avLst/>
              </a:prstGeom>
              <a:solidFill>
                <a:srgbClr val="1A42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1AD9107-9834-6FA1-A62D-87D1EF959FA2}"/>
                  </a:ext>
                </a:extLst>
              </p:cNvPr>
              <p:cNvSpPr txBox="1"/>
              <p:nvPr/>
            </p:nvSpPr>
            <p:spPr>
              <a:xfrm>
                <a:off x="773025" y="1754165"/>
                <a:ext cx="4030462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cap="all" dirty="0">
                    <a:solidFill>
                      <a:srgbClr val="F6BA05"/>
                    </a:solidFill>
                  </a:rPr>
                  <a:t>National Trade Registry</a:t>
                </a:r>
              </a:p>
              <a:p>
                <a:endParaRPr lang="en-US" sz="1200" dirty="0">
                  <a:solidFill>
                    <a:schemeClr val="bg1"/>
                  </a:solidFill>
                </a:endParaRPr>
              </a:p>
              <a:p>
                <a:r>
                  <a:rPr lang="en-US" b="1" dirty="0">
                    <a:solidFill>
                      <a:srgbClr val="F6BA05"/>
                    </a:solidFill>
                  </a:rPr>
                  <a:t>32,000+</a:t>
                </a:r>
              </a:p>
              <a:p>
                <a:r>
                  <a:rPr lang="en-US" sz="1200" cap="all" dirty="0">
                    <a:solidFill>
                      <a:schemeClr val="bg1"/>
                    </a:solidFill>
                  </a:rPr>
                  <a:t>Verified women entrepreneurs registered nationwide</a:t>
                </a:r>
              </a:p>
              <a:p>
                <a:endParaRPr lang="en-US" sz="1200" dirty="0">
                  <a:solidFill>
                    <a:schemeClr val="bg1"/>
                  </a:solidFill>
                </a:endParaRPr>
              </a:p>
              <a:p>
                <a:r>
                  <a:rPr lang="en-US" b="1" dirty="0">
                    <a:solidFill>
                      <a:srgbClr val="F6BA05"/>
                    </a:solidFill>
                  </a:rPr>
                  <a:t>64</a:t>
                </a:r>
              </a:p>
              <a:p>
                <a:r>
                  <a:rPr lang="en-US" sz="1200" cap="all" dirty="0">
                    <a:solidFill>
                      <a:schemeClr val="bg1"/>
                    </a:solidFill>
                  </a:rPr>
                  <a:t>Districts covered across Bangladesh</a:t>
                </a:r>
              </a:p>
              <a:p>
                <a:endParaRPr lang="en-US" sz="1200" dirty="0">
                  <a:solidFill>
                    <a:schemeClr val="bg1"/>
                  </a:solidFill>
                </a:endParaRPr>
              </a:p>
              <a:p>
                <a:r>
                  <a:rPr lang="en-US" b="1" dirty="0">
                    <a:solidFill>
                      <a:srgbClr val="F6BA05"/>
                    </a:solidFill>
                  </a:rPr>
                  <a:t>BTP 3.0</a:t>
                </a:r>
              </a:p>
              <a:p>
                <a:r>
                  <a:rPr lang="en-US" sz="1200" cap="all" dirty="0">
                    <a:solidFill>
                      <a:schemeClr val="bg1"/>
                    </a:solidFill>
                  </a:rPr>
                  <a:t>Shared server environment with the Bangladesh Trade Portal — WENP's technological evolution aligns directly to BTP Version 3.0 standards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641B24F-7874-86DB-C6FC-E1617376DB83}"/>
                </a:ext>
              </a:extLst>
            </p:cNvPr>
            <p:cNvGrpSpPr/>
            <p:nvPr/>
          </p:nvGrpSpPr>
          <p:grpSpPr>
            <a:xfrm>
              <a:off x="5467463" y="1639657"/>
              <a:ext cx="5923034" cy="3548446"/>
              <a:chOff x="5467463" y="1888234"/>
              <a:chExt cx="5923034" cy="354844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67185AF-5FF6-ADAA-D2E3-2E7478CC49E9}"/>
                  </a:ext>
                </a:extLst>
              </p:cNvPr>
              <p:cNvGrpSpPr/>
              <p:nvPr/>
            </p:nvGrpSpPr>
            <p:grpSpPr>
              <a:xfrm>
                <a:off x="5467463" y="1888234"/>
                <a:ext cx="5923034" cy="677108"/>
                <a:chOff x="6016100" y="1473693"/>
                <a:chExt cx="5923034" cy="677108"/>
              </a:xfrm>
            </p:grpSpPr>
            <p:sp>
              <p:nvSpPr>
                <p:cNvPr id="20" name="Rounded Rectangle 19">
                  <a:extLst>
                    <a:ext uri="{FF2B5EF4-FFF2-40B4-BE49-F238E27FC236}">
                      <a16:creationId xmlns:a16="http://schemas.microsoft.com/office/drawing/2014/main" id="{0B55AFF7-DCB6-7AD6-9D1D-0DD4B6FC8550}"/>
                    </a:ext>
                  </a:extLst>
                </p:cNvPr>
                <p:cNvSpPr/>
                <p:nvPr/>
              </p:nvSpPr>
              <p:spPr>
                <a:xfrm>
                  <a:off x="6016100" y="1473693"/>
                  <a:ext cx="45719" cy="677108"/>
                </a:xfrm>
                <a:prstGeom prst="roundRect">
                  <a:avLst/>
                </a:prstGeom>
                <a:solidFill>
                  <a:srgbClr val="D081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BD30730-A4CB-883B-5B7E-7F16193035AF}"/>
                    </a:ext>
                  </a:extLst>
                </p:cNvPr>
                <p:cNvSpPr txBox="1"/>
                <p:nvPr/>
              </p:nvSpPr>
              <p:spPr>
                <a:xfrm>
                  <a:off x="6095999" y="1473693"/>
                  <a:ext cx="5843135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/>
                    <a:t>National Trade Registry</a:t>
                  </a:r>
                </a:p>
                <a:p>
                  <a:r>
                    <a:rPr lang="en-US" sz="1200" dirty="0"/>
                    <a:t>An essential digital platform developed under the Ministry of Commerce to support female economic participation across Bangladesh.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FEBDB100-84ED-E573-0459-C8A1436471EF}"/>
                  </a:ext>
                </a:extLst>
              </p:cNvPr>
              <p:cNvGrpSpPr/>
              <p:nvPr/>
            </p:nvGrpSpPr>
            <p:grpSpPr>
              <a:xfrm>
                <a:off x="5467463" y="2845347"/>
                <a:ext cx="5923034" cy="677108"/>
                <a:chOff x="6016100" y="1473693"/>
                <a:chExt cx="5923034" cy="677108"/>
              </a:xfrm>
            </p:grpSpPr>
            <p:sp>
              <p:nvSpPr>
                <p:cNvPr id="24" name="Rounded Rectangle 23">
                  <a:extLst>
                    <a:ext uri="{FF2B5EF4-FFF2-40B4-BE49-F238E27FC236}">
                      <a16:creationId xmlns:a16="http://schemas.microsoft.com/office/drawing/2014/main" id="{4FD2C5C9-4808-FD1D-D27E-092A5E298678}"/>
                    </a:ext>
                  </a:extLst>
                </p:cNvPr>
                <p:cNvSpPr/>
                <p:nvPr/>
              </p:nvSpPr>
              <p:spPr>
                <a:xfrm>
                  <a:off x="6016100" y="1473693"/>
                  <a:ext cx="45719" cy="677108"/>
                </a:xfrm>
                <a:prstGeom prst="roundRect">
                  <a:avLst/>
                </a:prstGeom>
                <a:solidFill>
                  <a:srgbClr val="D081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BB9533B-0524-CD91-68BD-354774B1DCBA}"/>
                    </a:ext>
                  </a:extLst>
                </p:cNvPr>
                <p:cNvSpPr txBox="1"/>
                <p:nvPr/>
              </p:nvSpPr>
              <p:spPr>
                <a:xfrm>
                  <a:off x="6095999" y="1473693"/>
                  <a:ext cx="5843135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/>
                    <a:t>Active User Base</a:t>
                  </a:r>
                </a:p>
                <a:p>
                  <a:r>
                    <a:rPr lang="en-US" sz="1200" dirty="0"/>
                    <a:t>Successfully established a digital network connecting over </a:t>
                  </a:r>
                  <a:r>
                    <a:rPr lang="en-US" sz="1200" b="1" dirty="0"/>
                    <a:t>32,000 verified women entrepreneurs</a:t>
                  </a:r>
                  <a:r>
                    <a:rPr lang="en-US" sz="1200" dirty="0"/>
                    <a:t> nationwide across all 64 districts.</a:t>
                  </a: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A71F33E0-1C84-D260-12F4-842DC056ECF2}"/>
                  </a:ext>
                </a:extLst>
              </p:cNvPr>
              <p:cNvGrpSpPr/>
              <p:nvPr/>
            </p:nvGrpSpPr>
            <p:grpSpPr>
              <a:xfrm>
                <a:off x="5467463" y="4759572"/>
                <a:ext cx="5923034" cy="677108"/>
                <a:chOff x="6016100" y="1473693"/>
                <a:chExt cx="5923034" cy="677108"/>
              </a:xfrm>
            </p:grpSpPr>
            <p:sp>
              <p:nvSpPr>
                <p:cNvPr id="27" name="Rounded Rectangle 26">
                  <a:extLst>
                    <a:ext uri="{FF2B5EF4-FFF2-40B4-BE49-F238E27FC236}">
                      <a16:creationId xmlns:a16="http://schemas.microsoft.com/office/drawing/2014/main" id="{50734D44-1813-9087-622F-EC0C253A38A1}"/>
                    </a:ext>
                  </a:extLst>
                </p:cNvPr>
                <p:cNvSpPr/>
                <p:nvPr/>
              </p:nvSpPr>
              <p:spPr>
                <a:xfrm>
                  <a:off x="6016100" y="1473693"/>
                  <a:ext cx="45719" cy="677108"/>
                </a:xfrm>
                <a:prstGeom prst="roundRect">
                  <a:avLst/>
                </a:prstGeom>
                <a:solidFill>
                  <a:srgbClr val="D081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7E9CF58-0952-818F-E42A-1AD9D4B63343}"/>
                    </a:ext>
                  </a:extLst>
                </p:cNvPr>
                <p:cNvSpPr txBox="1"/>
                <p:nvPr/>
              </p:nvSpPr>
              <p:spPr>
                <a:xfrm>
                  <a:off x="6095999" y="1473693"/>
                  <a:ext cx="5843135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/>
                    <a:t>Strategic Evolution</a:t>
                  </a:r>
                </a:p>
                <a:p>
                  <a:r>
                    <a:rPr lang="en-US" sz="1200" dirty="0"/>
                    <a:t>Transitioning from a static networking directory into an </a:t>
                  </a:r>
                  <a:r>
                    <a:rPr lang="en-US" sz="1200" b="1" dirty="0"/>
                    <a:t>interactive, transactional and compliant trade facilitation ecosystem</a:t>
                  </a:r>
                  <a:r>
                    <a:rPr lang="en-US" sz="1200" dirty="0"/>
                    <a:t>.</a:t>
                  </a: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21F764A-3E62-B43C-5CBF-31DA8AEF94A9}"/>
                  </a:ext>
                </a:extLst>
              </p:cNvPr>
              <p:cNvGrpSpPr/>
              <p:nvPr/>
            </p:nvGrpSpPr>
            <p:grpSpPr>
              <a:xfrm>
                <a:off x="5467463" y="3802460"/>
                <a:ext cx="5923034" cy="677108"/>
                <a:chOff x="6016100" y="1473693"/>
                <a:chExt cx="5923034" cy="677108"/>
              </a:xfrm>
            </p:grpSpPr>
            <p:sp>
              <p:nvSpPr>
                <p:cNvPr id="30" name="Rounded Rectangle 29">
                  <a:extLst>
                    <a:ext uri="{FF2B5EF4-FFF2-40B4-BE49-F238E27FC236}">
                      <a16:creationId xmlns:a16="http://schemas.microsoft.com/office/drawing/2014/main" id="{C125EF03-B1F8-8A44-AD97-797080221D51}"/>
                    </a:ext>
                  </a:extLst>
                </p:cNvPr>
                <p:cNvSpPr/>
                <p:nvPr/>
              </p:nvSpPr>
              <p:spPr>
                <a:xfrm>
                  <a:off x="6016100" y="1473693"/>
                  <a:ext cx="45719" cy="677108"/>
                </a:xfrm>
                <a:prstGeom prst="roundRect">
                  <a:avLst/>
                </a:prstGeom>
                <a:solidFill>
                  <a:srgbClr val="D081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23522BA-190A-6DDB-B673-9644927499DA}"/>
                    </a:ext>
                  </a:extLst>
                </p:cNvPr>
                <p:cNvSpPr txBox="1"/>
                <p:nvPr/>
              </p:nvSpPr>
              <p:spPr>
                <a:xfrm>
                  <a:off x="6095999" y="1473693"/>
                  <a:ext cx="5843135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/>
                    <a:t>Shared Infrastructure</a:t>
                  </a:r>
                </a:p>
                <a:p>
                  <a:r>
                    <a:rPr lang="en-US" sz="1200" dirty="0"/>
                    <a:t>Hosted on the same server environment as the </a:t>
                  </a:r>
                  <a:r>
                    <a:rPr lang="en-US" sz="1200" b="1" dirty="0"/>
                    <a:t>Bangladesh Trade Portal (BTP)</a:t>
                  </a:r>
                  <a:r>
                    <a:rPr lang="en-US" sz="1200" dirty="0"/>
                    <a:t>; its technological evolution directly aligns with BTP Version 3.0 standards.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39634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0B1C6-9CA6-0DF4-8E7D-B87426769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2D2698-21EC-0438-F3D2-47FFBF1407BB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19B91-D18E-F828-724D-DB8B7FAB4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3B983D-12A9-2179-016F-EA716C70DD19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07F63-1FF0-85AB-B1B9-DE3E1712E52A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24F95D-76F9-087B-2A90-565E14C66BB9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5EC3B0-3E67-B96A-AF35-F5DF1EBF4B96}"/>
              </a:ext>
            </a:extLst>
          </p:cNvPr>
          <p:cNvSpPr txBox="1"/>
          <p:nvPr/>
        </p:nvSpPr>
        <p:spPr>
          <a:xfrm>
            <a:off x="535352" y="705411"/>
            <a:ext cx="9137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Existing WENP Features at a Glance</a:t>
            </a:r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6CE08EB6-D2CB-4C0C-3002-5AA1DBCB7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8608F4E-081E-2B5A-BC8A-A619494DFC8E}"/>
              </a:ext>
            </a:extLst>
          </p:cNvPr>
          <p:cNvGrpSpPr/>
          <p:nvPr/>
        </p:nvGrpSpPr>
        <p:grpSpPr>
          <a:xfrm>
            <a:off x="658280" y="1599487"/>
            <a:ext cx="10732217" cy="3981308"/>
            <a:chOff x="658280" y="1332787"/>
            <a:chExt cx="10732217" cy="3981308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7D52357-A4B5-8A8C-42EC-103D5D82B937}"/>
                </a:ext>
              </a:extLst>
            </p:cNvPr>
            <p:cNvGrpSpPr/>
            <p:nvPr/>
          </p:nvGrpSpPr>
          <p:grpSpPr>
            <a:xfrm>
              <a:off x="658280" y="1332787"/>
              <a:ext cx="10732217" cy="1239632"/>
              <a:chOff x="658280" y="1332787"/>
              <a:chExt cx="10732217" cy="1239632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596F724F-D443-FDD9-7004-85D2728B9347}"/>
                  </a:ext>
                </a:extLst>
              </p:cNvPr>
              <p:cNvGrpSpPr/>
              <p:nvPr/>
            </p:nvGrpSpPr>
            <p:grpSpPr>
              <a:xfrm>
                <a:off x="658280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2BF9C5D3-20A7-38D6-A600-2F5925B67C9E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0F0D08B6-6FD6-5794-644F-9B605BCCE99A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  <a:effectLst>
                    <a:outerShdw blurRad="152400" dist="317500" dir="5400000" sx="90000" sy="-19000" rotWithShape="0">
                      <a:prstClr val="black">
                        <a:alpha val="15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1815F6F3-5D92-1D48-3011-05F5F00AF490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2273281-165E-FB16-7D65-581572FCE12F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11387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01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Directory Search &amp; Discovery</a:t>
                  </a:r>
                </a:p>
                <a:p>
                  <a:r>
                    <a:rPr lang="en-US" sz="1200" dirty="0"/>
                    <a:t>Enables visitors to search basic registered women entrepreneurs by </a:t>
                  </a:r>
                  <a:r>
                    <a:rPr lang="en-US" sz="1200" b="1" dirty="0"/>
                    <a:t>name, district or product category</a:t>
                  </a:r>
                  <a:r>
                    <a:rPr lang="en-US" sz="1200" dirty="0"/>
                    <a:t>.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4B29C316-4C7F-6E01-8DAA-CE1DA90F6E92}"/>
                  </a:ext>
                </a:extLst>
              </p:cNvPr>
              <p:cNvGrpSpPr/>
              <p:nvPr/>
            </p:nvGrpSpPr>
            <p:grpSpPr>
              <a:xfrm>
                <a:off x="4275718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19A41D4F-10A6-F0B5-D256-AA4CE4BDF7F3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A1189375-B8B5-96F6-DC83-98C277ED6868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082705B5-9CD6-86C7-B004-B8A49D71C65F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3236E73-35CF-25A2-B48A-7958523928D8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11387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02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Member Registration</a:t>
                  </a:r>
                </a:p>
                <a:p>
                  <a:r>
                    <a:rPr lang="en-US" sz="1200" dirty="0"/>
                    <a:t>Online registration form allowing women entrepreneurs to submit their </a:t>
                  </a:r>
                  <a:r>
                    <a:rPr lang="en-US" sz="1200" b="1" dirty="0"/>
                    <a:t>personal and business details</a:t>
                  </a:r>
                  <a:r>
                    <a:rPr lang="en-US" sz="1200" dirty="0"/>
                    <a:t>.</a:t>
                  </a:r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5FC01C4D-F2C7-A3CC-83A8-75533E696C79}"/>
                  </a:ext>
                </a:extLst>
              </p:cNvPr>
              <p:cNvGrpSpPr/>
              <p:nvPr/>
            </p:nvGrpSpPr>
            <p:grpSpPr>
              <a:xfrm>
                <a:off x="7893156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B03F2D7D-C3BF-6598-10A1-BB22209595EC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51308049-F168-2DD0-CFF1-0446293396EA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45BB012D-9107-9112-9C2A-D11FD52DAE99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B4A322C-3178-CF7E-1A51-C10426C4503A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11387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03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Static Profile View</a:t>
                  </a:r>
                </a:p>
                <a:p>
                  <a:r>
                    <a:rPr lang="en-US" sz="1200" dirty="0"/>
                    <a:t>Basic profile display showing contact information, category of business and </a:t>
                  </a:r>
                  <a:r>
                    <a:rPr lang="en-US" sz="1200" b="1" dirty="0"/>
                    <a:t>uploaded static photographs</a:t>
                  </a:r>
                  <a:r>
                    <a:rPr lang="en-US" sz="1200" dirty="0"/>
                    <a:t>.</a:t>
                  </a:r>
                </a:p>
              </p:txBody>
            </p:sp>
          </p:grp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FF38B24-FFC7-E15C-1405-DB2D8408E8D8}"/>
                </a:ext>
              </a:extLst>
            </p:cNvPr>
            <p:cNvGrpSpPr/>
            <p:nvPr/>
          </p:nvGrpSpPr>
          <p:grpSpPr>
            <a:xfrm>
              <a:off x="658280" y="2703625"/>
              <a:ext cx="10732217" cy="1239632"/>
              <a:chOff x="658280" y="1332787"/>
              <a:chExt cx="10732217" cy="1239632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AC6B4BC-0EAC-2EFD-66B8-A16390A59E41}"/>
                  </a:ext>
                </a:extLst>
              </p:cNvPr>
              <p:cNvGrpSpPr/>
              <p:nvPr/>
            </p:nvGrpSpPr>
            <p:grpSpPr>
              <a:xfrm>
                <a:off x="658280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D0D319C8-76B9-25C6-927D-2A6B37BBBCF4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85" name="Rectangle 84">
                    <a:extLst>
                      <a:ext uri="{FF2B5EF4-FFF2-40B4-BE49-F238E27FC236}">
                        <a16:creationId xmlns:a16="http://schemas.microsoft.com/office/drawing/2014/main" id="{1A6AE4E0-A911-E14A-B8C1-044B1F46122E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6" name="Rectangle 85">
                    <a:extLst>
                      <a:ext uri="{FF2B5EF4-FFF2-40B4-BE49-F238E27FC236}">
                        <a16:creationId xmlns:a16="http://schemas.microsoft.com/office/drawing/2014/main" id="{0DD350CB-B6F2-3250-A2B0-F773A293623B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F8350814-FD80-340C-0DBF-7E95D970D979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04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Web-Only Access</a:t>
                  </a:r>
                </a:p>
                <a:p>
                  <a:r>
                    <a:rPr lang="en-US" sz="1200" b="1" dirty="0"/>
                    <a:t>Desktop-oriented</a:t>
                  </a:r>
                  <a:r>
                    <a:rPr lang="en-US" sz="1200" dirty="0"/>
                    <a:t> web browsing interface accessible via standard web browsers only.</a:t>
                  </a:r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F0CFD617-0756-0A7F-FF66-5F7EF120F748}"/>
                  </a:ext>
                </a:extLst>
              </p:cNvPr>
              <p:cNvGrpSpPr/>
              <p:nvPr/>
            </p:nvGrpSpPr>
            <p:grpSpPr>
              <a:xfrm>
                <a:off x="4275718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6D0B265E-BBFE-2AF2-F624-790E47FBCC5A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9C58477C-BDF8-11F2-5239-2B4660FE2139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D76012DD-3BC9-94D3-F7FC-AAA5A6ECE828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1EE4E368-C1B9-C0F1-2F42-5F89EAB17774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05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Basic Information Resources</a:t>
                  </a:r>
                </a:p>
                <a:p>
                  <a:r>
                    <a:rPr lang="en-US" sz="1200" dirty="0"/>
                    <a:t>Static informational pages detailing </a:t>
                  </a:r>
                  <a:r>
                    <a:rPr lang="en-US" sz="1200" b="1" dirty="0"/>
                    <a:t>government notices</a:t>
                  </a:r>
                  <a:r>
                    <a:rPr lang="en-US" sz="1200" dirty="0"/>
                    <a:t> and basic trade support materials.</a:t>
                  </a:r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DC9325EE-7430-CC69-B338-518F98A172A8}"/>
                  </a:ext>
                </a:extLst>
              </p:cNvPr>
              <p:cNvGrpSpPr/>
              <p:nvPr/>
            </p:nvGrpSpPr>
            <p:grpSpPr>
              <a:xfrm>
                <a:off x="7893156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6D547DFD-5FB8-3211-E610-156A51DA7AF0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86A79469-C1B6-2F64-5491-4886E95CF97D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2DD71E79-24A8-F5C1-BF3B-3D4A667BA15B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8ED5B75-DD03-6F35-F6D8-B517C876A89E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11387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06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Manual Profile Moderation</a:t>
                  </a:r>
                </a:p>
                <a:p>
                  <a:r>
                    <a:rPr lang="en-US" sz="1200" dirty="0"/>
                    <a:t>Back-office administrative interface where submitted entrepreneur profiles are </a:t>
                  </a:r>
                  <a:r>
                    <a:rPr lang="en-US" sz="1200" b="1" dirty="0"/>
                    <a:t>manually reviewed</a:t>
                  </a:r>
                  <a:r>
                    <a:rPr lang="en-US" sz="1200" dirty="0"/>
                    <a:t> before publishing.</a:t>
                  </a:r>
                </a:p>
              </p:txBody>
            </p:sp>
          </p:grp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7702B282-9DF9-AE44-BD87-E7B10C7C9680}"/>
                </a:ext>
              </a:extLst>
            </p:cNvPr>
            <p:cNvGrpSpPr/>
            <p:nvPr/>
          </p:nvGrpSpPr>
          <p:grpSpPr>
            <a:xfrm>
              <a:off x="658280" y="4074463"/>
              <a:ext cx="7114779" cy="1239632"/>
              <a:chOff x="658280" y="1332787"/>
              <a:chExt cx="7114779" cy="1239632"/>
            </a:xfrm>
          </p:grpSpPr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B12EA21A-EB83-57B7-3A13-F96E6F778DD2}"/>
                  </a:ext>
                </a:extLst>
              </p:cNvPr>
              <p:cNvGrpSpPr/>
              <p:nvPr/>
            </p:nvGrpSpPr>
            <p:grpSpPr>
              <a:xfrm>
                <a:off x="658280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425DAE32-56F7-278B-2095-EAA094BA18A1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101" name="Rectangle 100">
                    <a:extLst>
                      <a:ext uri="{FF2B5EF4-FFF2-40B4-BE49-F238E27FC236}">
                        <a16:creationId xmlns:a16="http://schemas.microsoft.com/office/drawing/2014/main" id="{2FEAD014-BD75-0524-1A08-4AC2F802FDE8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2" name="Rectangle 101">
                    <a:extLst>
                      <a:ext uri="{FF2B5EF4-FFF2-40B4-BE49-F238E27FC236}">
                        <a16:creationId xmlns:a16="http://schemas.microsoft.com/office/drawing/2014/main" id="{78FFDB6B-81F8-C9DC-E00A-40C95F20FE94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23ED6F31-ACA9-5CF7-5D28-4AD34EA8F373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11387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07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Basic Contact Messaging</a:t>
                  </a:r>
                </a:p>
                <a:p>
                  <a:r>
                    <a:rPr lang="en-US" sz="1200" dirty="0"/>
                    <a:t>Standard contact form allowing users to submit </a:t>
                  </a:r>
                  <a:r>
                    <a:rPr lang="en-US" sz="1200" b="1" dirty="0"/>
                    <a:t>unstructured messages</a:t>
                  </a:r>
                  <a:r>
                    <a:rPr lang="en-US" sz="1200" dirty="0"/>
                    <a:t> or queries to platform administrators.</a:t>
                  </a:r>
                </a:p>
              </p:txBody>
            </p: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AAB97C06-1535-3CDF-44AA-C865E3D05559}"/>
                  </a:ext>
                </a:extLst>
              </p:cNvPr>
              <p:cNvGrpSpPr/>
              <p:nvPr/>
            </p:nvGrpSpPr>
            <p:grpSpPr>
              <a:xfrm>
                <a:off x="4275718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95" name="Group 94">
                  <a:extLst>
                    <a:ext uri="{FF2B5EF4-FFF2-40B4-BE49-F238E27FC236}">
                      <a16:creationId xmlns:a16="http://schemas.microsoft.com/office/drawing/2014/main" id="{B7CC2C72-794A-1167-979D-B13987F3D833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97" name="Rectangle 96">
                    <a:extLst>
                      <a:ext uri="{FF2B5EF4-FFF2-40B4-BE49-F238E27FC236}">
                        <a16:creationId xmlns:a16="http://schemas.microsoft.com/office/drawing/2014/main" id="{E85643B9-2247-0D9D-D848-FF30F1F33967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8" name="Rectangle 97">
                    <a:extLst>
                      <a:ext uri="{FF2B5EF4-FFF2-40B4-BE49-F238E27FC236}">
                        <a16:creationId xmlns:a16="http://schemas.microsoft.com/office/drawing/2014/main" id="{D9E30961-4EBF-9945-6C5D-3B4DC2219DE0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D34F0211-2024-191B-E0DA-A28AC364A92A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11387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08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Single Language Interface</a:t>
                  </a:r>
                </a:p>
                <a:p>
                  <a:r>
                    <a:rPr lang="en-US" sz="1200" dirty="0"/>
                    <a:t>Predominantly </a:t>
                  </a:r>
                  <a:r>
                    <a:rPr lang="en-US" sz="1200" b="1" dirty="0"/>
                    <a:t>English-oriented</a:t>
                  </a:r>
                  <a:r>
                    <a:rPr lang="en-US" sz="1200" dirty="0"/>
                    <a:t> user interface, presenting significant barriers for rural and micro entrepreneurs.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79970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E9DA9-8105-C096-A2FA-313F9E1B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5C0051-9E67-F1F7-41A4-718B29EFA01D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9025F-C3B6-A88C-672C-A99B6D5AB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57B855-DCAA-8371-B11B-C7D87C8E53BB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535C9-01F0-380C-86F6-84E502212DEF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8AC355-34B2-7179-BE04-A1056C3076FC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8B3BEB-E545-23DF-E7E4-E23B9BCABFAD}"/>
              </a:ext>
            </a:extLst>
          </p:cNvPr>
          <p:cNvSpPr txBox="1"/>
          <p:nvPr/>
        </p:nvSpPr>
        <p:spPr>
          <a:xfrm>
            <a:off x="535352" y="705411"/>
            <a:ext cx="9137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Diagnostic Gap Analysis</a:t>
            </a:r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6375B4DD-F93D-E843-205E-A102221BE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DF0A5DE7-436E-0C34-42C6-746B0E345B61}"/>
              </a:ext>
            </a:extLst>
          </p:cNvPr>
          <p:cNvGrpSpPr/>
          <p:nvPr/>
        </p:nvGrpSpPr>
        <p:grpSpPr>
          <a:xfrm>
            <a:off x="638011" y="2136237"/>
            <a:ext cx="5159028" cy="3221842"/>
            <a:chOff x="691277" y="1786634"/>
            <a:chExt cx="5159028" cy="322184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905619E-9DFE-118C-479A-A837113B725A}"/>
                </a:ext>
              </a:extLst>
            </p:cNvPr>
            <p:cNvGrpSpPr/>
            <p:nvPr/>
          </p:nvGrpSpPr>
          <p:grpSpPr>
            <a:xfrm>
              <a:off x="691277" y="1786634"/>
              <a:ext cx="5159028" cy="677108"/>
              <a:chOff x="5529607" y="1826089"/>
              <a:chExt cx="5159028" cy="677108"/>
            </a:xfrm>
          </p:grpSpPr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E9685CCF-A77F-E480-2F05-785BC4088E75}"/>
                  </a:ext>
                </a:extLst>
              </p:cNvPr>
              <p:cNvSpPr/>
              <p:nvPr/>
            </p:nvSpPr>
            <p:spPr>
              <a:xfrm>
                <a:off x="5529607" y="1826089"/>
                <a:ext cx="45719" cy="677108"/>
              </a:xfrm>
              <a:prstGeom prst="roundRect">
                <a:avLst/>
              </a:prstGeom>
              <a:solidFill>
                <a:srgbClr val="D081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0B2FF82-49A3-A7F2-0282-F8458F5958DA}"/>
                  </a:ext>
                </a:extLst>
              </p:cNvPr>
              <p:cNvSpPr txBox="1"/>
              <p:nvPr/>
            </p:nvSpPr>
            <p:spPr>
              <a:xfrm>
                <a:off x="5609506" y="1826089"/>
                <a:ext cx="5079129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Complex &amp; Non-Intuitive UI</a:t>
                </a:r>
              </a:p>
              <a:p>
                <a:r>
                  <a:rPr lang="en-US" sz="1200" dirty="0"/>
                  <a:t>Cluttered user journey that lacks modern micro-interactions and intuitive mobile layouts.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69A817A-54A6-7E62-35C1-AA2A948C337B}"/>
                </a:ext>
              </a:extLst>
            </p:cNvPr>
            <p:cNvGrpSpPr/>
            <p:nvPr/>
          </p:nvGrpSpPr>
          <p:grpSpPr>
            <a:xfrm>
              <a:off x="691277" y="2634879"/>
              <a:ext cx="5159028" cy="677108"/>
              <a:chOff x="5529607" y="1826089"/>
              <a:chExt cx="5159028" cy="677108"/>
            </a:xfrm>
          </p:grpSpPr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580B26DA-E305-FD20-FF5D-411B9ADA13EB}"/>
                  </a:ext>
                </a:extLst>
              </p:cNvPr>
              <p:cNvSpPr/>
              <p:nvPr/>
            </p:nvSpPr>
            <p:spPr>
              <a:xfrm>
                <a:off x="5529607" y="1826089"/>
                <a:ext cx="45719" cy="677108"/>
              </a:xfrm>
              <a:prstGeom prst="roundRect">
                <a:avLst/>
              </a:prstGeom>
              <a:solidFill>
                <a:srgbClr val="D081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0A184AE-548E-F500-0F53-9C80FDC3CECE}"/>
                  </a:ext>
                </a:extLst>
              </p:cNvPr>
              <p:cNvSpPr txBox="1"/>
              <p:nvPr/>
            </p:nvSpPr>
            <p:spPr>
              <a:xfrm>
                <a:off x="5609507" y="1826089"/>
                <a:ext cx="5079128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Lack of Mobile-First Experience</a:t>
                </a:r>
              </a:p>
              <a:p>
                <a:r>
                  <a:rPr lang="en-US" sz="1200" dirty="0"/>
                  <a:t>Poor responsiveness on low-end smartphones, with no native Android or iOS application support.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07681D0-6689-6979-0990-B68E93882343}"/>
                </a:ext>
              </a:extLst>
            </p:cNvPr>
            <p:cNvGrpSpPr/>
            <p:nvPr/>
          </p:nvGrpSpPr>
          <p:grpSpPr>
            <a:xfrm>
              <a:off x="691277" y="3483124"/>
              <a:ext cx="5159028" cy="677108"/>
              <a:chOff x="5529607" y="1826089"/>
              <a:chExt cx="5159028" cy="677108"/>
            </a:xfrm>
          </p:grpSpPr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1FD08687-1B92-4B80-92A5-B39EC2923C0A}"/>
                  </a:ext>
                </a:extLst>
              </p:cNvPr>
              <p:cNvSpPr/>
              <p:nvPr/>
            </p:nvSpPr>
            <p:spPr>
              <a:xfrm>
                <a:off x="5529607" y="1826089"/>
                <a:ext cx="45719" cy="677108"/>
              </a:xfrm>
              <a:prstGeom prst="roundRect">
                <a:avLst/>
              </a:prstGeom>
              <a:solidFill>
                <a:srgbClr val="D081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9AD77E4-D758-8BF3-F9F6-5F4547910B91}"/>
                  </a:ext>
                </a:extLst>
              </p:cNvPr>
              <p:cNvSpPr txBox="1"/>
              <p:nvPr/>
            </p:nvSpPr>
            <p:spPr>
              <a:xfrm>
                <a:off x="5609507" y="1826089"/>
                <a:ext cx="5079128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Language Barrier</a:t>
                </a:r>
              </a:p>
              <a:p>
                <a:r>
                  <a:rPr lang="en-US" sz="1200" dirty="0"/>
                  <a:t>Absence of a comprehensive Bangla-first localized interface, excluding non-English speaking micro-entrepreneurs.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29D37D3-A34D-1EC5-7B96-0016F1B48EC2}"/>
                </a:ext>
              </a:extLst>
            </p:cNvPr>
            <p:cNvGrpSpPr/>
            <p:nvPr/>
          </p:nvGrpSpPr>
          <p:grpSpPr>
            <a:xfrm>
              <a:off x="691277" y="4331368"/>
              <a:ext cx="5159028" cy="677108"/>
              <a:chOff x="5529607" y="1826089"/>
              <a:chExt cx="5159028" cy="677108"/>
            </a:xfrm>
          </p:grpSpPr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8386A4AC-CC8A-6FFB-D158-A97310B62906}"/>
                  </a:ext>
                </a:extLst>
              </p:cNvPr>
              <p:cNvSpPr/>
              <p:nvPr/>
            </p:nvSpPr>
            <p:spPr>
              <a:xfrm>
                <a:off x="5529607" y="1826089"/>
                <a:ext cx="45719" cy="677108"/>
              </a:xfrm>
              <a:prstGeom prst="roundRect">
                <a:avLst/>
              </a:prstGeom>
              <a:solidFill>
                <a:srgbClr val="D081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86D8693-E8DE-54DC-A495-4786BD333E6C}"/>
                  </a:ext>
                </a:extLst>
              </p:cNvPr>
              <p:cNvSpPr txBox="1"/>
              <p:nvPr/>
            </p:nvSpPr>
            <p:spPr>
              <a:xfrm>
                <a:off x="5609506" y="1826089"/>
                <a:ext cx="5079129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Inefficient Search Architecture</a:t>
                </a:r>
              </a:p>
              <a:p>
                <a:r>
                  <a:rPr lang="en-US" sz="1200" dirty="0"/>
                  <a:t>Lack of real-time search indexing, auto-suggestions and multi-facet filtering (by pricing, rating, location).</a:t>
                </a: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8CE75AF-714F-D0A9-4EC3-2D8AE4C651FB}"/>
              </a:ext>
            </a:extLst>
          </p:cNvPr>
          <p:cNvGrpSpPr/>
          <p:nvPr/>
        </p:nvGrpSpPr>
        <p:grpSpPr>
          <a:xfrm>
            <a:off x="6394961" y="2136237"/>
            <a:ext cx="5159028" cy="2373598"/>
            <a:chOff x="691277" y="1786634"/>
            <a:chExt cx="5159028" cy="2373598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FCF22379-8827-40E6-1822-B896DE17448C}"/>
                </a:ext>
              </a:extLst>
            </p:cNvPr>
            <p:cNvGrpSpPr/>
            <p:nvPr/>
          </p:nvGrpSpPr>
          <p:grpSpPr>
            <a:xfrm>
              <a:off x="691277" y="1786634"/>
              <a:ext cx="5159028" cy="677108"/>
              <a:chOff x="5529607" y="1826089"/>
              <a:chExt cx="5159028" cy="677108"/>
            </a:xfrm>
          </p:grpSpPr>
          <p:sp>
            <p:nvSpPr>
              <p:cNvPr id="74" name="Rounded Rectangle 73">
                <a:extLst>
                  <a:ext uri="{FF2B5EF4-FFF2-40B4-BE49-F238E27FC236}">
                    <a16:creationId xmlns:a16="http://schemas.microsoft.com/office/drawing/2014/main" id="{089517F2-B0AD-5442-43C8-4F5C49916C2C}"/>
                  </a:ext>
                </a:extLst>
              </p:cNvPr>
              <p:cNvSpPr/>
              <p:nvPr/>
            </p:nvSpPr>
            <p:spPr>
              <a:xfrm>
                <a:off x="5529607" y="1826089"/>
                <a:ext cx="45719" cy="677108"/>
              </a:xfrm>
              <a:prstGeom prst="roundRect">
                <a:avLst/>
              </a:prstGeom>
              <a:solidFill>
                <a:srgbClr val="D081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3C3AF9F-4D63-BE10-924B-F830983E26E9}"/>
                  </a:ext>
                </a:extLst>
              </p:cNvPr>
              <p:cNvSpPr txBox="1"/>
              <p:nvPr/>
            </p:nvSpPr>
            <p:spPr>
              <a:xfrm>
                <a:off x="5609506" y="1826089"/>
                <a:ext cx="5079129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Absence of Virtual Marketplace</a:t>
                </a:r>
              </a:p>
              <a:p>
                <a:r>
                  <a:rPr lang="en-US" sz="1200" dirty="0"/>
                  <a:t>No integrated capability to display product inventories, process customer orders or manage transactions.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F0AB6A6A-6F61-36CC-BB0F-271BA82DF21D}"/>
                </a:ext>
              </a:extLst>
            </p:cNvPr>
            <p:cNvGrpSpPr/>
            <p:nvPr/>
          </p:nvGrpSpPr>
          <p:grpSpPr>
            <a:xfrm>
              <a:off x="691277" y="2634879"/>
              <a:ext cx="5159028" cy="677108"/>
              <a:chOff x="5529607" y="1826089"/>
              <a:chExt cx="5159028" cy="677108"/>
            </a:xfrm>
          </p:grpSpPr>
          <p:sp>
            <p:nvSpPr>
              <p:cNvPr id="72" name="Rounded Rectangle 71">
                <a:extLst>
                  <a:ext uri="{FF2B5EF4-FFF2-40B4-BE49-F238E27FC236}">
                    <a16:creationId xmlns:a16="http://schemas.microsoft.com/office/drawing/2014/main" id="{5FFD9B99-C972-23E9-6253-493E3272ED2F}"/>
                  </a:ext>
                </a:extLst>
              </p:cNvPr>
              <p:cNvSpPr/>
              <p:nvPr/>
            </p:nvSpPr>
            <p:spPr>
              <a:xfrm>
                <a:off x="5529607" y="1826089"/>
                <a:ext cx="45719" cy="677108"/>
              </a:xfrm>
              <a:prstGeom prst="roundRect">
                <a:avLst/>
              </a:prstGeom>
              <a:solidFill>
                <a:srgbClr val="D081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AB653A7-D2C7-93E0-2BA0-F58A9C9D9ADF}"/>
                  </a:ext>
                </a:extLst>
              </p:cNvPr>
              <p:cNvSpPr txBox="1"/>
              <p:nvPr/>
            </p:nvSpPr>
            <p:spPr>
              <a:xfrm>
                <a:off x="5609507" y="1826089"/>
                <a:ext cx="5079128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Zero Micro-Accounting Support</a:t>
                </a:r>
              </a:p>
              <a:p>
                <a:r>
                  <a:rPr lang="en-US" sz="1200" dirty="0"/>
                  <a:t>No digital bookkeeping, expense tracking, invoice generation or Return on Investment (ROI) analytics.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257658D-171B-982B-AD9D-58E17F557EC1}"/>
                </a:ext>
              </a:extLst>
            </p:cNvPr>
            <p:cNvGrpSpPr/>
            <p:nvPr/>
          </p:nvGrpSpPr>
          <p:grpSpPr>
            <a:xfrm>
              <a:off x="691277" y="3483124"/>
              <a:ext cx="5159028" cy="677108"/>
              <a:chOff x="5529607" y="1826089"/>
              <a:chExt cx="5159028" cy="677108"/>
            </a:xfrm>
          </p:grpSpPr>
          <p:sp>
            <p:nvSpPr>
              <p:cNvPr id="70" name="Rounded Rectangle 69">
                <a:extLst>
                  <a:ext uri="{FF2B5EF4-FFF2-40B4-BE49-F238E27FC236}">
                    <a16:creationId xmlns:a16="http://schemas.microsoft.com/office/drawing/2014/main" id="{CE17FDC8-4C61-A1C5-AC46-FED02845D3BF}"/>
                  </a:ext>
                </a:extLst>
              </p:cNvPr>
              <p:cNvSpPr/>
              <p:nvPr/>
            </p:nvSpPr>
            <p:spPr>
              <a:xfrm>
                <a:off x="5529607" y="1826089"/>
                <a:ext cx="45719" cy="677108"/>
              </a:xfrm>
              <a:prstGeom prst="roundRect">
                <a:avLst/>
              </a:prstGeom>
              <a:solidFill>
                <a:srgbClr val="D081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4620C4C-9778-973F-C28C-C8CCE68BC205}"/>
                  </a:ext>
                </a:extLst>
              </p:cNvPr>
              <p:cNvSpPr txBox="1"/>
              <p:nvPr/>
            </p:nvSpPr>
            <p:spPr>
              <a:xfrm>
                <a:off x="5609507" y="1826089"/>
                <a:ext cx="5079128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Lack of External Integrations</a:t>
                </a:r>
              </a:p>
              <a:p>
                <a:r>
                  <a:rPr lang="en-US" sz="1200" dirty="0"/>
                  <a:t>Completely decoupled from national identity verification (DBID / NID), automated SMS gateways and secure MFS / payment switches.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9280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6BE94-5408-ACA6-73E3-EEA0814A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ECB96A-D568-FEF0-DADC-3BB2014F2F3C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021E1-91FF-BFDA-F172-9DF82BB56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46E79F-D55D-8C94-4362-3BB1BF5043EF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0C5F4-21C5-014F-87B7-DCD9D1C3B9C8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2E036B-2D91-6755-D31B-2353CBDFBC9A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B1752-7B7C-E2EF-7C03-3DC58319DA79}"/>
              </a:ext>
            </a:extLst>
          </p:cNvPr>
          <p:cNvSpPr txBox="1"/>
          <p:nvPr/>
        </p:nvSpPr>
        <p:spPr>
          <a:xfrm>
            <a:off x="535352" y="705411"/>
            <a:ext cx="9137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The New WENP Platform Vision (WENP 3.0)</a:t>
            </a:r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30CC36BC-FF53-6BCF-7857-F21E01688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1C913AAC-22E5-5335-A2B4-157388061168}"/>
              </a:ext>
            </a:extLst>
          </p:cNvPr>
          <p:cNvGrpSpPr/>
          <p:nvPr/>
        </p:nvGrpSpPr>
        <p:grpSpPr>
          <a:xfrm>
            <a:off x="819647" y="1932940"/>
            <a:ext cx="5089663" cy="1673860"/>
            <a:chOff x="819647" y="1577340"/>
            <a:chExt cx="5089663" cy="167386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40D48D5-3A1B-67E4-9C49-9B53F441E916}"/>
                </a:ext>
              </a:extLst>
            </p:cNvPr>
            <p:cNvGrpSpPr/>
            <p:nvPr/>
          </p:nvGrpSpPr>
          <p:grpSpPr>
            <a:xfrm>
              <a:off x="819647" y="1577340"/>
              <a:ext cx="5089663" cy="1673860"/>
              <a:chOff x="819647" y="1577340"/>
              <a:chExt cx="5089663" cy="167386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F70D791-E30D-5A50-6233-43519B8A7A80}"/>
                  </a:ext>
                </a:extLst>
              </p:cNvPr>
              <p:cNvSpPr/>
              <p:nvPr/>
            </p:nvSpPr>
            <p:spPr>
              <a:xfrm>
                <a:off x="819647" y="1577340"/>
                <a:ext cx="5089663" cy="1673860"/>
              </a:xfrm>
              <a:prstGeom prst="rect">
                <a:avLst/>
              </a:prstGeom>
              <a:solidFill>
                <a:srgbClr val="F5EF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5091BD8-D41B-9CB3-B68C-1644D02FE4B6}"/>
                  </a:ext>
                </a:extLst>
              </p:cNvPr>
              <p:cNvSpPr/>
              <p:nvPr/>
            </p:nvSpPr>
            <p:spPr>
              <a:xfrm>
                <a:off x="819647" y="1577590"/>
                <a:ext cx="5089663" cy="8796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99AE88D-61E1-AA13-47AA-157C823369DB}"/>
                </a:ext>
              </a:extLst>
            </p:cNvPr>
            <p:cNvSpPr txBox="1"/>
            <p:nvPr/>
          </p:nvSpPr>
          <p:spPr>
            <a:xfrm>
              <a:off x="977765" y="1791266"/>
              <a:ext cx="481927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B1451E"/>
                  </a:solidFill>
                </a:rPr>
                <a:t>01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b="1" dirty="0">
                  <a:solidFill>
                    <a:srgbClr val="1A4230"/>
                  </a:solidFill>
                </a:rPr>
                <a:t>Comprehensive Trade &amp; Commerce Hub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sz="1400" dirty="0"/>
                <a:t>Transforming WENP into a </a:t>
              </a:r>
              <a:r>
                <a:rPr lang="en-US" sz="1400" b="1" dirty="0"/>
                <a:t>transactional marketplace</a:t>
              </a:r>
              <a:r>
                <a:rPr lang="en-US" sz="1400" dirty="0"/>
                <a:t> and commercial enablement engine</a:t>
              </a:r>
              <a:r>
                <a:rPr lang="en-US" sz="1400" dirty="0">
                  <a:solidFill>
                    <a:schemeClr val="bg1"/>
                  </a:solidFill>
                </a:rPr>
                <a:t>.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8E826F7-6AD8-77D9-B4F1-2651FCEE992D}"/>
              </a:ext>
            </a:extLst>
          </p:cNvPr>
          <p:cNvGrpSpPr/>
          <p:nvPr/>
        </p:nvGrpSpPr>
        <p:grpSpPr>
          <a:xfrm>
            <a:off x="6079355" y="1932940"/>
            <a:ext cx="5089663" cy="1673860"/>
            <a:chOff x="6079355" y="1577340"/>
            <a:chExt cx="5089663" cy="167386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A9FA36C-50A6-400D-AD35-A95060E0CBC1}"/>
                </a:ext>
              </a:extLst>
            </p:cNvPr>
            <p:cNvGrpSpPr/>
            <p:nvPr/>
          </p:nvGrpSpPr>
          <p:grpSpPr>
            <a:xfrm>
              <a:off x="6079355" y="1577340"/>
              <a:ext cx="5089663" cy="1673860"/>
              <a:chOff x="819647" y="1577340"/>
              <a:chExt cx="5089663" cy="167386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BE91799-23F6-05BF-0310-27927E12A7D8}"/>
                  </a:ext>
                </a:extLst>
              </p:cNvPr>
              <p:cNvSpPr/>
              <p:nvPr/>
            </p:nvSpPr>
            <p:spPr>
              <a:xfrm>
                <a:off x="819647" y="1577340"/>
                <a:ext cx="5089663" cy="1673860"/>
              </a:xfrm>
              <a:prstGeom prst="rect">
                <a:avLst/>
              </a:prstGeom>
              <a:solidFill>
                <a:srgbClr val="F5EF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F0FD3FC-4473-88C2-73A8-E91ACD89B74D}"/>
                  </a:ext>
                </a:extLst>
              </p:cNvPr>
              <p:cNvSpPr/>
              <p:nvPr/>
            </p:nvSpPr>
            <p:spPr>
              <a:xfrm>
                <a:off x="819647" y="1577590"/>
                <a:ext cx="5089663" cy="8796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8E5CCF1-1CCE-BC3C-A144-68781227ABE5}"/>
                </a:ext>
              </a:extLst>
            </p:cNvPr>
            <p:cNvSpPr txBox="1"/>
            <p:nvPr/>
          </p:nvSpPr>
          <p:spPr>
            <a:xfrm>
              <a:off x="6214549" y="1732835"/>
              <a:ext cx="4819274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B1451E"/>
                  </a:solidFill>
                </a:rPr>
                <a:t>02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b="1" dirty="0">
                  <a:solidFill>
                    <a:srgbClr val="1A4230"/>
                  </a:solidFill>
                </a:rPr>
                <a:t>Bangla-First &amp; Mobile-First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sz="1400" dirty="0"/>
                <a:t>Built from the ground up to ensure low-bandwidth performance (LCP &lt; 2.5s on rural 3G) and full accessibility (WCAG 2.2 AA).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1709033-131D-98BB-F9A7-DA159701578C}"/>
              </a:ext>
            </a:extLst>
          </p:cNvPr>
          <p:cNvGrpSpPr/>
          <p:nvPr/>
        </p:nvGrpSpPr>
        <p:grpSpPr>
          <a:xfrm>
            <a:off x="819647" y="3740657"/>
            <a:ext cx="5089663" cy="1673860"/>
            <a:chOff x="6147496" y="3792710"/>
            <a:chExt cx="5089663" cy="1673860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FD404C2-DF25-63C5-7606-BF1911A7CBFA}"/>
                </a:ext>
              </a:extLst>
            </p:cNvPr>
            <p:cNvGrpSpPr/>
            <p:nvPr/>
          </p:nvGrpSpPr>
          <p:grpSpPr>
            <a:xfrm>
              <a:off x="6147496" y="3792710"/>
              <a:ext cx="5089663" cy="1673860"/>
              <a:chOff x="819647" y="1577340"/>
              <a:chExt cx="5089663" cy="167386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4F437EC-9C5C-8BC4-0DF8-9A6A097DF869}"/>
                  </a:ext>
                </a:extLst>
              </p:cNvPr>
              <p:cNvSpPr/>
              <p:nvPr/>
            </p:nvSpPr>
            <p:spPr>
              <a:xfrm>
                <a:off x="819647" y="1577340"/>
                <a:ext cx="5089663" cy="1673860"/>
              </a:xfrm>
              <a:prstGeom prst="rect">
                <a:avLst/>
              </a:prstGeom>
              <a:solidFill>
                <a:srgbClr val="F5EF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C02582F-E22B-7AB1-F6FC-D5F3261F47E1}"/>
                  </a:ext>
                </a:extLst>
              </p:cNvPr>
              <p:cNvSpPr/>
              <p:nvPr/>
            </p:nvSpPr>
            <p:spPr>
              <a:xfrm>
                <a:off x="819647" y="1577590"/>
                <a:ext cx="5089663" cy="8796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485BBE0-5BB5-C1C6-BCDB-6655C94A3FD7}"/>
                </a:ext>
              </a:extLst>
            </p:cNvPr>
            <p:cNvSpPr txBox="1"/>
            <p:nvPr/>
          </p:nvSpPr>
          <p:spPr>
            <a:xfrm>
              <a:off x="6282690" y="4033013"/>
              <a:ext cx="481927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B1451E"/>
                  </a:solidFill>
                </a:rPr>
                <a:t>03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b="1" dirty="0">
                  <a:solidFill>
                    <a:srgbClr val="1A4230"/>
                  </a:solidFill>
                </a:rPr>
                <a:t>Native Mobile Apps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sz="1400" dirty="0"/>
                <a:t>Developing high-performance cross-platform mobile apps for Android and iOS via Flutter.</a:t>
              </a:r>
              <a:r>
                <a:rPr lang="en-US" sz="1400" dirty="0">
                  <a:solidFill>
                    <a:schemeClr val="bg1"/>
                  </a:solidFill>
                </a:rPr>
                <a:t>.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1AF468F-B701-DC88-1C30-4066B7D9A846}"/>
              </a:ext>
            </a:extLst>
          </p:cNvPr>
          <p:cNvGrpSpPr/>
          <p:nvPr/>
        </p:nvGrpSpPr>
        <p:grpSpPr>
          <a:xfrm>
            <a:off x="6079354" y="3740657"/>
            <a:ext cx="5089663" cy="1673860"/>
            <a:chOff x="922638" y="3792710"/>
            <a:chExt cx="5089663" cy="167386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B102479-E439-2DFB-043A-7FE401C022D1}"/>
                </a:ext>
              </a:extLst>
            </p:cNvPr>
            <p:cNvGrpSpPr/>
            <p:nvPr/>
          </p:nvGrpSpPr>
          <p:grpSpPr>
            <a:xfrm>
              <a:off x="922638" y="3792710"/>
              <a:ext cx="5089663" cy="1673860"/>
              <a:chOff x="819647" y="1577340"/>
              <a:chExt cx="5089663" cy="167386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5FCC10A-8596-82E4-7762-8FC94BED4CA7}"/>
                  </a:ext>
                </a:extLst>
              </p:cNvPr>
              <p:cNvSpPr/>
              <p:nvPr/>
            </p:nvSpPr>
            <p:spPr>
              <a:xfrm>
                <a:off x="819647" y="1577340"/>
                <a:ext cx="5089663" cy="1673860"/>
              </a:xfrm>
              <a:prstGeom prst="rect">
                <a:avLst/>
              </a:prstGeom>
              <a:solidFill>
                <a:srgbClr val="F5EF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1B1468D-25A4-6325-9875-85A86796A715}"/>
                  </a:ext>
                </a:extLst>
              </p:cNvPr>
              <p:cNvSpPr/>
              <p:nvPr/>
            </p:nvSpPr>
            <p:spPr>
              <a:xfrm>
                <a:off x="819647" y="1577590"/>
                <a:ext cx="5089663" cy="8796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45A96A9-DA88-A3E1-9471-027C5FC80125}"/>
                </a:ext>
              </a:extLst>
            </p:cNvPr>
            <p:cNvSpPr txBox="1"/>
            <p:nvPr/>
          </p:nvSpPr>
          <p:spPr>
            <a:xfrm>
              <a:off x="1090036" y="4073584"/>
              <a:ext cx="481927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B1451E"/>
                  </a:solidFill>
                </a:rPr>
                <a:t>04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b="1" dirty="0">
                  <a:solidFill>
                    <a:srgbClr val="1A4230"/>
                  </a:solidFill>
                </a:rPr>
                <a:t>Automated Trust &amp; Verification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sz="1400" dirty="0"/>
                <a:t>Streamlined profile approval integrated with national digital verification (DBID / NID).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0128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06EEA-4465-6D0E-B09A-E2B370E5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C006C3-4DA2-7ACF-0C93-EBE928A551FC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5D527-7004-20D0-C269-82949C72D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E4BF07-3860-0D4E-BB51-9C615A3CE0A9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6ACB8F-92DB-519B-6525-5765DFEE11B9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D753AB-E17E-BB96-1D89-7F7699D87698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8BA884-AB24-F91C-013C-8995F8EAE559}"/>
              </a:ext>
            </a:extLst>
          </p:cNvPr>
          <p:cNvSpPr txBox="1"/>
          <p:nvPr/>
        </p:nvSpPr>
        <p:spPr>
          <a:xfrm>
            <a:off x="535352" y="705411"/>
            <a:ext cx="9137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Upgraded Management</a:t>
            </a:r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7729AEAC-7D85-BDD6-DC1F-ADB649CE6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B4E4F54F-E0EA-7266-E433-14320281F585}"/>
              </a:ext>
            </a:extLst>
          </p:cNvPr>
          <p:cNvGrpSpPr/>
          <p:nvPr/>
        </p:nvGrpSpPr>
        <p:grpSpPr>
          <a:xfrm>
            <a:off x="819647" y="1932940"/>
            <a:ext cx="5089663" cy="1673860"/>
            <a:chOff x="819647" y="1577340"/>
            <a:chExt cx="5089663" cy="167386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1DF9E12-9926-F3F4-39D3-A5456AA7134D}"/>
                </a:ext>
              </a:extLst>
            </p:cNvPr>
            <p:cNvGrpSpPr/>
            <p:nvPr/>
          </p:nvGrpSpPr>
          <p:grpSpPr>
            <a:xfrm>
              <a:off x="819647" y="1577340"/>
              <a:ext cx="5089663" cy="1673860"/>
              <a:chOff x="819647" y="1577340"/>
              <a:chExt cx="5089663" cy="167386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98B0D15-CCD0-B2BA-CBF1-83238D5B536C}"/>
                  </a:ext>
                </a:extLst>
              </p:cNvPr>
              <p:cNvSpPr/>
              <p:nvPr/>
            </p:nvSpPr>
            <p:spPr>
              <a:xfrm>
                <a:off x="819647" y="1577340"/>
                <a:ext cx="5089663" cy="1673860"/>
              </a:xfrm>
              <a:prstGeom prst="rect">
                <a:avLst/>
              </a:prstGeom>
              <a:solidFill>
                <a:srgbClr val="F5EF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EC92379-81E2-922C-5D66-C2C507D76CAD}"/>
                  </a:ext>
                </a:extLst>
              </p:cNvPr>
              <p:cNvSpPr/>
              <p:nvPr/>
            </p:nvSpPr>
            <p:spPr>
              <a:xfrm>
                <a:off x="819647" y="1577590"/>
                <a:ext cx="5089663" cy="8796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E2B965-FCC1-8215-81C9-FB39EEE9987C}"/>
                </a:ext>
              </a:extLst>
            </p:cNvPr>
            <p:cNvSpPr txBox="1"/>
            <p:nvPr/>
          </p:nvSpPr>
          <p:spPr>
            <a:xfrm>
              <a:off x="977765" y="1791266"/>
              <a:ext cx="4819274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B1451E"/>
                  </a:solidFill>
                </a:rPr>
                <a:t>Dashboard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b="1" dirty="0">
                  <a:solidFill>
                    <a:srgbClr val="1A4230"/>
                  </a:solidFill>
                </a:rPr>
                <a:t>Tri-Tier Role-Based Dashboards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sz="1400" dirty="0"/>
                <a:t>Tailored real-time dashboards for Administrators, Women Entrepreneurs and Customers.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51854D7-75AF-3B91-61F5-2F914F3BFA6A}"/>
              </a:ext>
            </a:extLst>
          </p:cNvPr>
          <p:cNvGrpSpPr/>
          <p:nvPr/>
        </p:nvGrpSpPr>
        <p:grpSpPr>
          <a:xfrm>
            <a:off x="6079355" y="1932940"/>
            <a:ext cx="5089663" cy="1673860"/>
            <a:chOff x="6079355" y="1577340"/>
            <a:chExt cx="5089663" cy="167386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941319A-FB0A-73F9-00F7-02F62645042A}"/>
                </a:ext>
              </a:extLst>
            </p:cNvPr>
            <p:cNvGrpSpPr/>
            <p:nvPr/>
          </p:nvGrpSpPr>
          <p:grpSpPr>
            <a:xfrm>
              <a:off x="6079355" y="1577340"/>
              <a:ext cx="5089663" cy="1673860"/>
              <a:chOff x="819647" y="1577340"/>
              <a:chExt cx="5089663" cy="167386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9EAD9052-B91A-B4DC-F6C3-12805DC5512E}"/>
                  </a:ext>
                </a:extLst>
              </p:cNvPr>
              <p:cNvSpPr/>
              <p:nvPr/>
            </p:nvSpPr>
            <p:spPr>
              <a:xfrm>
                <a:off x="819647" y="1577340"/>
                <a:ext cx="5089663" cy="1673860"/>
              </a:xfrm>
              <a:prstGeom prst="rect">
                <a:avLst/>
              </a:prstGeom>
              <a:solidFill>
                <a:srgbClr val="F5EF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193E385-FF14-1A2B-BFF0-3C51564AB3CE}"/>
                  </a:ext>
                </a:extLst>
              </p:cNvPr>
              <p:cNvSpPr/>
              <p:nvPr/>
            </p:nvSpPr>
            <p:spPr>
              <a:xfrm>
                <a:off x="819647" y="1577590"/>
                <a:ext cx="5089663" cy="8796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1404FE-3846-1A55-8544-B1C98FB2F921}"/>
                </a:ext>
              </a:extLst>
            </p:cNvPr>
            <p:cNvSpPr txBox="1"/>
            <p:nvPr/>
          </p:nvSpPr>
          <p:spPr>
            <a:xfrm>
              <a:off x="6214549" y="1732835"/>
              <a:ext cx="4819274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B1451E"/>
                  </a:solidFill>
                </a:rPr>
                <a:t>Grievance</a:t>
              </a:r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b="1" dirty="0">
                  <a:solidFill>
                    <a:srgbClr val="1A4230"/>
                  </a:solidFill>
                </a:rPr>
                <a:t>End-to-End Grievance Redressal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sz="1400" dirty="0"/>
                <a:t>Digital complaint management tracking registration, inquiry, resolution and user closure notifications.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BE30DB1-79D5-1199-B79A-6AEF58C613C0}"/>
              </a:ext>
            </a:extLst>
          </p:cNvPr>
          <p:cNvGrpSpPr/>
          <p:nvPr/>
        </p:nvGrpSpPr>
        <p:grpSpPr>
          <a:xfrm>
            <a:off x="819647" y="3740657"/>
            <a:ext cx="5089663" cy="1673860"/>
            <a:chOff x="6147496" y="3792710"/>
            <a:chExt cx="5089663" cy="1673860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FDB5DE9-8000-F5AE-5E9B-6C86E9D63DCD}"/>
                </a:ext>
              </a:extLst>
            </p:cNvPr>
            <p:cNvGrpSpPr/>
            <p:nvPr/>
          </p:nvGrpSpPr>
          <p:grpSpPr>
            <a:xfrm>
              <a:off x="6147496" y="3792710"/>
              <a:ext cx="5089663" cy="1673860"/>
              <a:chOff x="819647" y="1577340"/>
              <a:chExt cx="5089663" cy="167386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0BAACB1-A1B9-719E-521A-6D7DB458545F}"/>
                  </a:ext>
                </a:extLst>
              </p:cNvPr>
              <p:cNvSpPr/>
              <p:nvPr/>
            </p:nvSpPr>
            <p:spPr>
              <a:xfrm>
                <a:off x="819647" y="1577340"/>
                <a:ext cx="5089663" cy="1673860"/>
              </a:xfrm>
              <a:prstGeom prst="rect">
                <a:avLst/>
              </a:prstGeom>
              <a:solidFill>
                <a:srgbClr val="F5EF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CE5E14EE-3E79-77F3-0A56-62A25968BCA2}"/>
                  </a:ext>
                </a:extLst>
              </p:cNvPr>
              <p:cNvSpPr/>
              <p:nvPr/>
            </p:nvSpPr>
            <p:spPr>
              <a:xfrm>
                <a:off x="819647" y="1577590"/>
                <a:ext cx="5089663" cy="8796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127424E-38D9-D47B-04B3-089192B28095}"/>
                </a:ext>
              </a:extLst>
            </p:cNvPr>
            <p:cNvSpPr txBox="1"/>
            <p:nvPr/>
          </p:nvSpPr>
          <p:spPr>
            <a:xfrm>
              <a:off x="6282690" y="4033013"/>
              <a:ext cx="4819274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B1451E"/>
                  </a:solidFill>
                </a:rPr>
                <a:t>Reporting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b="1" dirty="0">
                  <a:solidFill>
                    <a:srgbClr val="1A4230"/>
                  </a:solidFill>
                </a:rPr>
                <a:t>Enterprise Reporting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sz="1400" dirty="0"/>
                <a:t>Live operational metrics, order fulfillment analytics and automated compliance auditing.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6833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D2D65-BBE0-3526-8AD6-A6081CD40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0A7041-C447-05AB-0878-19C66B0300CA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55697C-6931-B91D-13E8-696B5D3A0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40FD61-2C8D-C098-D14C-0136BAE8C1E9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DDBB6-AA59-0F50-80F9-BEE0C9789365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0359C8-DF18-9634-21BF-80E6A8FB779D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78B8F3-B3CC-F3F9-B36F-6E9F8182783F}"/>
              </a:ext>
            </a:extLst>
          </p:cNvPr>
          <p:cNvSpPr txBox="1"/>
          <p:nvPr/>
        </p:nvSpPr>
        <p:spPr>
          <a:xfrm>
            <a:off x="535352" y="705411"/>
            <a:ext cx="9137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WENP Core Functional Modules Matrix</a:t>
            </a:r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D05E34B0-02C8-7986-4037-8C3664BB6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FE80A89-DE9A-4111-4C19-56EAB9236C40}"/>
              </a:ext>
            </a:extLst>
          </p:cNvPr>
          <p:cNvGrpSpPr/>
          <p:nvPr/>
        </p:nvGrpSpPr>
        <p:grpSpPr>
          <a:xfrm>
            <a:off x="658280" y="1599487"/>
            <a:ext cx="10732217" cy="3981308"/>
            <a:chOff x="658280" y="1332787"/>
            <a:chExt cx="10732217" cy="398130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FFBD1EC-CF03-F8B6-0539-BE776EB7D2EE}"/>
                </a:ext>
              </a:extLst>
            </p:cNvPr>
            <p:cNvGrpSpPr/>
            <p:nvPr/>
          </p:nvGrpSpPr>
          <p:grpSpPr>
            <a:xfrm>
              <a:off x="658280" y="1332787"/>
              <a:ext cx="10732217" cy="1239632"/>
              <a:chOff x="658280" y="1332787"/>
              <a:chExt cx="10732217" cy="1239632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89368C62-19F1-1A90-C1F6-8B0E11725D1B}"/>
                  </a:ext>
                </a:extLst>
              </p:cNvPr>
              <p:cNvGrpSpPr/>
              <p:nvPr/>
            </p:nvGrpSpPr>
            <p:grpSpPr>
              <a:xfrm>
                <a:off x="658280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4EAB7CBF-4321-7983-7714-59F018B9A7C8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346DF453-2E4F-1BCC-E44B-F63E30538426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  <a:effectLst>
                    <a:outerShdw blurRad="152400" dist="317500" dir="5400000" sx="90000" sy="-19000" rotWithShape="0">
                      <a:prstClr val="black">
                        <a:alpha val="15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CE12B2D6-091C-B708-63C4-0FDF4669135E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4AFDA69-ABBA-23E3-057F-681A0B9B2581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M01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Identity &amp; Authentication</a:t>
                  </a:r>
                </a:p>
                <a:p>
                  <a:r>
                    <a:rPr lang="en-US" sz="1200" dirty="0"/>
                    <a:t>JWT, SMS OTP, secure password recovery and optional 2FA.</a:t>
                  </a: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756C16B-A36B-3E79-C737-A5FA02DA9377}"/>
                  </a:ext>
                </a:extLst>
              </p:cNvPr>
              <p:cNvGrpSpPr/>
              <p:nvPr/>
            </p:nvGrpSpPr>
            <p:grpSpPr>
              <a:xfrm>
                <a:off x="4275718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94591696-298F-3B47-2831-5E6946512A6B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2DC7B5E7-3C5C-0EEC-3AB1-B4CA7F03AF71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C52184EE-F9B5-1D4E-A91F-0C476A172DFF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8D57A18-E187-F4FD-02B9-F3B2AB90B41E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M02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Automated Profile Approval</a:t>
                  </a:r>
                </a:p>
                <a:p>
                  <a:r>
                    <a:rPr lang="en-US" sz="1200" dirty="0"/>
                    <a:t>Algorithmic validation with manual review fallbacks and DBID / NID integration.</a:t>
                  </a: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9EAE3A8E-E6AA-0FFF-FFEB-B7B312ACCD29}"/>
                  </a:ext>
                </a:extLst>
              </p:cNvPr>
              <p:cNvGrpSpPr/>
              <p:nvPr/>
            </p:nvGrpSpPr>
            <p:grpSpPr>
              <a:xfrm>
                <a:off x="7893156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C624FA69-1409-AC42-055C-6F072B69C462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74E9739B-AF12-BBA0-3B03-40C59ACBE2FA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CE507B43-2BDC-DC32-4ABF-361C87E0CE32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6CBE6B8-6EA9-D80D-2A7F-50C51409C812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M03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Virtual Marketplace</a:t>
                  </a:r>
                </a:p>
                <a:p>
                  <a:r>
                    <a:rPr lang="en-US" sz="1200" dirty="0"/>
                    <a:t>Dynamic product showcases, digital ordering and categorized vendor listings.</a:t>
                  </a: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DFCDED6-C489-32D7-DFF9-24F4D63E50D4}"/>
                </a:ext>
              </a:extLst>
            </p:cNvPr>
            <p:cNvGrpSpPr/>
            <p:nvPr/>
          </p:nvGrpSpPr>
          <p:grpSpPr>
            <a:xfrm>
              <a:off x="658280" y="2703625"/>
              <a:ext cx="10732217" cy="1239632"/>
              <a:chOff x="658280" y="1332787"/>
              <a:chExt cx="10732217" cy="123963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05F2F36-6982-82A6-D2C3-84E082413AF8}"/>
                  </a:ext>
                </a:extLst>
              </p:cNvPr>
              <p:cNvGrpSpPr/>
              <p:nvPr/>
            </p:nvGrpSpPr>
            <p:grpSpPr>
              <a:xfrm>
                <a:off x="658280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6027F5A0-2EF1-6C5D-1FF9-FB9893E8C1F9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C1B58629-A3C6-82E0-6D02-AF4A14DF6393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04C2A0BE-AF9E-6874-A9C9-5ACB916B9D60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97FB384-E6E5-010B-D3E8-08F6741C90CF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M04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Micro-Accounting &amp; Bookkeeping </a:t>
                  </a:r>
                </a:p>
                <a:p>
                  <a:r>
                    <a:rPr lang="en-US" sz="1200" dirty="0"/>
                    <a:t>Ledger management, invoice issuance, revenue tracking, cash-flow reporting.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E77656C-E16C-E7F6-8308-B8CEB88A2262}"/>
                  </a:ext>
                </a:extLst>
              </p:cNvPr>
              <p:cNvGrpSpPr/>
              <p:nvPr/>
            </p:nvGrpSpPr>
            <p:grpSpPr>
              <a:xfrm>
                <a:off x="4275718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808B37CD-7F33-AD2A-6DED-5E9D165FCE6A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56196922-94EB-0150-0B41-74A2420A6164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EC391B35-39D2-4865-6799-54F96175F5DA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D2D6AE9-7E35-3A64-6BDF-59D481C68C90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M05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Smart Search &amp; Discovery</a:t>
                  </a:r>
                </a:p>
                <a:p>
                  <a:r>
                    <a:rPr lang="en-US" sz="1200" dirty="0"/>
                    <a:t>Multi-faceted keyword search, geolocation filters and auto-complete indexing.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D777ED31-D442-F81B-689B-5D657B451F36}"/>
                  </a:ext>
                </a:extLst>
              </p:cNvPr>
              <p:cNvGrpSpPr/>
              <p:nvPr/>
            </p:nvGrpSpPr>
            <p:grpSpPr>
              <a:xfrm>
                <a:off x="7893156" y="1332787"/>
                <a:ext cx="3497341" cy="1239632"/>
                <a:chOff x="658280" y="1332118"/>
                <a:chExt cx="3497341" cy="1239632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1F4E1D5B-3368-F183-8CE6-D47DC8F38CD0}"/>
                    </a:ext>
                  </a:extLst>
                </p:cNvPr>
                <p:cNvGrpSpPr/>
                <p:nvPr/>
              </p:nvGrpSpPr>
              <p:grpSpPr>
                <a:xfrm>
                  <a:off x="658280" y="1332118"/>
                  <a:ext cx="3497341" cy="1239632"/>
                  <a:chOff x="658280" y="1332118"/>
                  <a:chExt cx="3497341" cy="1239632"/>
                </a:xfrm>
              </p:grpSpPr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429AD8B3-1680-DB2B-A628-326E50931A9F}"/>
                      </a:ext>
                    </a:extLst>
                  </p:cNvPr>
                  <p:cNvSpPr/>
                  <p:nvPr/>
                </p:nvSpPr>
                <p:spPr>
                  <a:xfrm>
                    <a:off x="658281" y="1332118"/>
                    <a:ext cx="3497340" cy="1239632"/>
                  </a:xfrm>
                  <a:prstGeom prst="rect">
                    <a:avLst/>
                  </a:prstGeom>
                  <a:solidFill>
                    <a:srgbClr val="F5EFE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5D8D1768-D1DB-2E54-64C1-C837D7235B51}"/>
                      </a:ext>
                    </a:extLst>
                  </p:cNvPr>
                  <p:cNvSpPr/>
                  <p:nvPr/>
                </p:nvSpPr>
                <p:spPr>
                  <a:xfrm>
                    <a:off x="658280" y="1332118"/>
                    <a:ext cx="3497340" cy="58963"/>
                  </a:xfrm>
                  <a:prstGeom prst="rect">
                    <a:avLst/>
                  </a:prstGeom>
                  <a:solidFill>
                    <a:srgbClr val="1A423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1D7309A-6C17-284C-AE40-E22035CC5B6B}"/>
                    </a:ext>
                  </a:extLst>
                </p:cNvPr>
                <p:cNvSpPr txBox="1"/>
                <p:nvPr/>
              </p:nvSpPr>
              <p:spPr>
                <a:xfrm>
                  <a:off x="658280" y="1364587"/>
                  <a:ext cx="3497339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B1451E"/>
                      </a:solidFill>
                    </a:rPr>
                    <a:t>M06</a:t>
                  </a:r>
                </a:p>
                <a:p>
                  <a:r>
                    <a:rPr lang="en-US" sz="1400" b="1" dirty="0">
                      <a:solidFill>
                        <a:srgbClr val="1A4230"/>
                      </a:solidFill>
                    </a:rPr>
                    <a:t>Omnichannel Communication</a:t>
                  </a:r>
                </a:p>
                <a:p>
                  <a:r>
                    <a:rPr lang="en-US" sz="1200" dirty="0"/>
                    <a:t>Real-time push alerts, SMS notifications, email updates and in-app chat.</a:t>
                  </a:r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C8B7BDD-028D-3BA3-7EF6-D9D3F9E0707E}"/>
                </a:ext>
              </a:extLst>
            </p:cNvPr>
            <p:cNvGrpSpPr/>
            <p:nvPr/>
          </p:nvGrpSpPr>
          <p:grpSpPr>
            <a:xfrm>
              <a:off x="658280" y="4074463"/>
              <a:ext cx="3497341" cy="1239632"/>
              <a:chOff x="658280" y="1332118"/>
              <a:chExt cx="3497341" cy="1239632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1AC1202-DF06-6CB8-A4E6-79F38E0514DE}"/>
                  </a:ext>
                </a:extLst>
              </p:cNvPr>
              <p:cNvGrpSpPr/>
              <p:nvPr/>
            </p:nvGrpSpPr>
            <p:grpSpPr>
              <a:xfrm>
                <a:off x="658280" y="1332118"/>
                <a:ext cx="3497341" cy="1239632"/>
                <a:chOff x="658280" y="1332118"/>
                <a:chExt cx="3497341" cy="1239632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0E3719D-A9E8-21A1-A48A-80BF6B67A395}"/>
                    </a:ext>
                  </a:extLst>
                </p:cNvPr>
                <p:cNvSpPr/>
                <p:nvPr/>
              </p:nvSpPr>
              <p:spPr>
                <a:xfrm>
                  <a:off x="658281" y="1332118"/>
                  <a:ext cx="3497340" cy="1239632"/>
                </a:xfrm>
                <a:prstGeom prst="rect">
                  <a:avLst/>
                </a:prstGeom>
                <a:solidFill>
                  <a:srgbClr val="F5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72215F78-0BF6-DDD7-C018-24C1CFB7CADE}"/>
                    </a:ext>
                  </a:extLst>
                </p:cNvPr>
                <p:cNvSpPr/>
                <p:nvPr/>
              </p:nvSpPr>
              <p:spPr>
                <a:xfrm>
                  <a:off x="658280" y="1332118"/>
                  <a:ext cx="3497340" cy="58963"/>
                </a:xfrm>
                <a:prstGeom prst="rect">
                  <a:avLst/>
                </a:prstGeom>
                <a:solidFill>
                  <a:srgbClr val="1A423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92E9AB-355F-C6AA-77ED-B200803CB5FC}"/>
                  </a:ext>
                </a:extLst>
              </p:cNvPr>
              <p:cNvSpPr txBox="1"/>
              <p:nvPr/>
            </p:nvSpPr>
            <p:spPr>
              <a:xfrm>
                <a:off x="658280" y="1364587"/>
                <a:ext cx="349733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B1451E"/>
                    </a:solidFill>
                  </a:rPr>
                  <a:t>M07</a:t>
                </a:r>
              </a:p>
              <a:p>
                <a:r>
                  <a:rPr lang="en-US" sz="1400" b="1" dirty="0">
                    <a:solidFill>
                      <a:srgbClr val="1A4230"/>
                    </a:solidFill>
                  </a:rPr>
                  <a:t>Review, Rating &amp; Trust</a:t>
                </a:r>
              </a:p>
              <a:p>
                <a:r>
                  <a:rPr lang="en-US" sz="1200" dirty="0"/>
                  <a:t>Verified buyer feedback, star ratings and transparent entrepreneur credentials.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201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D019A-38F5-A40C-E1DB-BB8787ED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5F0701-1D38-49EA-E2A1-88833E9C19C4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022C2-D23C-DE4D-D10C-2FF1BA67B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7FDB6A-2C82-4A39-C0B9-579E3FB9A7DA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D395B-BE85-8858-9C38-7ECCE25C9B9F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77ABC7-D5A0-3011-8771-E57C91A3C129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F211EC-8D66-94E2-F7FE-5906B6FA075D}"/>
              </a:ext>
            </a:extLst>
          </p:cNvPr>
          <p:cNvSpPr txBox="1"/>
          <p:nvPr/>
        </p:nvSpPr>
        <p:spPr>
          <a:xfrm>
            <a:off x="535352" y="705411"/>
            <a:ext cx="9137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WENP Key System Attributes</a:t>
            </a:r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36E240E1-D798-57CD-3FEB-C8D6AA050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758D209-362A-F7FD-3A72-492D25BE2EC7}"/>
              </a:ext>
            </a:extLst>
          </p:cNvPr>
          <p:cNvGrpSpPr/>
          <p:nvPr/>
        </p:nvGrpSpPr>
        <p:grpSpPr>
          <a:xfrm>
            <a:off x="819647" y="1932940"/>
            <a:ext cx="5089663" cy="1673860"/>
            <a:chOff x="819647" y="1577340"/>
            <a:chExt cx="5089663" cy="167386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E073C26-9F26-F2E0-2967-3C865BDBAD20}"/>
                </a:ext>
              </a:extLst>
            </p:cNvPr>
            <p:cNvGrpSpPr/>
            <p:nvPr/>
          </p:nvGrpSpPr>
          <p:grpSpPr>
            <a:xfrm>
              <a:off x="819647" y="1577340"/>
              <a:ext cx="5089663" cy="1673860"/>
              <a:chOff x="819647" y="1577340"/>
              <a:chExt cx="5089663" cy="167386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3319E7C-5911-24CC-CBBE-E103C04CCF13}"/>
                  </a:ext>
                </a:extLst>
              </p:cNvPr>
              <p:cNvSpPr/>
              <p:nvPr/>
            </p:nvSpPr>
            <p:spPr>
              <a:xfrm>
                <a:off x="819647" y="1577340"/>
                <a:ext cx="5089663" cy="1673860"/>
              </a:xfrm>
              <a:prstGeom prst="rect">
                <a:avLst/>
              </a:prstGeom>
              <a:solidFill>
                <a:srgbClr val="F5EF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575E375-C50E-9A65-AB1B-669E8B4F414E}"/>
                  </a:ext>
                </a:extLst>
              </p:cNvPr>
              <p:cNvSpPr/>
              <p:nvPr/>
            </p:nvSpPr>
            <p:spPr>
              <a:xfrm>
                <a:off x="819647" y="1577590"/>
                <a:ext cx="5089663" cy="8796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8A34C51-FC08-F690-997A-CF8B31486E8C}"/>
                </a:ext>
              </a:extLst>
            </p:cNvPr>
            <p:cNvSpPr txBox="1"/>
            <p:nvPr/>
          </p:nvSpPr>
          <p:spPr>
            <a:xfrm>
              <a:off x="977765" y="1791266"/>
              <a:ext cx="4819274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B1451E"/>
                  </a:solidFill>
                </a:rPr>
                <a:t>Attribute 01  ·  Resilience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b="1" dirty="0">
                  <a:solidFill>
                    <a:srgbClr val="1A4230"/>
                  </a:solidFill>
                </a:rPr>
                <a:t>Degrade, Never Fail</a:t>
              </a:r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sz="1400" dirty="0"/>
                <a:t>Resilient decoupled architecture with automatic fallback mechanisms — offline sync for mobile apps and SMS fallbacks for push notifications.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84DDFFE-8911-BB43-AF2C-6700A12FD33C}"/>
              </a:ext>
            </a:extLst>
          </p:cNvPr>
          <p:cNvGrpSpPr/>
          <p:nvPr/>
        </p:nvGrpSpPr>
        <p:grpSpPr>
          <a:xfrm>
            <a:off x="6067428" y="1932940"/>
            <a:ext cx="5089663" cy="1673860"/>
            <a:chOff x="819647" y="1577340"/>
            <a:chExt cx="5089663" cy="1673860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D29C897-471A-57C2-BBD5-CF8E3284CDC2}"/>
                </a:ext>
              </a:extLst>
            </p:cNvPr>
            <p:cNvGrpSpPr/>
            <p:nvPr/>
          </p:nvGrpSpPr>
          <p:grpSpPr>
            <a:xfrm>
              <a:off x="819647" y="1577340"/>
              <a:ext cx="5089663" cy="1673860"/>
              <a:chOff x="819647" y="1577340"/>
              <a:chExt cx="5089663" cy="1673860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0DFB814-DD40-2E14-800D-6516AC6A4999}"/>
                  </a:ext>
                </a:extLst>
              </p:cNvPr>
              <p:cNvSpPr/>
              <p:nvPr/>
            </p:nvSpPr>
            <p:spPr>
              <a:xfrm>
                <a:off x="819647" y="1577340"/>
                <a:ext cx="5089663" cy="1673860"/>
              </a:xfrm>
              <a:prstGeom prst="rect">
                <a:avLst/>
              </a:prstGeom>
              <a:solidFill>
                <a:srgbClr val="F5EF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0F95AD09-AD9D-8CA2-2E80-34125561A9BF}"/>
                  </a:ext>
                </a:extLst>
              </p:cNvPr>
              <p:cNvSpPr/>
              <p:nvPr/>
            </p:nvSpPr>
            <p:spPr>
              <a:xfrm>
                <a:off x="819647" y="1577590"/>
                <a:ext cx="5089663" cy="8796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7AFB7DA-0AE1-A15B-7116-AD7EDE128600}"/>
                </a:ext>
              </a:extLst>
            </p:cNvPr>
            <p:cNvSpPr txBox="1"/>
            <p:nvPr/>
          </p:nvSpPr>
          <p:spPr>
            <a:xfrm>
              <a:off x="977765" y="1791266"/>
              <a:ext cx="4819274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B1451E"/>
                  </a:solidFill>
                </a:rPr>
                <a:t>Attribute 02  ·  Security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b="1" dirty="0">
                  <a:solidFill>
                    <a:srgbClr val="1A4230"/>
                  </a:solidFill>
                </a:rPr>
                <a:t>Security &amp; Privacy by Design</a:t>
              </a:r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sz="1400" dirty="0"/>
                <a:t>TLS encryption, field-level encryption for sensitive NID / financial data, WAF deployment and zero OWASP Top-10 vulnerabilities.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06863E3-6F5D-AEC5-A86A-FD02B5BC9425}"/>
              </a:ext>
            </a:extLst>
          </p:cNvPr>
          <p:cNvGrpSpPr/>
          <p:nvPr/>
        </p:nvGrpSpPr>
        <p:grpSpPr>
          <a:xfrm>
            <a:off x="819647" y="3765529"/>
            <a:ext cx="5089663" cy="1673860"/>
            <a:chOff x="819647" y="1577340"/>
            <a:chExt cx="5089663" cy="1673860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F20D915-9B94-B155-3DED-A4300AD7FFAE}"/>
                </a:ext>
              </a:extLst>
            </p:cNvPr>
            <p:cNvGrpSpPr/>
            <p:nvPr/>
          </p:nvGrpSpPr>
          <p:grpSpPr>
            <a:xfrm>
              <a:off x="819647" y="1577340"/>
              <a:ext cx="5089663" cy="1673860"/>
              <a:chOff x="819647" y="1577340"/>
              <a:chExt cx="5089663" cy="1673860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5C69D5E4-8C6C-7EDF-998C-496C9FAD4141}"/>
                  </a:ext>
                </a:extLst>
              </p:cNvPr>
              <p:cNvSpPr/>
              <p:nvPr/>
            </p:nvSpPr>
            <p:spPr>
              <a:xfrm>
                <a:off x="819647" y="1577340"/>
                <a:ext cx="5089663" cy="1673860"/>
              </a:xfrm>
              <a:prstGeom prst="rect">
                <a:avLst/>
              </a:prstGeom>
              <a:solidFill>
                <a:srgbClr val="F5EF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345C9D0D-1CB7-5032-4FD4-5518AD1E4157}"/>
                  </a:ext>
                </a:extLst>
              </p:cNvPr>
              <p:cNvSpPr/>
              <p:nvPr/>
            </p:nvSpPr>
            <p:spPr>
              <a:xfrm>
                <a:off x="819647" y="1577590"/>
                <a:ext cx="5089663" cy="8796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D4B135A-64D9-523F-DA43-6B1AAA0AD407}"/>
                </a:ext>
              </a:extLst>
            </p:cNvPr>
            <p:cNvSpPr txBox="1"/>
            <p:nvPr/>
          </p:nvSpPr>
          <p:spPr>
            <a:xfrm>
              <a:off x="977765" y="1791266"/>
              <a:ext cx="4819274" cy="1031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B1451E"/>
                  </a:solidFill>
                </a:rPr>
                <a:t>Attribute 03  ·  Performance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b="1" dirty="0">
                  <a:solidFill>
                    <a:srgbClr val="1A4230"/>
                  </a:solidFill>
                </a:rPr>
                <a:t>Low-Bandwidth Optimization</a:t>
              </a:r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sz="1400" dirty="0"/>
                <a:t>Code splitting, lazy loading of imagery, Redis caching and edge CDN integration — engineered for rural 3G conditions.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A89B837-14C4-A7E3-2A6F-57010ED57B16}"/>
              </a:ext>
            </a:extLst>
          </p:cNvPr>
          <p:cNvGrpSpPr/>
          <p:nvPr/>
        </p:nvGrpSpPr>
        <p:grpSpPr>
          <a:xfrm>
            <a:off x="6067428" y="3765529"/>
            <a:ext cx="5089663" cy="1673860"/>
            <a:chOff x="819647" y="1577340"/>
            <a:chExt cx="5089663" cy="1673860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5ACAE2D-A5BF-C27D-7BCB-35868FF3251C}"/>
                </a:ext>
              </a:extLst>
            </p:cNvPr>
            <p:cNvGrpSpPr/>
            <p:nvPr/>
          </p:nvGrpSpPr>
          <p:grpSpPr>
            <a:xfrm>
              <a:off x="819647" y="1577340"/>
              <a:ext cx="5089663" cy="1673860"/>
              <a:chOff x="819647" y="1577340"/>
              <a:chExt cx="5089663" cy="167386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D5E6F694-BD1B-EC9E-7E37-5375C99DABD4}"/>
                  </a:ext>
                </a:extLst>
              </p:cNvPr>
              <p:cNvSpPr/>
              <p:nvPr/>
            </p:nvSpPr>
            <p:spPr>
              <a:xfrm>
                <a:off x="819647" y="1577340"/>
                <a:ext cx="5089663" cy="1673860"/>
              </a:xfrm>
              <a:prstGeom prst="rect">
                <a:avLst/>
              </a:prstGeom>
              <a:solidFill>
                <a:srgbClr val="F5EFE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060AEA3B-FAB3-AC94-77DE-FE607C119202}"/>
                  </a:ext>
                </a:extLst>
              </p:cNvPr>
              <p:cNvSpPr/>
              <p:nvPr/>
            </p:nvSpPr>
            <p:spPr>
              <a:xfrm>
                <a:off x="819647" y="1577590"/>
                <a:ext cx="5089663" cy="87967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CD698B5-0BEC-50A9-E8CE-977B011659C1}"/>
                </a:ext>
              </a:extLst>
            </p:cNvPr>
            <p:cNvSpPr txBox="1"/>
            <p:nvPr/>
          </p:nvSpPr>
          <p:spPr>
            <a:xfrm>
              <a:off x="977765" y="1791266"/>
              <a:ext cx="4819274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B1451E"/>
                  </a:solidFill>
                </a:rPr>
                <a:t>Attribute 04  ·  Cost of Ownership</a:t>
              </a:r>
            </a:p>
            <a:p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b="1" dirty="0">
                  <a:solidFill>
                    <a:srgbClr val="1A4230"/>
                  </a:solidFill>
                </a:rPr>
                <a:t>Zero Commercial Licensing Liabilities</a:t>
              </a:r>
              <a:endParaRPr lang="en-US" sz="300" b="1" dirty="0">
                <a:solidFill>
                  <a:schemeClr val="bg1"/>
                </a:solidFill>
              </a:endParaRPr>
            </a:p>
            <a:p>
              <a:r>
                <a:rPr lang="en-US" sz="1400" dirty="0"/>
                <a:t>Built entirely on production-grade open-source technology frameworks to eliminate post-handover license costs for the Ministry.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9179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14C03-DBCA-0D7A-6171-BA22EDA5D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39CF63-3B6F-B4AF-79F8-C46FB4F2D76B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60ED4A-FC3E-C959-6567-A97E27D0A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C08246-B481-44E5-8568-586984956181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01CF8-BA61-AD27-E662-41F507F9DD3C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4E97E4-434E-7CD9-B416-2889027CEC37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55F30-1F7A-C28B-C850-BB9D18916B58}"/>
              </a:ext>
            </a:extLst>
          </p:cNvPr>
          <p:cNvSpPr txBox="1"/>
          <p:nvPr/>
        </p:nvSpPr>
        <p:spPr>
          <a:xfrm>
            <a:off x="535352" y="705411"/>
            <a:ext cx="9137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Technology Stack &amp; Tooling</a:t>
            </a:r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C662276C-B311-FDBF-D7E2-43D524A9E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03C15EA-7936-03A7-F2A0-F9768E1B1215}"/>
              </a:ext>
            </a:extLst>
          </p:cNvPr>
          <p:cNvGrpSpPr/>
          <p:nvPr/>
        </p:nvGrpSpPr>
        <p:grpSpPr>
          <a:xfrm>
            <a:off x="658278" y="1833167"/>
            <a:ext cx="10708968" cy="2583193"/>
            <a:chOff x="658278" y="1833167"/>
            <a:chExt cx="10708968" cy="258319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EAFFEED-3215-AEA7-6DEC-2EA827FCA812}"/>
                </a:ext>
              </a:extLst>
            </p:cNvPr>
            <p:cNvGrpSpPr/>
            <p:nvPr/>
          </p:nvGrpSpPr>
          <p:grpSpPr>
            <a:xfrm>
              <a:off x="658280" y="1833167"/>
              <a:ext cx="3497341" cy="1239632"/>
              <a:chOff x="658280" y="1599487"/>
              <a:chExt cx="3497341" cy="123963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8AD1DCD-BE70-5FEA-518F-BF876AD659C6}"/>
                  </a:ext>
                </a:extLst>
              </p:cNvPr>
              <p:cNvGrpSpPr/>
              <p:nvPr/>
            </p:nvGrpSpPr>
            <p:grpSpPr>
              <a:xfrm>
                <a:off x="658280" y="1599487"/>
                <a:ext cx="3497341" cy="1239632"/>
                <a:chOff x="658280" y="1332118"/>
                <a:chExt cx="3497341" cy="1239632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1EAEDE8-0609-1E77-5803-D88E0FE3FAE7}"/>
                    </a:ext>
                  </a:extLst>
                </p:cNvPr>
                <p:cNvSpPr/>
                <p:nvPr/>
              </p:nvSpPr>
              <p:spPr>
                <a:xfrm>
                  <a:off x="658281" y="1332118"/>
                  <a:ext cx="3497340" cy="1239632"/>
                </a:xfrm>
                <a:prstGeom prst="rect">
                  <a:avLst/>
                </a:prstGeom>
                <a:solidFill>
                  <a:srgbClr val="F5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62CAEE0F-4349-4788-B4F1-260482BCE002}"/>
                    </a:ext>
                  </a:extLst>
                </p:cNvPr>
                <p:cNvSpPr/>
                <p:nvPr/>
              </p:nvSpPr>
              <p:spPr>
                <a:xfrm>
                  <a:off x="658280" y="1332118"/>
                  <a:ext cx="3497340" cy="58963"/>
                </a:xfrm>
                <a:prstGeom prst="rect">
                  <a:avLst/>
                </a:prstGeom>
                <a:solidFill>
                  <a:srgbClr val="1A423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24C97C-1026-689E-5FEE-47B2513C9021}"/>
                  </a:ext>
                </a:extLst>
              </p:cNvPr>
              <p:cNvSpPr txBox="1"/>
              <p:nvPr/>
            </p:nvSpPr>
            <p:spPr>
              <a:xfrm>
                <a:off x="658280" y="1658409"/>
                <a:ext cx="3497339" cy="954107"/>
              </a:xfrm>
              <a:prstGeom prst="rect">
                <a:avLst/>
              </a:prstGeom>
              <a:solidFill>
                <a:srgbClr val="F5EFE4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100" b="1" cap="all" spc="300" dirty="0">
                    <a:solidFill>
                      <a:srgbClr val="B1451E"/>
                    </a:solidFill>
                  </a:rPr>
                  <a:t>Layer 01</a:t>
                </a:r>
              </a:p>
              <a:p>
                <a:endParaRPr lang="en-US" sz="300" b="1" cap="all" dirty="0"/>
              </a:p>
              <a:p>
                <a:r>
                  <a:rPr lang="en-US" sz="1500" b="1" dirty="0">
                    <a:solidFill>
                      <a:srgbClr val="1A4230"/>
                    </a:solidFill>
                  </a:rPr>
                  <a:t>Backend Framework</a:t>
                </a:r>
              </a:p>
              <a:p>
                <a:endParaRPr lang="en-US" sz="300" dirty="0"/>
              </a:p>
              <a:p>
                <a:r>
                  <a:rPr lang="en-US" sz="1200" dirty="0"/>
                  <a:t>PHP 8.2+ with Laravel 10 — clean Service Layer architecture, PSR-12 coding standard.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3C40274-C671-C80E-ADC9-ECE1DD662F52}"/>
                </a:ext>
              </a:extLst>
            </p:cNvPr>
            <p:cNvGrpSpPr/>
            <p:nvPr/>
          </p:nvGrpSpPr>
          <p:grpSpPr>
            <a:xfrm>
              <a:off x="4264093" y="1833167"/>
              <a:ext cx="3497341" cy="1239632"/>
              <a:chOff x="658280" y="1599487"/>
              <a:chExt cx="3497341" cy="123963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133B25F-6716-A81B-8BA5-9742F3DF5D2B}"/>
                  </a:ext>
                </a:extLst>
              </p:cNvPr>
              <p:cNvGrpSpPr/>
              <p:nvPr/>
            </p:nvGrpSpPr>
            <p:grpSpPr>
              <a:xfrm>
                <a:off x="658280" y="1599487"/>
                <a:ext cx="3497341" cy="1239632"/>
                <a:chOff x="658280" y="1332118"/>
                <a:chExt cx="3497341" cy="1239632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250F0E5-9C3B-7903-4BBB-85FFECBD04B6}"/>
                    </a:ext>
                  </a:extLst>
                </p:cNvPr>
                <p:cNvSpPr/>
                <p:nvPr/>
              </p:nvSpPr>
              <p:spPr>
                <a:xfrm>
                  <a:off x="658281" y="1332118"/>
                  <a:ext cx="3497340" cy="1239632"/>
                </a:xfrm>
                <a:prstGeom prst="rect">
                  <a:avLst/>
                </a:prstGeom>
                <a:solidFill>
                  <a:srgbClr val="F5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664778EC-F475-75E3-8358-FD3C2BD50C16}"/>
                    </a:ext>
                  </a:extLst>
                </p:cNvPr>
                <p:cNvSpPr/>
                <p:nvPr/>
              </p:nvSpPr>
              <p:spPr>
                <a:xfrm>
                  <a:off x="658280" y="1332118"/>
                  <a:ext cx="3497340" cy="58963"/>
                </a:xfrm>
                <a:prstGeom prst="rect">
                  <a:avLst/>
                </a:prstGeom>
                <a:solidFill>
                  <a:srgbClr val="1A423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4B8B96-257B-9DA1-0CB3-9C90C4467C6E}"/>
                  </a:ext>
                </a:extLst>
              </p:cNvPr>
              <p:cNvSpPr txBox="1"/>
              <p:nvPr/>
            </p:nvSpPr>
            <p:spPr>
              <a:xfrm>
                <a:off x="658280" y="1658409"/>
                <a:ext cx="3497339" cy="954107"/>
              </a:xfrm>
              <a:prstGeom prst="rect">
                <a:avLst/>
              </a:prstGeom>
              <a:solidFill>
                <a:srgbClr val="F5EFE4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100" b="1" cap="all" spc="300" dirty="0">
                    <a:solidFill>
                      <a:srgbClr val="B1451E"/>
                    </a:solidFill>
                  </a:rPr>
                  <a:t>Layer 02</a:t>
                </a:r>
              </a:p>
              <a:p>
                <a:endParaRPr lang="en-US" sz="300" b="1" cap="all" dirty="0"/>
              </a:p>
              <a:p>
                <a:r>
                  <a:rPr lang="en-US" sz="1500" b="1" dirty="0">
                    <a:solidFill>
                      <a:srgbClr val="1A4230"/>
                    </a:solidFill>
                  </a:rPr>
                  <a:t>Frontend Web</a:t>
                </a:r>
              </a:p>
              <a:p>
                <a:endParaRPr lang="en-US" sz="300" dirty="0"/>
              </a:p>
              <a:p>
                <a:r>
                  <a:rPr lang="en-US" sz="1200" dirty="0"/>
                  <a:t>HTML5, CSS3, Bootstrap 5, JavaScript / jQuery and the Blade templating engine.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56B0A6A-5FFD-4504-7E48-5CFAB9A06D64}"/>
                </a:ext>
              </a:extLst>
            </p:cNvPr>
            <p:cNvGrpSpPr/>
            <p:nvPr/>
          </p:nvGrpSpPr>
          <p:grpSpPr>
            <a:xfrm>
              <a:off x="7869905" y="1833167"/>
              <a:ext cx="3497341" cy="1239632"/>
              <a:chOff x="658280" y="1599487"/>
              <a:chExt cx="3497341" cy="1239632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EA42E9C-4D19-8176-2C90-1AF24C6ADF60}"/>
                  </a:ext>
                </a:extLst>
              </p:cNvPr>
              <p:cNvGrpSpPr/>
              <p:nvPr/>
            </p:nvGrpSpPr>
            <p:grpSpPr>
              <a:xfrm>
                <a:off x="658280" y="1599487"/>
                <a:ext cx="3497341" cy="1239632"/>
                <a:chOff x="658280" y="1332118"/>
                <a:chExt cx="3497341" cy="1239632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75F2F9E-930E-B5B1-3408-BF33213BA4FD}"/>
                    </a:ext>
                  </a:extLst>
                </p:cNvPr>
                <p:cNvSpPr/>
                <p:nvPr/>
              </p:nvSpPr>
              <p:spPr>
                <a:xfrm>
                  <a:off x="658281" y="1332118"/>
                  <a:ext cx="3497340" cy="1239632"/>
                </a:xfrm>
                <a:prstGeom prst="rect">
                  <a:avLst/>
                </a:prstGeom>
                <a:solidFill>
                  <a:srgbClr val="F6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966AABA-DF39-8408-64AD-6C93D951B89A}"/>
                    </a:ext>
                  </a:extLst>
                </p:cNvPr>
                <p:cNvSpPr/>
                <p:nvPr/>
              </p:nvSpPr>
              <p:spPr>
                <a:xfrm>
                  <a:off x="658280" y="1332118"/>
                  <a:ext cx="3497340" cy="58963"/>
                </a:xfrm>
                <a:prstGeom prst="rect">
                  <a:avLst/>
                </a:prstGeom>
                <a:solidFill>
                  <a:srgbClr val="1A423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5AC031-B4CE-974A-64DA-8B24695686FA}"/>
                  </a:ext>
                </a:extLst>
              </p:cNvPr>
              <p:cNvSpPr txBox="1"/>
              <p:nvPr/>
            </p:nvSpPr>
            <p:spPr>
              <a:xfrm>
                <a:off x="658280" y="1658409"/>
                <a:ext cx="3497339" cy="954107"/>
              </a:xfrm>
              <a:prstGeom prst="rect">
                <a:avLst/>
              </a:prstGeom>
              <a:solidFill>
                <a:srgbClr val="F5EFE4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100" b="1" cap="all" spc="300" dirty="0">
                    <a:solidFill>
                      <a:srgbClr val="B1451E"/>
                    </a:solidFill>
                  </a:rPr>
                  <a:t>Layer 03</a:t>
                </a:r>
              </a:p>
              <a:p>
                <a:endParaRPr lang="en-US" sz="300" b="1" cap="all" dirty="0"/>
              </a:p>
              <a:p>
                <a:r>
                  <a:rPr lang="en-US" sz="1500" b="1" dirty="0">
                    <a:solidFill>
                      <a:srgbClr val="1A4230"/>
                    </a:solidFill>
                  </a:rPr>
                  <a:t>Mobile Applications</a:t>
                </a:r>
              </a:p>
              <a:p>
                <a:endParaRPr lang="en-US" sz="300" dirty="0"/>
              </a:p>
              <a:p>
                <a:r>
                  <a:rPr lang="en-US" sz="1200" dirty="0"/>
                  <a:t>Flutter framework for cross-platform compilation to native Android and iOS.</a:t>
                </a: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BDBE5270-7BB1-59B8-95E4-B4EF7B2AB908}"/>
                </a:ext>
              </a:extLst>
            </p:cNvPr>
            <p:cNvGrpSpPr/>
            <p:nvPr/>
          </p:nvGrpSpPr>
          <p:grpSpPr>
            <a:xfrm>
              <a:off x="658278" y="3176728"/>
              <a:ext cx="3497341" cy="1239632"/>
              <a:chOff x="658280" y="1599487"/>
              <a:chExt cx="3497341" cy="1239632"/>
            </a:xfrm>
          </p:grpSpPr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069D9992-6AED-6BB0-7216-7F817E5E38CB}"/>
                  </a:ext>
                </a:extLst>
              </p:cNvPr>
              <p:cNvGrpSpPr/>
              <p:nvPr/>
            </p:nvGrpSpPr>
            <p:grpSpPr>
              <a:xfrm>
                <a:off x="658280" y="1599487"/>
                <a:ext cx="3497341" cy="1239632"/>
                <a:chOff x="658280" y="1332118"/>
                <a:chExt cx="3497341" cy="1239632"/>
              </a:xfrm>
            </p:grpSpPr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1DA5C575-3FFB-9ECA-8688-989260D3D8C3}"/>
                    </a:ext>
                  </a:extLst>
                </p:cNvPr>
                <p:cNvSpPr/>
                <p:nvPr/>
              </p:nvSpPr>
              <p:spPr>
                <a:xfrm>
                  <a:off x="658281" y="1332118"/>
                  <a:ext cx="3497340" cy="1239632"/>
                </a:xfrm>
                <a:prstGeom prst="rect">
                  <a:avLst/>
                </a:prstGeom>
                <a:solidFill>
                  <a:srgbClr val="F5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B9106A62-B413-CC8A-51B1-96C55B6E55E3}"/>
                    </a:ext>
                  </a:extLst>
                </p:cNvPr>
                <p:cNvSpPr/>
                <p:nvPr/>
              </p:nvSpPr>
              <p:spPr>
                <a:xfrm>
                  <a:off x="658280" y="1332118"/>
                  <a:ext cx="3497340" cy="58963"/>
                </a:xfrm>
                <a:prstGeom prst="rect">
                  <a:avLst/>
                </a:prstGeom>
                <a:solidFill>
                  <a:srgbClr val="1A423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74F0B44-1E52-E936-10B6-1888D2475912}"/>
                  </a:ext>
                </a:extLst>
              </p:cNvPr>
              <p:cNvSpPr txBox="1"/>
              <p:nvPr/>
            </p:nvSpPr>
            <p:spPr>
              <a:xfrm>
                <a:off x="658280" y="1658409"/>
                <a:ext cx="3497339" cy="1138773"/>
              </a:xfrm>
              <a:prstGeom prst="rect">
                <a:avLst/>
              </a:prstGeom>
              <a:solidFill>
                <a:srgbClr val="F5EFE4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100" b="1" cap="all" spc="300" dirty="0">
                    <a:solidFill>
                      <a:srgbClr val="B1451E"/>
                    </a:solidFill>
                  </a:rPr>
                  <a:t>Layer 04</a:t>
                </a:r>
              </a:p>
              <a:p>
                <a:endParaRPr lang="en-US" sz="300" b="1" cap="all" dirty="0"/>
              </a:p>
              <a:p>
                <a:r>
                  <a:rPr lang="en-US" sz="1500" b="1" dirty="0">
                    <a:solidFill>
                      <a:srgbClr val="1A4230"/>
                    </a:solidFill>
                  </a:rPr>
                  <a:t>Database &amp; Caching</a:t>
                </a:r>
              </a:p>
              <a:p>
                <a:endParaRPr lang="en-US" sz="300" dirty="0"/>
              </a:p>
              <a:p>
                <a:r>
                  <a:rPr lang="en-US" sz="1200" dirty="0"/>
                  <a:t>MySQL 8.0 Enterprise relational database with Redis for high-speed session management and caching.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6594F7C7-F9EF-4826-6634-9395037DF345}"/>
                </a:ext>
              </a:extLst>
            </p:cNvPr>
            <p:cNvGrpSpPr/>
            <p:nvPr/>
          </p:nvGrpSpPr>
          <p:grpSpPr>
            <a:xfrm>
              <a:off x="4264091" y="3176728"/>
              <a:ext cx="3497341" cy="1239632"/>
              <a:chOff x="658280" y="1599487"/>
              <a:chExt cx="3497341" cy="1239632"/>
            </a:xfrm>
          </p:grpSpPr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13066BB3-C7B6-8C81-3571-22855740AD4B}"/>
                  </a:ext>
                </a:extLst>
              </p:cNvPr>
              <p:cNvGrpSpPr/>
              <p:nvPr/>
            </p:nvGrpSpPr>
            <p:grpSpPr>
              <a:xfrm>
                <a:off x="658280" y="1599487"/>
                <a:ext cx="3497341" cy="1239632"/>
                <a:chOff x="658280" y="1332118"/>
                <a:chExt cx="3497341" cy="1239632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8E62B455-DB7B-45D2-8C03-4CB246409A63}"/>
                    </a:ext>
                  </a:extLst>
                </p:cNvPr>
                <p:cNvSpPr/>
                <p:nvPr/>
              </p:nvSpPr>
              <p:spPr>
                <a:xfrm>
                  <a:off x="658281" y="1332118"/>
                  <a:ext cx="3497340" cy="1239632"/>
                </a:xfrm>
                <a:prstGeom prst="rect">
                  <a:avLst/>
                </a:prstGeom>
                <a:solidFill>
                  <a:srgbClr val="F5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E5C7F126-61D6-5D02-ECC4-083F8F9F492D}"/>
                    </a:ext>
                  </a:extLst>
                </p:cNvPr>
                <p:cNvSpPr/>
                <p:nvPr/>
              </p:nvSpPr>
              <p:spPr>
                <a:xfrm>
                  <a:off x="658280" y="1332118"/>
                  <a:ext cx="3497340" cy="58963"/>
                </a:xfrm>
                <a:prstGeom prst="rect">
                  <a:avLst/>
                </a:prstGeom>
                <a:solidFill>
                  <a:srgbClr val="1A423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478BCBE-0921-EF8F-DAE0-304B6417793B}"/>
                  </a:ext>
                </a:extLst>
              </p:cNvPr>
              <p:cNvSpPr txBox="1"/>
              <p:nvPr/>
            </p:nvSpPr>
            <p:spPr>
              <a:xfrm>
                <a:off x="658280" y="1658409"/>
                <a:ext cx="3497339" cy="1138773"/>
              </a:xfrm>
              <a:prstGeom prst="rect">
                <a:avLst/>
              </a:prstGeom>
              <a:solidFill>
                <a:srgbClr val="F5EFE4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100" b="1" cap="all" spc="300" dirty="0">
                    <a:solidFill>
                      <a:srgbClr val="B1451E"/>
                    </a:solidFill>
                  </a:rPr>
                  <a:t>Layer 05</a:t>
                </a:r>
              </a:p>
              <a:p>
                <a:endParaRPr lang="en-US" sz="300" b="1" cap="all" dirty="0"/>
              </a:p>
              <a:p>
                <a:r>
                  <a:rPr lang="en-US" sz="1500" b="1" dirty="0">
                    <a:solidFill>
                      <a:srgbClr val="1A4230"/>
                    </a:solidFill>
                  </a:rPr>
                  <a:t>CI/CD &amp; Source Code</a:t>
                </a:r>
              </a:p>
              <a:p>
                <a:endParaRPr lang="en-US" sz="300" dirty="0"/>
              </a:p>
              <a:p>
                <a:r>
                  <a:rPr lang="en-US" sz="1200" dirty="0"/>
                  <a:t>GitHub Enterprise, Jenkins / GitHub Actions — mirrored to the National Code Repository (NCR — GitLab).</a:t>
                </a:r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BB774486-BF0A-2EF6-8234-C88D56A90C63}"/>
                </a:ext>
              </a:extLst>
            </p:cNvPr>
            <p:cNvGrpSpPr/>
            <p:nvPr/>
          </p:nvGrpSpPr>
          <p:grpSpPr>
            <a:xfrm>
              <a:off x="7869903" y="3176728"/>
              <a:ext cx="3497341" cy="1239632"/>
              <a:chOff x="658280" y="1599487"/>
              <a:chExt cx="3497341" cy="1239632"/>
            </a:xfrm>
          </p:grpSpPr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542E9DFD-FB31-D98A-F649-505A2F2EBDC4}"/>
                  </a:ext>
                </a:extLst>
              </p:cNvPr>
              <p:cNvGrpSpPr/>
              <p:nvPr/>
            </p:nvGrpSpPr>
            <p:grpSpPr>
              <a:xfrm>
                <a:off x="658280" y="1599487"/>
                <a:ext cx="3497341" cy="1239632"/>
                <a:chOff x="658280" y="1332118"/>
                <a:chExt cx="3497341" cy="1239632"/>
              </a:xfrm>
            </p:grpSpPr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08B3D992-262F-9335-0C14-3D74BC887B87}"/>
                    </a:ext>
                  </a:extLst>
                </p:cNvPr>
                <p:cNvSpPr/>
                <p:nvPr/>
              </p:nvSpPr>
              <p:spPr>
                <a:xfrm>
                  <a:off x="658281" y="1332118"/>
                  <a:ext cx="3497340" cy="1239632"/>
                </a:xfrm>
                <a:prstGeom prst="rect">
                  <a:avLst/>
                </a:prstGeom>
                <a:solidFill>
                  <a:srgbClr val="F6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89F84522-96CB-DC1A-6EBC-E511057A2867}"/>
                    </a:ext>
                  </a:extLst>
                </p:cNvPr>
                <p:cNvSpPr/>
                <p:nvPr/>
              </p:nvSpPr>
              <p:spPr>
                <a:xfrm>
                  <a:off x="658280" y="1332118"/>
                  <a:ext cx="3497340" cy="58963"/>
                </a:xfrm>
                <a:prstGeom prst="rect">
                  <a:avLst/>
                </a:prstGeom>
                <a:solidFill>
                  <a:srgbClr val="1A423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D4DE422-DEA0-470B-6B57-DFFA4293AD17}"/>
                  </a:ext>
                </a:extLst>
              </p:cNvPr>
              <p:cNvSpPr txBox="1"/>
              <p:nvPr/>
            </p:nvSpPr>
            <p:spPr>
              <a:xfrm>
                <a:off x="658280" y="1658409"/>
                <a:ext cx="3497339" cy="1138773"/>
              </a:xfrm>
              <a:prstGeom prst="rect">
                <a:avLst/>
              </a:prstGeom>
              <a:solidFill>
                <a:srgbClr val="F5EFE4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100" b="1" cap="all" spc="300" dirty="0">
                    <a:solidFill>
                      <a:srgbClr val="B1451E"/>
                    </a:solidFill>
                  </a:rPr>
                  <a:t>Layer 06</a:t>
                </a:r>
              </a:p>
              <a:p>
                <a:endParaRPr lang="en-US" sz="300" b="1" cap="all" dirty="0"/>
              </a:p>
              <a:p>
                <a:r>
                  <a:rPr lang="en-US" sz="1500" b="1" dirty="0">
                    <a:solidFill>
                      <a:srgbClr val="1A4230"/>
                    </a:solidFill>
                  </a:rPr>
                  <a:t>Infrastructure &amp; Cloud</a:t>
                </a:r>
              </a:p>
              <a:p>
                <a:endParaRPr lang="en-US" sz="300" dirty="0"/>
              </a:p>
              <a:p>
                <a:r>
                  <a:rPr lang="en-US" sz="1200" dirty="0"/>
                  <a:t>Hosted at National Data Center (NDC) / BDCCL on secure Linux (CentOS / RHEL) with WAF protection.</a:t>
                </a: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C2603E3F-FE25-1AA8-7812-7F776B691FF1}"/>
              </a:ext>
            </a:extLst>
          </p:cNvPr>
          <p:cNvGrpSpPr/>
          <p:nvPr/>
        </p:nvGrpSpPr>
        <p:grpSpPr>
          <a:xfrm>
            <a:off x="1069951" y="4649687"/>
            <a:ext cx="9885622" cy="750505"/>
            <a:chOff x="1076960" y="4436327"/>
            <a:chExt cx="9885622" cy="750505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928DC23D-325B-4919-256E-B972975FAAF2}"/>
                </a:ext>
              </a:extLst>
            </p:cNvPr>
            <p:cNvGrpSpPr/>
            <p:nvPr/>
          </p:nvGrpSpPr>
          <p:grpSpPr>
            <a:xfrm>
              <a:off x="1076960" y="4436327"/>
              <a:ext cx="993882" cy="750505"/>
              <a:chOff x="1076960" y="4448820"/>
              <a:chExt cx="993882" cy="750505"/>
            </a:xfrm>
          </p:grpSpPr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FB8DDD8B-454A-73F6-629B-4782255E7B36}"/>
                  </a:ext>
                </a:extLst>
              </p:cNvPr>
              <p:cNvGrpSpPr/>
              <p:nvPr/>
            </p:nvGrpSpPr>
            <p:grpSpPr>
              <a:xfrm>
                <a:off x="1076960" y="4448820"/>
                <a:ext cx="993882" cy="750505"/>
                <a:chOff x="1076960" y="4448820"/>
                <a:chExt cx="993882" cy="750505"/>
              </a:xfrm>
            </p:grpSpPr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93BDE6F9-A2E3-C089-18E8-D5C3340E5081}"/>
                    </a:ext>
                  </a:extLst>
                </p:cNvPr>
                <p:cNvSpPr/>
                <p:nvPr/>
              </p:nvSpPr>
              <p:spPr>
                <a:xfrm>
                  <a:off x="1076960" y="4450080"/>
                  <a:ext cx="993882" cy="749245"/>
                </a:xfrm>
                <a:prstGeom prst="rect">
                  <a:avLst/>
                </a:prstGeom>
                <a:solidFill>
                  <a:srgbClr val="F6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E7809746-468B-D90D-AB35-04D4C31B0A7D}"/>
                    </a:ext>
                  </a:extLst>
                </p:cNvPr>
                <p:cNvSpPr/>
                <p:nvPr/>
              </p:nvSpPr>
              <p:spPr>
                <a:xfrm>
                  <a:off x="1076960" y="4448820"/>
                  <a:ext cx="993882" cy="54867"/>
                </a:xfrm>
                <a:prstGeom prst="rect">
                  <a:avLst/>
                </a:prstGeom>
                <a:solidFill>
                  <a:srgbClr val="1A422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27" name="Picture 126" descr="File:PHP-logo.svg - Wikimedia Commons">
                <a:extLst>
                  <a:ext uri="{FF2B5EF4-FFF2-40B4-BE49-F238E27FC236}">
                    <a16:creationId xmlns:a16="http://schemas.microsoft.com/office/drawing/2014/main" id="{A856573D-2F0E-40B0-EC79-912B2C9925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4559" y="4585550"/>
                <a:ext cx="898684" cy="485149"/>
              </a:xfrm>
              <a:prstGeom prst="rect">
                <a:avLst/>
              </a:prstGeom>
            </p:spPr>
          </p:pic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DEB9CEE0-4C90-2CE2-CFEE-9FFAEF26FCC8}"/>
                </a:ext>
              </a:extLst>
            </p:cNvPr>
            <p:cNvGrpSpPr/>
            <p:nvPr/>
          </p:nvGrpSpPr>
          <p:grpSpPr>
            <a:xfrm>
              <a:off x="2188428" y="4436327"/>
              <a:ext cx="993882" cy="750505"/>
              <a:chOff x="2156470" y="4448820"/>
              <a:chExt cx="993882" cy="750505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492ACEB2-2E4D-E00A-7E88-5AFA68AAE523}"/>
                  </a:ext>
                </a:extLst>
              </p:cNvPr>
              <p:cNvGrpSpPr/>
              <p:nvPr/>
            </p:nvGrpSpPr>
            <p:grpSpPr>
              <a:xfrm>
                <a:off x="2156470" y="4448820"/>
                <a:ext cx="993882" cy="750505"/>
                <a:chOff x="1076960" y="4448820"/>
                <a:chExt cx="993882" cy="750505"/>
              </a:xfrm>
            </p:grpSpPr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6C866A5F-166D-3098-9908-469E799661DA}"/>
                    </a:ext>
                  </a:extLst>
                </p:cNvPr>
                <p:cNvSpPr/>
                <p:nvPr/>
              </p:nvSpPr>
              <p:spPr>
                <a:xfrm>
                  <a:off x="1076960" y="4450080"/>
                  <a:ext cx="993882" cy="749245"/>
                </a:xfrm>
                <a:prstGeom prst="rect">
                  <a:avLst/>
                </a:prstGeom>
                <a:solidFill>
                  <a:srgbClr val="F6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D582CC3E-CB46-23A8-4277-5D3B318EE812}"/>
                    </a:ext>
                  </a:extLst>
                </p:cNvPr>
                <p:cNvSpPr/>
                <p:nvPr/>
              </p:nvSpPr>
              <p:spPr>
                <a:xfrm>
                  <a:off x="1076960" y="4448820"/>
                  <a:ext cx="993882" cy="54867"/>
                </a:xfrm>
                <a:prstGeom prst="rect">
                  <a:avLst/>
                </a:prstGeom>
                <a:solidFill>
                  <a:srgbClr val="1A422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28" name="Picture 127" descr="File:Laravel.svg - Wikimedia Commons">
                <a:extLst>
                  <a:ext uri="{FF2B5EF4-FFF2-40B4-BE49-F238E27FC236}">
                    <a16:creationId xmlns:a16="http://schemas.microsoft.com/office/drawing/2014/main" id="{CE326F22-734C-5487-1566-07ED37BD5D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95985" y="4570330"/>
                <a:ext cx="525390" cy="546734"/>
              </a:xfrm>
              <a:prstGeom prst="rect">
                <a:avLst/>
              </a:prstGeom>
            </p:spPr>
          </p:pic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2BE49219-02E5-F1F9-38D1-29B5FE966EE0}"/>
                </a:ext>
              </a:extLst>
            </p:cNvPr>
            <p:cNvGrpSpPr/>
            <p:nvPr/>
          </p:nvGrpSpPr>
          <p:grpSpPr>
            <a:xfrm>
              <a:off x="3299896" y="4436327"/>
              <a:ext cx="993882" cy="750505"/>
              <a:chOff x="3226627" y="4449449"/>
              <a:chExt cx="993882" cy="750505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FD73CE87-D80C-75DE-D9C9-4B449666C7EC}"/>
                  </a:ext>
                </a:extLst>
              </p:cNvPr>
              <p:cNvGrpSpPr/>
              <p:nvPr/>
            </p:nvGrpSpPr>
            <p:grpSpPr>
              <a:xfrm>
                <a:off x="3226627" y="4449449"/>
                <a:ext cx="993882" cy="750505"/>
                <a:chOff x="1076960" y="4448820"/>
                <a:chExt cx="993882" cy="750505"/>
              </a:xfrm>
            </p:grpSpPr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E37C2663-D488-8956-6FB9-7D3AEE0A7E33}"/>
                    </a:ext>
                  </a:extLst>
                </p:cNvPr>
                <p:cNvSpPr/>
                <p:nvPr/>
              </p:nvSpPr>
              <p:spPr>
                <a:xfrm>
                  <a:off x="1076960" y="4450080"/>
                  <a:ext cx="993882" cy="749245"/>
                </a:xfrm>
                <a:prstGeom prst="rect">
                  <a:avLst/>
                </a:prstGeom>
                <a:solidFill>
                  <a:srgbClr val="F6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DB63658D-8FFC-0216-5C94-AB9D13FCA3F9}"/>
                    </a:ext>
                  </a:extLst>
                </p:cNvPr>
                <p:cNvSpPr/>
                <p:nvPr/>
              </p:nvSpPr>
              <p:spPr>
                <a:xfrm>
                  <a:off x="1076960" y="4448820"/>
                  <a:ext cx="993882" cy="54867"/>
                </a:xfrm>
                <a:prstGeom prst="rect">
                  <a:avLst/>
                </a:prstGeom>
                <a:solidFill>
                  <a:srgbClr val="1A422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30" name="Graphic 129" descr="Brand guidelines · Bootstrap v5.0">
                <a:extLst>
                  <a:ext uri="{FF2B5EF4-FFF2-40B4-BE49-F238E27FC236}">
                    <a16:creationId xmlns:a16="http://schemas.microsoft.com/office/drawing/2014/main" id="{A0F457B0-CD53-A4FF-4E54-98185AFF5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400762" y="4591076"/>
                <a:ext cx="645611" cy="514471"/>
              </a:xfrm>
              <a:prstGeom prst="rect">
                <a:avLst/>
              </a:prstGeom>
            </p:spPr>
          </p:pic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9CEE3F64-4A36-E580-8229-F8CFAE24EBC6}"/>
                </a:ext>
              </a:extLst>
            </p:cNvPr>
            <p:cNvGrpSpPr/>
            <p:nvPr/>
          </p:nvGrpSpPr>
          <p:grpSpPr>
            <a:xfrm>
              <a:off x="4411364" y="4436327"/>
              <a:ext cx="993882" cy="750505"/>
              <a:chOff x="4296784" y="4449449"/>
              <a:chExt cx="993882" cy="750505"/>
            </a:xfrm>
          </p:grpSpPr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04111ECB-9FD3-9ECA-A3A8-E8C4EDE8230E}"/>
                  </a:ext>
                </a:extLst>
              </p:cNvPr>
              <p:cNvGrpSpPr/>
              <p:nvPr/>
            </p:nvGrpSpPr>
            <p:grpSpPr>
              <a:xfrm>
                <a:off x="4296784" y="4449449"/>
                <a:ext cx="993882" cy="750505"/>
                <a:chOff x="1076960" y="4448820"/>
                <a:chExt cx="993882" cy="750505"/>
              </a:xfrm>
            </p:grpSpPr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3ADA0D93-AB11-11CC-AA19-F9085B9A67B1}"/>
                    </a:ext>
                  </a:extLst>
                </p:cNvPr>
                <p:cNvSpPr/>
                <p:nvPr/>
              </p:nvSpPr>
              <p:spPr>
                <a:xfrm>
                  <a:off x="1076960" y="4450080"/>
                  <a:ext cx="993882" cy="749245"/>
                </a:xfrm>
                <a:prstGeom prst="rect">
                  <a:avLst/>
                </a:prstGeom>
                <a:solidFill>
                  <a:srgbClr val="F6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1B6BD81B-D026-9774-C4C7-7FF10BFB9620}"/>
                    </a:ext>
                  </a:extLst>
                </p:cNvPr>
                <p:cNvSpPr/>
                <p:nvPr/>
              </p:nvSpPr>
              <p:spPr>
                <a:xfrm>
                  <a:off x="1076960" y="4448820"/>
                  <a:ext cx="993882" cy="54867"/>
                </a:xfrm>
                <a:prstGeom prst="rect">
                  <a:avLst/>
                </a:prstGeom>
                <a:solidFill>
                  <a:srgbClr val="1A422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29" name="Picture 128" descr="File:HTML5 logo and wordmark.svg - Wikimedia Commons">
                <a:extLst>
                  <a:ext uri="{FF2B5EF4-FFF2-40B4-BE49-F238E27FC236}">
                    <a16:creationId xmlns:a16="http://schemas.microsoft.com/office/drawing/2014/main" id="{15560964-8E99-AE60-BE4C-F70A26B9E0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15380" y="4562611"/>
                <a:ext cx="546281" cy="546281"/>
              </a:xfrm>
              <a:prstGeom prst="rect">
                <a:avLst/>
              </a:prstGeom>
            </p:spPr>
          </p:pic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E3BE6A8-FD00-893A-411A-59B99E1E6EF0}"/>
                </a:ext>
              </a:extLst>
            </p:cNvPr>
            <p:cNvGrpSpPr/>
            <p:nvPr/>
          </p:nvGrpSpPr>
          <p:grpSpPr>
            <a:xfrm>
              <a:off x="5522832" y="4436327"/>
              <a:ext cx="993882" cy="750505"/>
              <a:chOff x="5367269" y="4457085"/>
              <a:chExt cx="993882" cy="750505"/>
            </a:xfrm>
          </p:grpSpPr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D9FFCD48-D2C3-2D09-C95A-4B498EA6C0EA}"/>
                  </a:ext>
                </a:extLst>
              </p:cNvPr>
              <p:cNvGrpSpPr/>
              <p:nvPr/>
            </p:nvGrpSpPr>
            <p:grpSpPr>
              <a:xfrm>
                <a:off x="5367269" y="4457085"/>
                <a:ext cx="993882" cy="750505"/>
                <a:chOff x="1076960" y="4448820"/>
                <a:chExt cx="993882" cy="750505"/>
              </a:xfrm>
            </p:grpSpPr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A8FB9311-CF2E-0A4B-3620-6FB7D109C171}"/>
                    </a:ext>
                  </a:extLst>
                </p:cNvPr>
                <p:cNvSpPr/>
                <p:nvPr/>
              </p:nvSpPr>
              <p:spPr>
                <a:xfrm>
                  <a:off x="1076960" y="4450080"/>
                  <a:ext cx="993882" cy="749245"/>
                </a:xfrm>
                <a:prstGeom prst="rect">
                  <a:avLst/>
                </a:prstGeom>
                <a:solidFill>
                  <a:srgbClr val="F6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DE06CC39-6DC1-8EA8-7ADA-ADE88D2EA3BB}"/>
                    </a:ext>
                  </a:extLst>
                </p:cNvPr>
                <p:cNvSpPr/>
                <p:nvPr/>
              </p:nvSpPr>
              <p:spPr>
                <a:xfrm>
                  <a:off x="1076960" y="4448820"/>
                  <a:ext cx="993882" cy="54867"/>
                </a:xfrm>
                <a:prstGeom prst="rect">
                  <a:avLst/>
                </a:prstGeom>
                <a:solidFill>
                  <a:srgbClr val="1A422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31" name="Picture 130" descr="File:CSS3 logo and wordmark.svg - Wikimedia Commons">
                <a:extLst>
                  <a:ext uri="{FF2B5EF4-FFF2-40B4-BE49-F238E27FC236}">
                    <a16:creationId xmlns:a16="http://schemas.microsoft.com/office/drawing/2014/main" id="{686733D0-1CCA-48E2-F602-19253D8F29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79911" y="4590590"/>
                <a:ext cx="358513" cy="506213"/>
              </a:xfrm>
              <a:prstGeom prst="rect">
                <a:avLst/>
              </a:prstGeom>
            </p:spPr>
          </p:pic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BB33F535-DC11-E71E-65A8-A300EB4D1BB7}"/>
                </a:ext>
              </a:extLst>
            </p:cNvPr>
            <p:cNvGrpSpPr/>
            <p:nvPr/>
          </p:nvGrpSpPr>
          <p:grpSpPr>
            <a:xfrm>
              <a:off x="6634300" y="4436327"/>
              <a:ext cx="993882" cy="750505"/>
              <a:chOff x="6553307" y="4457085"/>
              <a:chExt cx="993882" cy="750505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0E740C5A-9A2D-C764-665A-3BCC088EB518}"/>
                  </a:ext>
                </a:extLst>
              </p:cNvPr>
              <p:cNvGrpSpPr/>
              <p:nvPr/>
            </p:nvGrpSpPr>
            <p:grpSpPr>
              <a:xfrm>
                <a:off x="6553307" y="4457085"/>
                <a:ext cx="993882" cy="750505"/>
                <a:chOff x="1076960" y="4448820"/>
                <a:chExt cx="993882" cy="750505"/>
              </a:xfrm>
            </p:grpSpPr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01F1B4AA-EBA9-F567-D6C3-B926625D0980}"/>
                    </a:ext>
                  </a:extLst>
                </p:cNvPr>
                <p:cNvSpPr/>
                <p:nvPr/>
              </p:nvSpPr>
              <p:spPr>
                <a:xfrm>
                  <a:off x="1076960" y="4450080"/>
                  <a:ext cx="993882" cy="749245"/>
                </a:xfrm>
                <a:prstGeom prst="rect">
                  <a:avLst/>
                </a:prstGeom>
                <a:solidFill>
                  <a:srgbClr val="F6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5C7727AA-53C1-2C55-B104-B407C1458C1C}"/>
                    </a:ext>
                  </a:extLst>
                </p:cNvPr>
                <p:cNvSpPr/>
                <p:nvPr/>
              </p:nvSpPr>
              <p:spPr>
                <a:xfrm>
                  <a:off x="1076960" y="4448820"/>
                  <a:ext cx="993882" cy="54867"/>
                </a:xfrm>
                <a:prstGeom prst="rect">
                  <a:avLst/>
                </a:prstGeom>
                <a:solidFill>
                  <a:srgbClr val="1A422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35" name="Picture 134" descr="Linux Logo PNG Vector (PDF) Free Download">
                <a:extLst>
                  <a:ext uri="{FF2B5EF4-FFF2-40B4-BE49-F238E27FC236}">
                    <a16:creationId xmlns:a16="http://schemas.microsoft.com/office/drawing/2014/main" id="{96CA7031-4353-EA6C-176F-26407BAA3B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48023" y="4562611"/>
                <a:ext cx="594777" cy="594777"/>
              </a:xfrm>
              <a:prstGeom prst="rect">
                <a:avLst/>
              </a:prstGeom>
            </p:spPr>
          </p:pic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B8C7A360-49E4-AED3-A282-602379037D18}"/>
                </a:ext>
              </a:extLst>
            </p:cNvPr>
            <p:cNvGrpSpPr/>
            <p:nvPr/>
          </p:nvGrpSpPr>
          <p:grpSpPr>
            <a:xfrm>
              <a:off x="7745768" y="4436327"/>
              <a:ext cx="993882" cy="750505"/>
              <a:chOff x="7614256" y="4448820"/>
              <a:chExt cx="993882" cy="750505"/>
            </a:xfrm>
          </p:grpSpPr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7731F97A-174E-3802-2054-DA5E41EBE7CF}"/>
                  </a:ext>
                </a:extLst>
              </p:cNvPr>
              <p:cNvGrpSpPr/>
              <p:nvPr/>
            </p:nvGrpSpPr>
            <p:grpSpPr>
              <a:xfrm>
                <a:off x="7614256" y="4448820"/>
                <a:ext cx="993882" cy="750505"/>
                <a:chOff x="1076960" y="4448820"/>
                <a:chExt cx="993882" cy="750505"/>
              </a:xfrm>
            </p:grpSpPr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1C6BF469-83B8-AE14-1104-6E4CBE878D1F}"/>
                    </a:ext>
                  </a:extLst>
                </p:cNvPr>
                <p:cNvSpPr/>
                <p:nvPr/>
              </p:nvSpPr>
              <p:spPr>
                <a:xfrm>
                  <a:off x="1076960" y="4450080"/>
                  <a:ext cx="993882" cy="749245"/>
                </a:xfrm>
                <a:prstGeom prst="rect">
                  <a:avLst/>
                </a:prstGeom>
                <a:solidFill>
                  <a:srgbClr val="F6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73B88719-A007-632A-295D-4B639EE63980}"/>
                    </a:ext>
                  </a:extLst>
                </p:cNvPr>
                <p:cNvSpPr/>
                <p:nvPr/>
              </p:nvSpPr>
              <p:spPr>
                <a:xfrm>
                  <a:off x="1076960" y="4448820"/>
                  <a:ext cx="993882" cy="54867"/>
                </a:xfrm>
                <a:prstGeom prst="rect">
                  <a:avLst/>
                </a:prstGeom>
                <a:solidFill>
                  <a:srgbClr val="1A422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32" name="Picture 131" descr="Terms of Service">
                <a:extLst>
                  <a:ext uri="{FF2B5EF4-FFF2-40B4-BE49-F238E27FC236}">
                    <a16:creationId xmlns:a16="http://schemas.microsoft.com/office/drawing/2014/main" id="{F170CD68-57FD-F4BA-8357-48ABF2ECD8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08771" y="4582874"/>
                <a:ext cx="537263" cy="537263"/>
              </a:xfrm>
              <a:prstGeom prst="rect">
                <a:avLst/>
              </a:prstGeom>
            </p:spPr>
          </p:pic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772C3124-3D62-C063-B524-895E3254CFA3}"/>
                </a:ext>
              </a:extLst>
            </p:cNvPr>
            <p:cNvGrpSpPr/>
            <p:nvPr/>
          </p:nvGrpSpPr>
          <p:grpSpPr>
            <a:xfrm>
              <a:off x="8857236" y="4436327"/>
              <a:ext cx="993882" cy="750505"/>
              <a:chOff x="8790336" y="4436327"/>
              <a:chExt cx="993882" cy="750505"/>
            </a:xfrm>
          </p:grpSpPr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58E76C95-BD4A-84B1-3CDD-2C8B832062EB}"/>
                  </a:ext>
                </a:extLst>
              </p:cNvPr>
              <p:cNvGrpSpPr/>
              <p:nvPr/>
            </p:nvGrpSpPr>
            <p:grpSpPr>
              <a:xfrm>
                <a:off x="8790336" y="4436327"/>
                <a:ext cx="993882" cy="750505"/>
                <a:chOff x="1076960" y="4448820"/>
                <a:chExt cx="993882" cy="750505"/>
              </a:xfrm>
            </p:grpSpPr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A70EFCBD-28B4-7789-C9D7-9417D82316F5}"/>
                    </a:ext>
                  </a:extLst>
                </p:cNvPr>
                <p:cNvSpPr/>
                <p:nvPr/>
              </p:nvSpPr>
              <p:spPr>
                <a:xfrm>
                  <a:off x="1076960" y="4450080"/>
                  <a:ext cx="993882" cy="749245"/>
                </a:xfrm>
                <a:prstGeom prst="rect">
                  <a:avLst/>
                </a:prstGeom>
                <a:solidFill>
                  <a:srgbClr val="F6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3055973F-1D46-4310-02A3-EBD7F8E84C47}"/>
                    </a:ext>
                  </a:extLst>
                </p:cNvPr>
                <p:cNvSpPr/>
                <p:nvPr/>
              </p:nvSpPr>
              <p:spPr>
                <a:xfrm>
                  <a:off x="1076960" y="4448820"/>
                  <a:ext cx="993882" cy="54867"/>
                </a:xfrm>
                <a:prstGeom prst="rect">
                  <a:avLst/>
                </a:prstGeom>
                <a:solidFill>
                  <a:srgbClr val="1A422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33" name="Picture 132" descr="File:Mysql logo.png - Wikitech">
                <a:extLst>
                  <a:ext uri="{FF2B5EF4-FFF2-40B4-BE49-F238E27FC236}">
                    <a16:creationId xmlns:a16="http://schemas.microsoft.com/office/drawing/2014/main" id="{85A2E9FA-C923-199C-F3B6-BEC713B028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04723" y="4623776"/>
                <a:ext cx="752855" cy="387990"/>
              </a:xfrm>
              <a:prstGeom prst="rect">
                <a:avLst/>
              </a:prstGeom>
            </p:spPr>
          </p:pic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4C5AD6AD-43D9-8A41-C472-3F2D81F2BC07}"/>
                </a:ext>
              </a:extLst>
            </p:cNvPr>
            <p:cNvGrpSpPr/>
            <p:nvPr/>
          </p:nvGrpSpPr>
          <p:grpSpPr>
            <a:xfrm>
              <a:off x="9968700" y="4436327"/>
              <a:ext cx="993882" cy="750505"/>
              <a:chOff x="9968700" y="4457085"/>
              <a:chExt cx="993882" cy="750505"/>
            </a:xfrm>
          </p:grpSpPr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E02F09BE-7C39-41B3-B2B5-C921F0ADC27A}"/>
                  </a:ext>
                </a:extLst>
              </p:cNvPr>
              <p:cNvGrpSpPr/>
              <p:nvPr/>
            </p:nvGrpSpPr>
            <p:grpSpPr>
              <a:xfrm>
                <a:off x="9968700" y="4457085"/>
                <a:ext cx="993882" cy="750505"/>
                <a:chOff x="1076960" y="4448820"/>
                <a:chExt cx="993882" cy="750505"/>
              </a:xfrm>
            </p:grpSpPr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8D49C7F5-BE00-1543-8B43-80FBC6D46E81}"/>
                    </a:ext>
                  </a:extLst>
                </p:cNvPr>
                <p:cNvSpPr/>
                <p:nvPr/>
              </p:nvSpPr>
              <p:spPr>
                <a:xfrm>
                  <a:off x="1076960" y="4450080"/>
                  <a:ext cx="993882" cy="749245"/>
                </a:xfrm>
                <a:prstGeom prst="rect">
                  <a:avLst/>
                </a:prstGeom>
                <a:solidFill>
                  <a:srgbClr val="F6EFE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D44A58E5-3E80-3DA2-215F-C574709D3732}"/>
                    </a:ext>
                  </a:extLst>
                </p:cNvPr>
                <p:cNvSpPr/>
                <p:nvPr/>
              </p:nvSpPr>
              <p:spPr>
                <a:xfrm>
                  <a:off x="1076960" y="4448820"/>
                  <a:ext cx="993882" cy="54867"/>
                </a:xfrm>
                <a:prstGeom prst="rect">
                  <a:avLst/>
                </a:prstGeom>
                <a:solidFill>
                  <a:srgbClr val="1A422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34" name="Picture 133" descr="Github Logo - Free social media icons">
                <a:extLst>
                  <a:ext uri="{FF2B5EF4-FFF2-40B4-BE49-F238E27FC236}">
                    <a16:creationId xmlns:a16="http://schemas.microsoft.com/office/drawing/2014/main" id="{65BAFCFE-AC93-FB42-BE77-C0679FED2B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217773" y="4590590"/>
                <a:ext cx="495735" cy="49573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75154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9F587-5FC5-253D-7F49-1FEE67D55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CE0E06-86FD-DCFD-3A9B-1209C587C681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78725F-26B7-0881-6A94-6E50A4CCB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00E948-9B28-FBB3-C4EA-36889DF2AA4A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79DA9-5515-5EA8-D9DD-27A330CE4B22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389C7C-B861-0557-BA3C-2387974E39E5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43E33E2F-6A74-73FF-790F-345D29297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6BFCE3-EFA5-F2DE-14D2-750DB5D9602B}"/>
              </a:ext>
            </a:extLst>
          </p:cNvPr>
          <p:cNvSpPr txBox="1"/>
          <p:nvPr/>
        </p:nvSpPr>
        <p:spPr>
          <a:xfrm>
            <a:off x="429056" y="711111"/>
            <a:ext cx="9137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Quality Assurance &amp; Testing Strategy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C8C0DF-94A4-F9B9-3313-25C063EE8512}"/>
              </a:ext>
            </a:extLst>
          </p:cNvPr>
          <p:cNvSpPr txBox="1"/>
          <p:nvPr/>
        </p:nvSpPr>
        <p:spPr>
          <a:xfrm>
            <a:off x="476708" y="1256379"/>
            <a:ext cx="11238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Aptos" panose="020B0004020202020204" pitchFamily="34" charset="0"/>
              </a:rPr>
              <a:t>Our QA strategy ensures that every requirement is tested, with a clear entry and exit criterion for each phase. The work encompasses the eight (8) specified test types mandated by the TOR.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017B975-8D74-C242-3438-2E9EAF4759D5}"/>
              </a:ext>
            </a:extLst>
          </p:cNvPr>
          <p:cNvSpPr/>
          <p:nvPr/>
        </p:nvSpPr>
        <p:spPr>
          <a:xfrm>
            <a:off x="535352" y="1969797"/>
            <a:ext cx="11179940" cy="523220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555660-427F-B125-CE32-47C8B7C09DA1}"/>
              </a:ext>
            </a:extLst>
          </p:cNvPr>
          <p:cNvSpPr txBox="1"/>
          <p:nvPr/>
        </p:nvSpPr>
        <p:spPr>
          <a:xfrm>
            <a:off x="607069" y="2088353"/>
            <a:ext cx="11238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The project encompasses a formal V-Model approach with eight specified test types: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A2B466D6-8807-682D-8D59-3B52C0B8B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52" y="2766751"/>
            <a:ext cx="2697083" cy="153467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5ACFB15-9A2A-E8DA-BF3B-E9AC420F66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2971" y="2766751"/>
            <a:ext cx="2697083" cy="153467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D972B1B-D149-6191-07F9-E38386066C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590" y="2766751"/>
            <a:ext cx="2697083" cy="153467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DFDEEBB-7A9C-6602-FB52-51A2A26D14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8209" y="2766751"/>
            <a:ext cx="2697083" cy="153467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791ADCA-B9E7-E724-9333-A6E810D789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352" y="4452044"/>
            <a:ext cx="2697085" cy="153468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692C04F-9B48-4D5D-FB07-86C804CE75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0588" y="4452043"/>
            <a:ext cx="2697083" cy="153467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11B71FA-9B35-AC8F-97AD-0B9AA846D0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2971" y="4452043"/>
            <a:ext cx="2697083" cy="153467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6B34522-B7B5-56D8-37D2-9FC03A2A87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8205" y="4452043"/>
            <a:ext cx="2697083" cy="153467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BF634579-DF84-1681-B3B1-7A879609E0EA}"/>
              </a:ext>
            </a:extLst>
          </p:cNvPr>
          <p:cNvSpPr txBox="1"/>
          <p:nvPr/>
        </p:nvSpPr>
        <p:spPr>
          <a:xfrm>
            <a:off x="607069" y="3223298"/>
            <a:ext cx="1435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A4230"/>
                </a:solidFill>
                <a:latin typeface="Aptos" panose="020B0004020202020204" pitchFamily="34" charset="0"/>
              </a:rPr>
              <a:t>Unit Testing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B72577-2F24-C38E-3D65-934A9E61E371}"/>
              </a:ext>
            </a:extLst>
          </p:cNvPr>
          <p:cNvSpPr txBox="1"/>
          <p:nvPr/>
        </p:nvSpPr>
        <p:spPr>
          <a:xfrm>
            <a:off x="607069" y="3491799"/>
            <a:ext cx="24840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100% coverage on critical business logic.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0030EF-0048-2874-3B3D-D927A209E5DE}"/>
              </a:ext>
            </a:extLst>
          </p:cNvPr>
          <p:cNvSpPr txBox="1"/>
          <p:nvPr/>
        </p:nvSpPr>
        <p:spPr>
          <a:xfrm>
            <a:off x="3448081" y="3223298"/>
            <a:ext cx="1894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A4230"/>
                </a:solidFill>
                <a:latin typeface="Aptos" panose="020B0004020202020204" pitchFamily="34" charset="0"/>
              </a:rPr>
              <a:t>Integration Testing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DBED3B8-DA2A-1763-B04D-D685F2E516B8}"/>
              </a:ext>
            </a:extLst>
          </p:cNvPr>
          <p:cNvSpPr txBox="1"/>
          <p:nvPr/>
        </p:nvSpPr>
        <p:spPr>
          <a:xfrm>
            <a:off x="3448081" y="3491799"/>
            <a:ext cx="24840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API contracts and database interactions.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E250F7-F7C8-EAFB-7831-90D3038E789F}"/>
              </a:ext>
            </a:extLst>
          </p:cNvPr>
          <p:cNvSpPr txBox="1"/>
          <p:nvPr/>
        </p:nvSpPr>
        <p:spPr>
          <a:xfrm>
            <a:off x="6275700" y="3223298"/>
            <a:ext cx="1435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A4230"/>
                </a:solidFill>
                <a:latin typeface="Aptos" panose="020B0004020202020204" pitchFamily="34" charset="0"/>
              </a:rPr>
              <a:t>System Testing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E13702-A99A-1908-3745-DE9EED1581D7}"/>
              </a:ext>
            </a:extLst>
          </p:cNvPr>
          <p:cNvSpPr txBox="1"/>
          <p:nvPr/>
        </p:nvSpPr>
        <p:spPr>
          <a:xfrm>
            <a:off x="6275700" y="3491799"/>
            <a:ext cx="24840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End-to-end web and mobile testing against the SRS.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C0658D-0842-0303-2C47-012A577CB870}"/>
              </a:ext>
            </a:extLst>
          </p:cNvPr>
          <p:cNvSpPr txBox="1"/>
          <p:nvPr/>
        </p:nvSpPr>
        <p:spPr>
          <a:xfrm>
            <a:off x="9100855" y="3223298"/>
            <a:ext cx="261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A4230"/>
                </a:solidFill>
                <a:latin typeface="Aptos" panose="020B0004020202020204" pitchFamily="34" charset="0"/>
              </a:rPr>
              <a:t>Performance/Load Testing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C67A7B4-7132-E1B0-4338-BD7C6D530481}"/>
              </a:ext>
            </a:extLst>
          </p:cNvPr>
          <p:cNvSpPr txBox="1"/>
          <p:nvPr/>
        </p:nvSpPr>
        <p:spPr>
          <a:xfrm>
            <a:off x="9100856" y="3491799"/>
            <a:ext cx="24840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Verify the strict performance budget (e.g., LCP &lt; 2.5s).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B89339-B27C-4B53-E6BB-0BCC3087C4C7}"/>
              </a:ext>
            </a:extLst>
          </p:cNvPr>
          <p:cNvSpPr txBox="1"/>
          <p:nvPr/>
        </p:nvSpPr>
        <p:spPr>
          <a:xfrm>
            <a:off x="607068" y="4902509"/>
            <a:ext cx="1804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A4230"/>
                </a:solidFill>
                <a:latin typeface="Aptos" panose="020B0004020202020204" pitchFamily="34" charset="0"/>
              </a:rPr>
              <a:t>Security Testing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DB035E4-3407-5F65-9F33-CCB921B9A6AC}"/>
              </a:ext>
            </a:extLst>
          </p:cNvPr>
          <p:cNvSpPr txBox="1"/>
          <p:nvPr/>
        </p:nvSpPr>
        <p:spPr>
          <a:xfrm>
            <a:off x="607069" y="5162045"/>
            <a:ext cx="24840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SAST, DAST, and an independent VAPT by a third-party expert.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839A06-58DB-B4BE-6638-E490EE291BD5}"/>
              </a:ext>
            </a:extLst>
          </p:cNvPr>
          <p:cNvSpPr txBox="1"/>
          <p:nvPr/>
        </p:nvSpPr>
        <p:spPr>
          <a:xfrm>
            <a:off x="3448079" y="4902509"/>
            <a:ext cx="2020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A4230"/>
                </a:solidFill>
                <a:latin typeface="Aptos" panose="020B0004020202020204" pitchFamily="34" charset="0"/>
              </a:rPr>
              <a:t>Functionality Testing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C76FA3-9A97-CC8B-D4CA-38EF9EE1CF5F}"/>
              </a:ext>
            </a:extLst>
          </p:cNvPr>
          <p:cNvSpPr txBox="1"/>
          <p:nvPr/>
        </p:nvSpPr>
        <p:spPr>
          <a:xfrm>
            <a:off x="3448079" y="5162045"/>
            <a:ext cx="24840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Requirement-by-requirement verification via traceability matrix.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414B82D-630F-A5D1-7074-6A89C9C2EE17}"/>
              </a:ext>
            </a:extLst>
          </p:cNvPr>
          <p:cNvSpPr txBox="1"/>
          <p:nvPr/>
        </p:nvSpPr>
        <p:spPr>
          <a:xfrm>
            <a:off x="6275696" y="4902509"/>
            <a:ext cx="2694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A4230"/>
                </a:solidFill>
                <a:latin typeface="Aptos" panose="020B0004020202020204" pitchFamily="34" charset="0"/>
              </a:rPr>
              <a:t>User Acceptance Testing (UAT)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EE7780-D97E-3B7B-41B8-B70AA101CAD6}"/>
              </a:ext>
            </a:extLst>
          </p:cNvPr>
          <p:cNvSpPr txBox="1"/>
          <p:nvPr/>
        </p:nvSpPr>
        <p:spPr>
          <a:xfrm>
            <a:off x="6275697" y="5162045"/>
            <a:ext cx="24840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Real-world testing with 8-12 entrepreneurs across ≥4 districts.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B123774-DD4B-9BFF-934B-8A7E0A75F680}"/>
              </a:ext>
            </a:extLst>
          </p:cNvPr>
          <p:cNvSpPr txBox="1"/>
          <p:nvPr/>
        </p:nvSpPr>
        <p:spPr>
          <a:xfrm>
            <a:off x="9100856" y="4902509"/>
            <a:ext cx="2194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A4230"/>
                </a:solidFill>
                <a:latin typeface="Aptos" panose="020B0004020202020204" pitchFamily="34" charset="0"/>
              </a:rPr>
              <a:t>BCC SQTC Testing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2942A5-6211-4FC1-9DDA-B0026BFD39AC}"/>
              </a:ext>
            </a:extLst>
          </p:cNvPr>
          <p:cNvSpPr txBox="1"/>
          <p:nvPr/>
        </p:nvSpPr>
        <p:spPr>
          <a:xfrm>
            <a:off x="9100856" y="5162045"/>
            <a:ext cx="24840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Full support provided for testing at the BCC Software Quality Testing Centre.</a:t>
            </a:r>
          </a:p>
        </p:txBody>
      </p:sp>
    </p:spTree>
    <p:extLst>
      <p:ext uri="{BB962C8B-B14F-4D97-AF65-F5344CB8AC3E}">
        <p14:creationId xmlns:p14="http://schemas.microsoft.com/office/powerpoint/2010/main" val="3876856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48D11-4CC2-AD62-B546-7421966DC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8FB59A-E8EC-E02D-61FD-A78E4B557DBE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9669B-42F0-723A-73C3-A0F3D5B20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052C8F-14AD-5751-223E-5209A08C3FE2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20D694-8B62-D304-9828-F0ECDAC92A0C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3E26CD-391A-EF94-2CD2-3D011A51D952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FE334B-CFAC-E689-51AB-09E89006BA4A}"/>
              </a:ext>
            </a:extLst>
          </p:cNvPr>
          <p:cNvSpPr txBox="1"/>
          <p:nvPr/>
        </p:nvSpPr>
        <p:spPr>
          <a:xfrm>
            <a:off x="535352" y="705411"/>
            <a:ext cx="10701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Multi-Tier Architectural Framework</a:t>
            </a:r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267A8BC6-B9D5-EAE4-7285-14438AFFD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7EDE5F-9A04-316A-C03A-FFF9E494A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0579" y="1391081"/>
            <a:ext cx="6852920" cy="456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94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88F3D-810A-F824-2B71-C4F920912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DE0193-62A7-2B13-47B6-449E747A500B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2D664-3CBF-D8BB-7228-A25FF3D55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2409A1-BD34-94A6-FC98-04CD7D03AC79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AED62-2FBF-6420-01D0-10F21267E635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43144A-A580-1652-9A04-0DAD48735335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838CB5-8D5A-2CC7-6CF5-3AAB30606D9E}"/>
              </a:ext>
            </a:extLst>
          </p:cNvPr>
          <p:cNvSpPr txBox="1"/>
          <p:nvPr/>
        </p:nvSpPr>
        <p:spPr>
          <a:xfrm>
            <a:off x="535352" y="705411"/>
            <a:ext cx="10701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Software Development Life Cycle (SDLC) Methodology</a:t>
            </a:r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6FBFCB0F-1380-F7B6-0A57-A2BBED531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1462F7-D1F5-660E-BB4A-F8DAE397E7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391081"/>
            <a:ext cx="7772400" cy="498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24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BB5CE-FA8F-D520-3560-4B683533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A603D4-07CA-B4A7-59BF-6DE3E9336547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F5CEE-D6EE-179E-AC8E-583D23D86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A5B8F8-61AE-8E06-10A4-58F8DA5E739F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3C997-4C5F-279D-6476-6EB5DC894DAE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864E70-0B9E-BFCC-B5BE-8ED6F6A997D9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1B2C9B1A-80B9-F339-07D2-4B118FBB5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9DEDF39-BD4B-3DB6-592A-D1C0D1F6C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52" y="648676"/>
            <a:ext cx="11067368" cy="553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21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6187-BC52-8EF5-100E-59D154190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AE49B8-7794-5B18-A26F-1AC02A6FB46A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0497B-10E9-409E-03FF-FD64C459A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55300B-2E43-2099-9927-3775054271AC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616763-DF6C-5E79-8261-856EF1BDD697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2CD68E-283C-10D4-FC9D-2A7511570890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E5BA391D-1ACB-223F-5D6E-2AEA19FD8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CE3929-1A20-9B04-7C93-1205029109C0}"/>
              </a:ext>
            </a:extLst>
          </p:cNvPr>
          <p:cNvSpPr txBox="1"/>
          <p:nvPr/>
        </p:nvSpPr>
        <p:spPr>
          <a:xfrm>
            <a:off x="450151" y="855626"/>
            <a:ext cx="11502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Detailed Project Timeline 01</a:t>
            </a:r>
            <a:endParaRPr lang="en-US" sz="1000" dirty="0">
              <a:solidFill>
                <a:srgbClr val="1A4230"/>
              </a:solidFill>
              <a:latin typeface="Playfair Display Medium" panose="00000500000000000000" pitchFamily="2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ED56BBC-2F88-FA8A-2BA2-060BBBA08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399264"/>
              </p:ext>
            </p:extLst>
          </p:nvPr>
        </p:nvGraphicFramePr>
        <p:xfrm>
          <a:off x="535352" y="1695675"/>
          <a:ext cx="11108657" cy="44522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880">
                  <a:extLst>
                    <a:ext uri="{9D8B030D-6E8A-4147-A177-3AD203B41FA5}">
                      <a16:colId xmlns:a16="http://schemas.microsoft.com/office/drawing/2014/main" val="1407273999"/>
                    </a:ext>
                  </a:extLst>
                </a:gridCol>
                <a:gridCol w="4808441">
                  <a:extLst>
                    <a:ext uri="{9D8B030D-6E8A-4147-A177-3AD203B41FA5}">
                      <a16:colId xmlns:a16="http://schemas.microsoft.com/office/drawing/2014/main" val="2701618761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1656654549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1269044672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2480727061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3785414356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833662853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3032544358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1569511130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340332694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4281100999"/>
                    </a:ext>
                  </a:extLst>
                </a:gridCol>
                <a:gridCol w="579330">
                  <a:extLst>
                    <a:ext uri="{9D8B030D-6E8A-4147-A177-3AD203B41FA5}">
                      <a16:colId xmlns:a16="http://schemas.microsoft.com/office/drawing/2014/main" val="872009588"/>
                    </a:ext>
                  </a:extLst>
                </a:gridCol>
                <a:gridCol w="564847">
                  <a:extLst>
                    <a:ext uri="{9D8B030D-6E8A-4147-A177-3AD203B41FA5}">
                      <a16:colId xmlns:a16="http://schemas.microsoft.com/office/drawing/2014/main" val="2006574873"/>
                    </a:ext>
                  </a:extLst>
                </a:gridCol>
                <a:gridCol w="579330">
                  <a:extLst>
                    <a:ext uri="{9D8B030D-6E8A-4147-A177-3AD203B41FA5}">
                      <a16:colId xmlns:a16="http://schemas.microsoft.com/office/drawing/2014/main" val="2181665817"/>
                    </a:ext>
                  </a:extLst>
                </a:gridCol>
              </a:tblGrid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SL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Activity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W1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W2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W3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W4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W5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W6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W7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W8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W9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W10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W11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W12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299916393"/>
                  </a:ext>
                </a:extLst>
              </a:tr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PHASE 1: RESEARCH &amp; DESIGN (2 Weeks)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836351748"/>
                  </a:ext>
                </a:extLst>
              </a:tr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Kick-off &amp; Inception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472568322"/>
                  </a:ext>
                </a:extLst>
              </a:tr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PIU Focal Point Nomination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870723558"/>
                  </a:ext>
                </a:extLst>
              </a:tr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Environment Setup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214740730"/>
                  </a:ext>
                </a:extLst>
              </a:tr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Review of Existing Platform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853814574"/>
                  </a:ext>
                </a:extLst>
              </a:tr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User Research (≥4 Districts)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688297092"/>
                  </a:ext>
                </a:extLst>
              </a:tr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Comparison Report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184634660"/>
                  </a:ext>
                </a:extLst>
              </a:tr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Wireframes &amp; Prototype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117884518"/>
                  </a:ext>
                </a:extLst>
              </a:tr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Advisory Board Validation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886514524"/>
                  </a:ext>
                </a:extLst>
              </a:tr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Migration Rule Set &amp; Mapping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148189091"/>
                  </a:ext>
                </a:extLst>
              </a:tr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SRS Drafting &amp; Finalization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352585106"/>
                  </a:ext>
                </a:extLst>
              </a:tr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SRS Acceptance Workshop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59581506"/>
                  </a:ext>
                </a:extLst>
              </a:tr>
              <a:tr h="3180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13</a:t>
                      </a:r>
                      <a:endParaRPr lang="en-US" sz="1200" dirty="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GATE G1: SRS Approved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◆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28040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0355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358BE-8319-9CD4-8175-4AE3A0CF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14AED2-983C-61C6-03EC-09113DFA720E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3BA88C-766B-9179-F921-B0825B071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E9684F-AB75-D22B-895E-1CBB8044DFAB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3EA55E-0BA4-1ADE-E57F-E72C56854018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55530B-4F2A-C803-B02B-57C9D166C730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C0DA5003-31E0-55A0-5637-33EB51D5A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384582-9DDC-7C8A-1465-38D0CA12A790}"/>
              </a:ext>
            </a:extLst>
          </p:cNvPr>
          <p:cNvSpPr txBox="1"/>
          <p:nvPr/>
        </p:nvSpPr>
        <p:spPr>
          <a:xfrm>
            <a:off x="450151" y="855626"/>
            <a:ext cx="11502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Detailed Project Timeline 02</a:t>
            </a:r>
            <a:endParaRPr lang="en-US" sz="1050" dirty="0">
              <a:solidFill>
                <a:srgbClr val="1A4230"/>
              </a:solidFill>
              <a:latin typeface="Playfair Display Medium" panose="00000500000000000000" pitchFamily="2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21E7823-46D7-FCD1-7AF3-C5552C909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507701"/>
              </p:ext>
            </p:extLst>
          </p:nvPr>
        </p:nvGraphicFramePr>
        <p:xfrm>
          <a:off x="535352" y="1589992"/>
          <a:ext cx="11108659" cy="47471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881">
                  <a:extLst>
                    <a:ext uri="{9D8B030D-6E8A-4147-A177-3AD203B41FA5}">
                      <a16:colId xmlns:a16="http://schemas.microsoft.com/office/drawing/2014/main" val="841982390"/>
                    </a:ext>
                  </a:extLst>
                </a:gridCol>
                <a:gridCol w="4808440">
                  <a:extLst>
                    <a:ext uri="{9D8B030D-6E8A-4147-A177-3AD203B41FA5}">
                      <a16:colId xmlns:a16="http://schemas.microsoft.com/office/drawing/2014/main" val="1601891699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3464459979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457967678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3289497434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1945826314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1092846839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2438925659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152830935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1946333076"/>
                    </a:ext>
                  </a:extLst>
                </a:gridCol>
                <a:gridCol w="448981">
                  <a:extLst>
                    <a:ext uri="{9D8B030D-6E8A-4147-A177-3AD203B41FA5}">
                      <a16:colId xmlns:a16="http://schemas.microsoft.com/office/drawing/2014/main" val="705798093"/>
                    </a:ext>
                  </a:extLst>
                </a:gridCol>
                <a:gridCol w="579331">
                  <a:extLst>
                    <a:ext uri="{9D8B030D-6E8A-4147-A177-3AD203B41FA5}">
                      <a16:colId xmlns:a16="http://schemas.microsoft.com/office/drawing/2014/main" val="297179280"/>
                    </a:ext>
                  </a:extLst>
                </a:gridCol>
                <a:gridCol w="564847">
                  <a:extLst>
                    <a:ext uri="{9D8B030D-6E8A-4147-A177-3AD203B41FA5}">
                      <a16:colId xmlns:a16="http://schemas.microsoft.com/office/drawing/2014/main" val="910335020"/>
                    </a:ext>
                  </a:extLst>
                </a:gridCol>
                <a:gridCol w="579331">
                  <a:extLst>
                    <a:ext uri="{9D8B030D-6E8A-4147-A177-3AD203B41FA5}">
                      <a16:colId xmlns:a16="http://schemas.microsoft.com/office/drawing/2014/main" val="1214581162"/>
                    </a:ext>
                  </a:extLst>
                </a:gridCol>
              </a:tblGrid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SL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Activity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W1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W2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W3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W4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>
                    <a:solidFill>
                      <a:srgbClr val="E7EB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W5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>
                    <a:solidFill>
                      <a:srgbClr val="E7EB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W6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W7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W8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W9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W10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W11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W12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358168806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Wave 1: Foundation (Weeks 3-4)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132415060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M01: Identity, Registration &amp; Auth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9986420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M02: Profile &amp; Auto Approval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453739861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18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M17: Audit &amp; M18: Admin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135621938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19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Migration Dry Run 1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93364693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Wave 1 Demo to PIU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708180130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21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 Wave 2: Discovery (Weeks 4-5)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560764312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22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 03: Virtual Marketplace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845281997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 04: Product Catalogue &amp; Media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232768993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24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 05: Search &amp; M14: CMS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819257325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Migration Dry Run 2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223342242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Wave 2 Demo to PIU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065091762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Wave 3: Commerce (Weeks 5-6)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902378228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 06: Order &amp; Fulfillment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533604595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29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 07: Payments &amp; MFS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69594492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 08: Accounting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343116075"/>
                  </a:ext>
                </a:extLst>
              </a:tr>
              <a:tr h="263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31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Wave 3 Demo to PIU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07590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317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76DDF-C859-EE4E-0096-33494516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EE5388-E009-6BFE-055E-9E340F771913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6F2E8-D733-4453-36B0-1B1716496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6B625A-F8C2-A7F0-378D-97B1627AA541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B43E90-6FCD-5B5F-882A-8B31AC53EDD5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074E7A-4ADE-A6D5-ABA0-8153DA7F719A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53D4E483-F6CC-0F68-0D5A-886C7FD5C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C1136D-C58A-9527-74D9-6E441FA3CEF3}"/>
              </a:ext>
            </a:extLst>
          </p:cNvPr>
          <p:cNvSpPr txBox="1"/>
          <p:nvPr/>
        </p:nvSpPr>
        <p:spPr>
          <a:xfrm>
            <a:off x="450151" y="855626"/>
            <a:ext cx="11502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Detailed Project Timeline 03</a:t>
            </a:r>
            <a:endParaRPr lang="en-US" sz="1050" dirty="0">
              <a:solidFill>
                <a:srgbClr val="1A4230"/>
              </a:solidFill>
              <a:latin typeface="Playfair Display Medium" panose="00000500000000000000" pitchFamily="2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17DCDA7-F5B2-246A-7E00-55C3B2736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35704"/>
              </p:ext>
            </p:extLst>
          </p:nvPr>
        </p:nvGraphicFramePr>
        <p:xfrm>
          <a:off x="535351" y="1673157"/>
          <a:ext cx="10982195" cy="4581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9781">
                  <a:extLst>
                    <a:ext uri="{9D8B030D-6E8A-4147-A177-3AD203B41FA5}">
                      <a16:colId xmlns:a16="http://schemas.microsoft.com/office/drawing/2014/main" val="2128999693"/>
                    </a:ext>
                  </a:extLst>
                </a:gridCol>
                <a:gridCol w="4753704">
                  <a:extLst>
                    <a:ext uri="{9D8B030D-6E8A-4147-A177-3AD203B41FA5}">
                      <a16:colId xmlns:a16="http://schemas.microsoft.com/office/drawing/2014/main" val="6606401"/>
                    </a:ext>
                  </a:extLst>
                </a:gridCol>
                <a:gridCol w="443869">
                  <a:extLst>
                    <a:ext uri="{9D8B030D-6E8A-4147-A177-3AD203B41FA5}">
                      <a16:colId xmlns:a16="http://schemas.microsoft.com/office/drawing/2014/main" val="3060890261"/>
                    </a:ext>
                  </a:extLst>
                </a:gridCol>
                <a:gridCol w="443869">
                  <a:extLst>
                    <a:ext uri="{9D8B030D-6E8A-4147-A177-3AD203B41FA5}">
                      <a16:colId xmlns:a16="http://schemas.microsoft.com/office/drawing/2014/main" val="3159121572"/>
                    </a:ext>
                  </a:extLst>
                </a:gridCol>
                <a:gridCol w="443869">
                  <a:extLst>
                    <a:ext uri="{9D8B030D-6E8A-4147-A177-3AD203B41FA5}">
                      <a16:colId xmlns:a16="http://schemas.microsoft.com/office/drawing/2014/main" val="2283369634"/>
                    </a:ext>
                  </a:extLst>
                </a:gridCol>
                <a:gridCol w="443869">
                  <a:extLst>
                    <a:ext uri="{9D8B030D-6E8A-4147-A177-3AD203B41FA5}">
                      <a16:colId xmlns:a16="http://schemas.microsoft.com/office/drawing/2014/main" val="3407136038"/>
                    </a:ext>
                  </a:extLst>
                </a:gridCol>
                <a:gridCol w="443869">
                  <a:extLst>
                    <a:ext uri="{9D8B030D-6E8A-4147-A177-3AD203B41FA5}">
                      <a16:colId xmlns:a16="http://schemas.microsoft.com/office/drawing/2014/main" val="3245873260"/>
                    </a:ext>
                  </a:extLst>
                </a:gridCol>
                <a:gridCol w="443869">
                  <a:extLst>
                    <a:ext uri="{9D8B030D-6E8A-4147-A177-3AD203B41FA5}">
                      <a16:colId xmlns:a16="http://schemas.microsoft.com/office/drawing/2014/main" val="1193324647"/>
                    </a:ext>
                  </a:extLst>
                </a:gridCol>
                <a:gridCol w="443869">
                  <a:extLst>
                    <a:ext uri="{9D8B030D-6E8A-4147-A177-3AD203B41FA5}">
                      <a16:colId xmlns:a16="http://schemas.microsoft.com/office/drawing/2014/main" val="3122253544"/>
                    </a:ext>
                  </a:extLst>
                </a:gridCol>
                <a:gridCol w="443869">
                  <a:extLst>
                    <a:ext uri="{9D8B030D-6E8A-4147-A177-3AD203B41FA5}">
                      <a16:colId xmlns:a16="http://schemas.microsoft.com/office/drawing/2014/main" val="4279161485"/>
                    </a:ext>
                  </a:extLst>
                </a:gridCol>
                <a:gridCol w="443869">
                  <a:extLst>
                    <a:ext uri="{9D8B030D-6E8A-4147-A177-3AD203B41FA5}">
                      <a16:colId xmlns:a16="http://schemas.microsoft.com/office/drawing/2014/main" val="178165456"/>
                    </a:ext>
                  </a:extLst>
                </a:gridCol>
                <a:gridCol w="572736">
                  <a:extLst>
                    <a:ext uri="{9D8B030D-6E8A-4147-A177-3AD203B41FA5}">
                      <a16:colId xmlns:a16="http://schemas.microsoft.com/office/drawing/2014/main" val="781874098"/>
                    </a:ext>
                  </a:extLst>
                </a:gridCol>
                <a:gridCol w="558417">
                  <a:extLst>
                    <a:ext uri="{9D8B030D-6E8A-4147-A177-3AD203B41FA5}">
                      <a16:colId xmlns:a16="http://schemas.microsoft.com/office/drawing/2014/main" val="618828676"/>
                    </a:ext>
                  </a:extLst>
                </a:gridCol>
                <a:gridCol w="572736">
                  <a:extLst>
                    <a:ext uri="{9D8B030D-6E8A-4147-A177-3AD203B41FA5}">
                      <a16:colId xmlns:a16="http://schemas.microsoft.com/office/drawing/2014/main" val="3048478115"/>
                    </a:ext>
                  </a:extLst>
                </a:gridCol>
              </a:tblGrid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SL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Activity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W1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W2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W3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W4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W5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W6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>
                    <a:solidFill>
                      <a:srgbClr val="E7EB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W7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>
                    <a:solidFill>
                      <a:srgbClr val="E7EB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W8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W9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W10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W11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W12</a:t>
                      </a:r>
                      <a:endParaRPr lang="en-US" sz="12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518921083"/>
                  </a:ext>
                </a:extLst>
              </a:tr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33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M09: Dashboards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840544297"/>
                  </a:ext>
                </a:extLst>
              </a:tr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34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M10: Messaging &amp; Notifications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50232234"/>
                  </a:ext>
                </a:extLst>
              </a:tr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35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M11: Reviews &amp; M12: Complaints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2156029"/>
                  </a:ext>
                </a:extLst>
              </a:tr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36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M13: Learning &amp; M15: Reporting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803010654"/>
                  </a:ext>
                </a:extLst>
              </a:tr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37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M16: Trust &amp; Safety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243389746"/>
                  </a:ext>
                </a:extLst>
              </a:tr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38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Wave 4 Demo to PIU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768453800"/>
                  </a:ext>
                </a:extLst>
              </a:tr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39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Wave 5: Mobile &amp; Hardening (Weeks 7-8)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449421862"/>
                  </a:ext>
                </a:extLst>
              </a:tr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Flutter Android &amp; iOS Apps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829295513"/>
                  </a:ext>
                </a:extLst>
              </a:tr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41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Offline Sync &amp; Push Notifications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654270820"/>
                  </a:ext>
                </a:extLst>
              </a:tr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42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Performance Tuning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075576748"/>
                  </a:ext>
                </a:extLst>
              </a:tr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43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Migration Dry Run 3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42725392"/>
                  </a:ext>
                </a:extLst>
              </a:tr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44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Wave 5 Demo to PIU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261674829"/>
                  </a:ext>
                </a:extLst>
              </a:tr>
              <a:tr h="327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45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GATE G2: Design Docs Signed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◆</a:t>
                      </a:r>
                      <a:endParaRPr lang="en-US" sz="1200" b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838833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92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F3942-3860-28CF-E559-ABE8B7FAA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3B9761-F398-D07D-F5E0-F7D8FFC724B0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CF89EE-1B82-CC63-8992-6B621E32E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74D279-45A7-2F0C-8F04-65D389C6B8C5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83762C-D059-AA86-FE54-BD217773C87A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ADB859-DC78-9661-B4FC-6DA2577CC909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FAA0C07D-D075-1B52-F88A-B176E87FE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BDD78D-31B9-5DD4-11B7-9B9904D2E15E}"/>
              </a:ext>
            </a:extLst>
          </p:cNvPr>
          <p:cNvSpPr txBox="1"/>
          <p:nvPr/>
        </p:nvSpPr>
        <p:spPr>
          <a:xfrm>
            <a:off x="450151" y="855626"/>
            <a:ext cx="11502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Detailed Project Timeline 04</a:t>
            </a:r>
            <a:endParaRPr lang="en-US" sz="1050" dirty="0">
              <a:solidFill>
                <a:srgbClr val="1A4230"/>
              </a:solidFill>
              <a:latin typeface="Playfair Display Medium" panose="00000500000000000000" pitchFamily="2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3A08398-61AF-F92D-85CC-B60BB38F5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200038"/>
              </p:ext>
            </p:extLst>
          </p:nvPr>
        </p:nvGraphicFramePr>
        <p:xfrm>
          <a:off x="535352" y="1770433"/>
          <a:ext cx="11030833" cy="43336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2127">
                  <a:extLst>
                    <a:ext uri="{9D8B030D-6E8A-4147-A177-3AD203B41FA5}">
                      <a16:colId xmlns:a16="http://schemas.microsoft.com/office/drawing/2014/main" val="3455485246"/>
                    </a:ext>
                  </a:extLst>
                </a:gridCol>
                <a:gridCol w="4774757">
                  <a:extLst>
                    <a:ext uri="{9D8B030D-6E8A-4147-A177-3AD203B41FA5}">
                      <a16:colId xmlns:a16="http://schemas.microsoft.com/office/drawing/2014/main" val="2008400224"/>
                    </a:ext>
                  </a:extLst>
                </a:gridCol>
                <a:gridCol w="445835">
                  <a:extLst>
                    <a:ext uri="{9D8B030D-6E8A-4147-A177-3AD203B41FA5}">
                      <a16:colId xmlns:a16="http://schemas.microsoft.com/office/drawing/2014/main" val="50415428"/>
                    </a:ext>
                  </a:extLst>
                </a:gridCol>
                <a:gridCol w="445835">
                  <a:extLst>
                    <a:ext uri="{9D8B030D-6E8A-4147-A177-3AD203B41FA5}">
                      <a16:colId xmlns:a16="http://schemas.microsoft.com/office/drawing/2014/main" val="2972096980"/>
                    </a:ext>
                  </a:extLst>
                </a:gridCol>
                <a:gridCol w="445835">
                  <a:extLst>
                    <a:ext uri="{9D8B030D-6E8A-4147-A177-3AD203B41FA5}">
                      <a16:colId xmlns:a16="http://schemas.microsoft.com/office/drawing/2014/main" val="378578627"/>
                    </a:ext>
                  </a:extLst>
                </a:gridCol>
                <a:gridCol w="445835">
                  <a:extLst>
                    <a:ext uri="{9D8B030D-6E8A-4147-A177-3AD203B41FA5}">
                      <a16:colId xmlns:a16="http://schemas.microsoft.com/office/drawing/2014/main" val="3062785689"/>
                    </a:ext>
                  </a:extLst>
                </a:gridCol>
                <a:gridCol w="445835">
                  <a:extLst>
                    <a:ext uri="{9D8B030D-6E8A-4147-A177-3AD203B41FA5}">
                      <a16:colId xmlns:a16="http://schemas.microsoft.com/office/drawing/2014/main" val="1542497320"/>
                    </a:ext>
                  </a:extLst>
                </a:gridCol>
                <a:gridCol w="445835">
                  <a:extLst>
                    <a:ext uri="{9D8B030D-6E8A-4147-A177-3AD203B41FA5}">
                      <a16:colId xmlns:a16="http://schemas.microsoft.com/office/drawing/2014/main" val="1997840895"/>
                    </a:ext>
                  </a:extLst>
                </a:gridCol>
                <a:gridCol w="445835">
                  <a:extLst>
                    <a:ext uri="{9D8B030D-6E8A-4147-A177-3AD203B41FA5}">
                      <a16:colId xmlns:a16="http://schemas.microsoft.com/office/drawing/2014/main" val="2006436008"/>
                    </a:ext>
                  </a:extLst>
                </a:gridCol>
                <a:gridCol w="445835">
                  <a:extLst>
                    <a:ext uri="{9D8B030D-6E8A-4147-A177-3AD203B41FA5}">
                      <a16:colId xmlns:a16="http://schemas.microsoft.com/office/drawing/2014/main" val="3362230737"/>
                    </a:ext>
                  </a:extLst>
                </a:gridCol>
                <a:gridCol w="445835">
                  <a:extLst>
                    <a:ext uri="{9D8B030D-6E8A-4147-A177-3AD203B41FA5}">
                      <a16:colId xmlns:a16="http://schemas.microsoft.com/office/drawing/2014/main" val="4006865738"/>
                    </a:ext>
                  </a:extLst>
                </a:gridCol>
                <a:gridCol w="575272">
                  <a:extLst>
                    <a:ext uri="{9D8B030D-6E8A-4147-A177-3AD203B41FA5}">
                      <a16:colId xmlns:a16="http://schemas.microsoft.com/office/drawing/2014/main" val="2388849681"/>
                    </a:ext>
                  </a:extLst>
                </a:gridCol>
                <a:gridCol w="560890">
                  <a:extLst>
                    <a:ext uri="{9D8B030D-6E8A-4147-A177-3AD203B41FA5}">
                      <a16:colId xmlns:a16="http://schemas.microsoft.com/office/drawing/2014/main" val="1658561361"/>
                    </a:ext>
                  </a:extLst>
                </a:gridCol>
                <a:gridCol w="575272">
                  <a:extLst>
                    <a:ext uri="{9D8B030D-6E8A-4147-A177-3AD203B41FA5}">
                      <a16:colId xmlns:a16="http://schemas.microsoft.com/office/drawing/2014/main" val="960820308"/>
                    </a:ext>
                  </a:extLst>
                </a:gridCol>
              </a:tblGrid>
              <a:tr h="41829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</a:rPr>
                        <a:t>SL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Activity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W5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W6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W7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W8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W9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W10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W11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W12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81185867"/>
                  </a:ext>
                </a:extLst>
              </a:tr>
              <a:tr h="55934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47</a:t>
                      </a:r>
                      <a:endParaRPr lang="en-US" sz="1200" dirty="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System &amp; Functional Testing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29472166"/>
                  </a:ext>
                </a:extLst>
              </a:tr>
              <a:tr h="55934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48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Performance &amp; Load Testing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88915617"/>
                  </a:ext>
                </a:extLst>
              </a:tr>
              <a:tr h="55934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49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Security Testing (SAST/DAST)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807590168"/>
                  </a:ext>
                </a:extLst>
              </a:tr>
              <a:tr h="55934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50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Independent VAPT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927935252"/>
                  </a:ext>
                </a:extLst>
              </a:tr>
              <a:tr h="55934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51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UAT (≥4 Districts)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918856282"/>
                  </a:ext>
                </a:extLst>
              </a:tr>
              <a:tr h="55934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52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BCC SQTC Testing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675242211"/>
                  </a:ext>
                </a:extLst>
              </a:tr>
              <a:tr h="55934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53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GATE G3: UAT Sign-Off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◆</a:t>
                      </a:r>
                      <a:endParaRPr lang="en-US" sz="1200" b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936412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5064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3D7E4-39E2-8961-23B3-0FD857AC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96D678-B6F4-C775-4FCC-5D09A83AFE52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F094B-90C1-0890-94C1-5264CEA6B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242112-D66E-815F-D7B8-B66EE07A2144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5D4C9-69B5-400B-02DD-1B85D0F59E61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7B7C7F-DB8A-F990-17C1-6CEE2ACBF4C4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B2638E4C-C8B5-EF33-210F-E27685AC4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938D93-3D28-C3FC-2E5E-16CDD5B9B95C}"/>
              </a:ext>
            </a:extLst>
          </p:cNvPr>
          <p:cNvSpPr txBox="1"/>
          <p:nvPr/>
        </p:nvSpPr>
        <p:spPr>
          <a:xfrm>
            <a:off x="450151" y="855626"/>
            <a:ext cx="11502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Detailed Project Timeline 05</a:t>
            </a:r>
            <a:endParaRPr lang="en-US" sz="1050" dirty="0">
              <a:solidFill>
                <a:srgbClr val="1A4230"/>
              </a:solidFill>
              <a:latin typeface="Playfair Display Medium" panose="00000500000000000000" pitchFamily="2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431E0D7-2CFD-76BE-2A3E-8473930E6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544144"/>
              </p:ext>
            </p:extLst>
          </p:nvPr>
        </p:nvGraphicFramePr>
        <p:xfrm>
          <a:off x="535352" y="1697340"/>
          <a:ext cx="10982199" cy="41018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9780">
                  <a:extLst>
                    <a:ext uri="{9D8B030D-6E8A-4147-A177-3AD203B41FA5}">
                      <a16:colId xmlns:a16="http://schemas.microsoft.com/office/drawing/2014/main" val="2488132385"/>
                    </a:ext>
                  </a:extLst>
                </a:gridCol>
                <a:gridCol w="4753702">
                  <a:extLst>
                    <a:ext uri="{9D8B030D-6E8A-4147-A177-3AD203B41FA5}">
                      <a16:colId xmlns:a16="http://schemas.microsoft.com/office/drawing/2014/main" val="3061221458"/>
                    </a:ext>
                  </a:extLst>
                </a:gridCol>
                <a:gridCol w="443870">
                  <a:extLst>
                    <a:ext uri="{9D8B030D-6E8A-4147-A177-3AD203B41FA5}">
                      <a16:colId xmlns:a16="http://schemas.microsoft.com/office/drawing/2014/main" val="2871831643"/>
                    </a:ext>
                  </a:extLst>
                </a:gridCol>
                <a:gridCol w="443870">
                  <a:extLst>
                    <a:ext uri="{9D8B030D-6E8A-4147-A177-3AD203B41FA5}">
                      <a16:colId xmlns:a16="http://schemas.microsoft.com/office/drawing/2014/main" val="3676084563"/>
                    </a:ext>
                  </a:extLst>
                </a:gridCol>
                <a:gridCol w="443870">
                  <a:extLst>
                    <a:ext uri="{9D8B030D-6E8A-4147-A177-3AD203B41FA5}">
                      <a16:colId xmlns:a16="http://schemas.microsoft.com/office/drawing/2014/main" val="3765445528"/>
                    </a:ext>
                  </a:extLst>
                </a:gridCol>
                <a:gridCol w="443870">
                  <a:extLst>
                    <a:ext uri="{9D8B030D-6E8A-4147-A177-3AD203B41FA5}">
                      <a16:colId xmlns:a16="http://schemas.microsoft.com/office/drawing/2014/main" val="3279246474"/>
                    </a:ext>
                  </a:extLst>
                </a:gridCol>
                <a:gridCol w="443870">
                  <a:extLst>
                    <a:ext uri="{9D8B030D-6E8A-4147-A177-3AD203B41FA5}">
                      <a16:colId xmlns:a16="http://schemas.microsoft.com/office/drawing/2014/main" val="1205668752"/>
                    </a:ext>
                  </a:extLst>
                </a:gridCol>
                <a:gridCol w="443870">
                  <a:extLst>
                    <a:ext uri="{9D8B030D-6E8A-4147-A177-3AD203B41FA5}">
                      <a16:colId xmlns:a16="http://schemas.microsoft.com/office/drawing/2014/main" val="190774715"/>
                    </a:ext>
                  </a:extLst>
                </a:gridCol>
                <a:gridCol w="443870">
                  <a:extLst>
                    <a:ext uri="{9D8B030D-6E8A-4147-A177-3AD203B41FA5}">
                      <a16:colId xmlns:a16="http://schemas.microsoft.com/office/drawing/2014/main" val="2013543549"/>
                    </a:ext>
                  </a:extLst>
                </a:gridCol>
                <a:gridCol w="443870">
                  <a:extLst>
                    <a:ext uri="{9D8B030D-6E8A-4147-A177-3AD203B41FA5}">
                      <a16:colId xmlns:a16="http://schemas.microsoft.com/office/drawing/2014/main" val="1335905863"/>
                    </a:ext>
                  </a:extLst>
                </a:gridCol>
                <a:gridCol w="443870">
                  <a:extLst>
                    <a:ext uri="{9D8B030D-6E8A-4147-A177-3AD203B41FA5}">
                      <a16:colId xmlns:a16="http://schemas.microsoft.com/office/drawing/2014/main" val="3168568896"/>
                    </a:ext>
                  </a:extLst>
                </a:gridCol>
                <a:gridCol w="572735">
                  <a:extLst>
                    <a:ext uri="{9D8B030D-6E8A-4147-A177-3AD203B41FA5}">
                      <a16:colId xmlns:a16="http://schemas.microsoft.com/office/drawing/2014/main" val="774862069"/>
                    </a:ext>
                  </a:extLst>
                </a:gridCol>
                <a:gridCol w="558417">
                  <a:extLst>
                    <a:ext uri="{9D8B030D-6E8A-4147-A177-3AD203B41FA5}">
                      <a16:colId xmlns:a16="http://schemas.microsoft.com/office/drawing/2014/main" val="3287060748"/>
                    </a:ext>
                  </a:extLst>
                </a:gridCol>
                <a:gridCol w="572735">
                  <a:extLst>
                    <a:ext uri="{9D8B030D-6E8A-4147-A177-3AD203B41FA5}">
                      <a16:colId xmlns:a16="http://schemas.microsoft.com/office/drawing/2014/main" val="2123550657"/>
                    </a:ext>
                  </a:extLst>
                </a:gridCol>
              </a:tblGrid>
              <a:tr h="34546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</a:rPr>
                        <a:t>SL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Activity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W5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W6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W7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W8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W9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W10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W11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W12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78600164"/>
                  </a:ext>
                </a:extLst>
              </a:tr>
              <a:tr h="62606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55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Defect Closure (Medium/Low)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736684614"/>
                  </a:ext>
                </a:extLst>
              </a:tr>
              <a:tr h="62606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56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Documentation Finalization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597516704"/>
                  </a:ext>
                </a:extLst>
              </a:tr>
              <a:tr h="62606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57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Migration Dry Run 4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439360199"/>
                  </a:ext>
                </a:extLst>
              </a:tr>
              <a:tr h="62606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58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Source Code Handover to NCR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478955665"/>
                  </a:ext>
                </a:extLst>
              </a:tr>
              <a:tr h="62606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59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Repository Ownership Transfer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786719472"/>
                  </a:ext>
                </a:extLst>
              </a:tr>
              <a:tr h="62606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60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GATE G4: Handover Accepted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◆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265035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211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3D017-1F9C-7C0C-3670-F96BFFF7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F108B3-25B0-55E9-128F-5E18055A3210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47439-65F5-5F88-9773-FA166223A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43E219-31A0-78D0-AFFC-D0580D3917CE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55F88-49AE-DDC7-6A33-2FE1C888FA2F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049E84-BBD6-A697-4AC2-6C83A1CEF97C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92058DA0-B2B5-74A7-8E0C-11698D456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0CB763-D63B-83B6-AF60-00B1CB1B1B0A}"/>
              </a:ext>
            </a:extLst>
          </p:cNvPr>
          <p:cNvSpPr txBox="1"/>
          <p:nvPr/>
        </p:nvSpPr>
        <p:spPr>
          <a:xfrm>
            <a:off x="450151" y="855626"/>
            <a:ext cx="11502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Detailed Project Timeline 06</a:t>
            </a:r>
            <a:endParaRPr lang="en-US" sz="1050" dirty="0">
              <a:solidFill>
                <a:srgbClr val="1A4230"/>
              </a:solidFill>
              <a:latin typeface="Playfair Display Medium" panose="00000500000000000000" pitchFamily="2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501DC85-9824-5148-011F-07956AB69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617591"/>
              </p:ext>
            </p:extLst>
          </p:nvPr>
        </p:nvGraphicFramePr>
        <p:xfrm>
          <a:off x="535352" y="1750978"/>
          <a:ext cx="10962740" cy="44163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8842">
                  <a:extLst>
                    <a:ext uri="{9D8B030D-6E8A-4147-A177-3AD203B41FA5}">
                      <a16:colId xmlns:a16="http://schemas.microsoft.com/office/drawing/2014/main" val="370880347"/>
                    </a:ext>
                  </a:extLst>
                </a:gridCol>
                <a:gridCol w="4745282">
                  <a:extLst>
                    <a:ext uri="{9D8B030D-6E8A-4147-A177-3AD203B41FA5}">
                      <a16:colId xmlns:a16="http://schemas.microsoft.com/office/drawing/2014/main" val="1054968376"/>
                    </a:ext>
                  </a:extLst>
                </a:gridCol>
                <a:gridCol w="443083">
                  <a:extLst>
                    <a:ext uri="{9D8B030D-6E8A-4147-A177-3AD203B41FA5}">
                      <a16:colId xmlns:a16="http://schemas.microsoft.com/office/drawing/2014/main" val="1257877816"/>
                    </a:ext>
                  </a:extLst>
                </a:gridCol>
                <a:gridCol w="443083">
                  <a:extLst>
                    <a:ext uri="{9D8B030D-6E8A-4147-A177-3AD203B41FA5}">
                      <a16:colId xmlns:a16="http://schemas.microsoft.com/office/drawing/2014/main" val="2561464604"/>
                    </a:ext>
                  </a:extLst>
                </a:gridCol>
                <a:gridCol w="443083">
                  <a:extLst>
                    <a:ext uri="{9D8B030D-6E8A-4147-A177-3AD203B41FA5}">
                      <a16:colId xmlns:a16="http://schemas.microsoft.com/office/drawing/2014/main" val="177011508"/>
                    </a:ext>
                  </a:extLst>
                </a:gridCol>
                <a:gridCol w="443083">
                  <a:extLst>
                    <a:ext uri="{9D8B030D-6E8A-4147-A177-3AD203B41FA5}">
                      <a16:colId xmlns:a16="http://schemas.microsoft.com/office/drawing/2014/main" val="3223954412"/>
                    </a:ext>
                  </a:extLst>
                </a:gridCol>
                <a:gridCol w="443083">
                  <a:extLst>
                    <a:ext uri="{9D8B030D-6E8A-4147-A177-3AD203B41FA5}">
                      <a16:colId xmlns:a16="http://schemas.microsoft.com/office/drawing/2014/main" val="1912474730"/>
                    </a:ext>
                  </a:extLst>
                </a:gridCol>
                <a:gridCol w="443083">
                  <a:extLst>
                    <a:ext uri="{9D8B030D-6E8A-4147-A177-3AD203B41FA5}">
                      <a16:colId xmlns:a16="http://schemas.microsoft.com/office/drawing/2014/main" val="3068320956"/>
                    </a:ext>
                  </a:extLst>
                </a:gridCol>
                <a:gridCol w="443083">
                  <a:extLst>
                    <a:ext uri="{9D8B030D-6E8A-4147-A177-3AD203B41FA5}">
                      <a16:colId xmlns:a16="http://schemas.microsoft.com/office/drawing/2014/main" val="3276636101"/>
                    </a:ext>
                  </a:extLst>
                </a:gridCol>
                <a:gridCol w="443083">
                  <a:extLst>
                    <a:ext uri="{9D8B030D-6E8A-4147-A177-3AD203B41FA5}">
                      <a16:colId xmlns:a16="http://schemas.microsoft.com/office/drawing/2014/main" val="1888800831"/>
                    </a:ext>
                  </a:extLst>
                </a:gridCol>
                <a:gridCol w="443083">
                  <a:extLst>
                    <a:ext uri="{9D8B030D-6E8A-4147-A177-3AD203B41FA5}">
                      <a16:colId xmlns:a16="http://schemas.microsoft.com/office/drawing/2014/main" val="1297383594"/>
                    </a:ext>
                  </a:extLst>
                </a:gridCol>
                <a:gridCol w="571721">
                  <a:extLst>
                    <a:ext uri="{9D8B030D-6E8A-4147-A177-3AD203B41FA5}">
                      <a16:colId xmlns:a16="http://schemas.microsoft.com/office/drawing/2014/main" val="283131483"/>
                    </a:ext>
                  </a:extLst>
                </a:gridCol>
                <a:gridCol w="557427">
                  <a:extLst>
                    <a:ext uri="{9D8B030D-6E8A-4147-A177-3AD203B41FA5}">
                      <a16:colId xmlns:a16="http://schemas.microsoft.com/office/drawing/2014/main" val="799319183"/>
                    </a:ext>
                  </a:extLst>
                </a:gridCol>
                <a:gridCol w="571721">
                  <a:extLst>
                    <a:ext uri="{9D8B030D-6E8A-4147-A177-3AD203B41FA5}">
                      <a16:colId xmlns:a16="http://schemas.microsoft.com/office/drawing/2014/main" val="1253244769"/>
                    </a:ext>
                  </a:extLst>
                </a:gridCol>
              </a:tblGrid>
              <a:tr h="49070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Arial" panose="020B0604020202020204" pitchFamily="34" charset="0"/>
                        </a:rPr>
                        <a:t>SL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Activity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W5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W6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W7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W8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W9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W10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W11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W12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929387974"/>
                  </a:ext>
                </a:extLst>
              </a:tr>
              <a:tr h="49070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62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Pre-Cut-over Communication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35636"/>
                  </a:ext>
                </a:extLst>
              </a:tr>
              <a:tr h="49070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Production Cut-over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118099"/>
                  </a:ext>
                </a:extLst>
              </a:tr>
              <a:tr h="49070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64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Mobile App Store Submission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124823"/>
                  </a:ext>
                </a:extLst>
              </a:tr>
              <a:tr h="49070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65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Hypercare Support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198773"/>
                  </a:ext>
                </a:extLst>
              </a:tr>
              <a:tr h="49070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66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3-Day Operational Training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905266"/>
                  </a:ext>
                </a:extLst>
              </a:tr>
              <a:tr h="49070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67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5-Day Technical Training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607116"/>
                  </a:ext>
                </a:extLst>
              </a:tr>
              <a:tr h="49070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68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Launching Ceremony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960816"/>
                  </a:ext>
                </a:extLst>
              </a:tr>
              <a:tr h="49070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69</a:t>
                      </a:r>
                      <a:endParaRPr lang="en-US" sz="1200">
                        <a:solidFill>
                          <a:srgbClr val="0F111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 GATE G5: NOC Issued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◆</a:t>
                      </a:r>
                      <a:endParaRPr lang="en-US" sz="1200" b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339329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140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56C96-F377-AC49-15F2-599DC4C37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06A6E2-47B8-47D7-1A6D-92B34CA1F3B5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EDD8C-6440-97A8-BC0D-C1B1F70BD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742D63-F088-B684-C143-C134EABF16BD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AA7B0-D530-50F3-1085-73BC4BAE1491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964E1C-D534-CBCF-611E-3C479FA06A0D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01257CB7-E022-B6FD-3FCD-D57CE277C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50F972-4799-A140-4864-A4944671AAE6}"/>
              </a:ext>
            </a:extLst>
          </p:cNvPr>
          <p:cNvSpPr txBox="1"/>
          <p:nvPr/>
        </p:nvSpPr>
        <p:spPr>
          <a:xfrm>
            <a:off x="450151" y="855626"/>
            <a:ext cx="11502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Project Timeline Summary</a:t>
            </a:r>
            <a:endParaRPr lang="en-US" sz="1050" dirty="0">
              <a:solidFill>
                <a:srgbClr val="1A4230"/>
              </a:solidFill>
              <a:latin typeface="Playfair Display Medium" panose="000005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0F5C6A-8B3C-F8E3-026D-A0BEA41F8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2" y="829273"/>
            <a:ext cx="11455395" cy="572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44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A97E-B7E0-4797-BFDC-A493C626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0D96B7-8AF4-62E0-4ED4-32A13E5198EB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6F6D3-1EDE-CCB4-69D4-9D3671A14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406C69-B6FC-E764-53D4-6DB34394128C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8AA281-7F51-4376-3F83-B0B5843A9E29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52283C-B38A-EF0D-FECB-8C1D4BD5F465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6F5C867E-5148-1AB1-434E-5C87515CB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DFFC9C-29E1-71FC-4BD9-C4526A9E9EF5}"/>
              </a:ext>
            </a:extLst>
          </p:cNvPr>
          <p:cNvSpPr txBox="1"/>
          <p:nvPr/>
        </p:nvSpPr>
        <p:spPr>
          <a:xfrm>
            <a:off x="450151" y="855626"/>
            <a:ext cx="11502943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A4230"/>
                </a:solidFill>
                <a:latin typeface="Playfair Display Black" panose="00000500000000000000" pitchFamily="2" charset="0"/>
              </a:rPr>
              <a:t>Five cadences. One transparent framework.</a:t>
            </a:r>
          </a:p>
          <a:p>
            <a:r>
              <a:rPr lang="en-US" sz="1050" dirty="0">
                <a:solidFill>
                  <a:srgbClr val="1A4230"/>
                </a:solidFill>
                <a:latin typeface="Playfair Display Medium" panose="00000500000000000000" pitchFamily="2" charset="0"/>
              </a:rPr>
              <a:t>A formal reporting framework is essential for transparency and accountability. From internal stand-ups to formal Gate submissions — every tier of the project has a defined cadence.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9B524D-1F0E-93D9-25F3-2280BA06BCAA}"/>
              </a:ext>
            </a:extLst>
          </p:cNvPr>
          <p:cNvGrpSpPr/>
          <p:nvPr/>
        </p:nvGrpSpPr>
        <p:grpSpPr>
          <a:xfrm>
            <a:off x="541897" y="2024407"/>
            <a:ext cx="10898621" cy="3715222"/>
            <a:chOff x="495597" y="2047557"/>
            <a:chExt cx="10898621" cy="371522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4FAC0D-826C-B791-6153-EBD056989694}"/>
                </a:ext>
              </a:extLst>
            </p:cNvPr>
            <p:cNvSpPr/>
            <p:nvPr/>
          </p:nvSpPr>
          <p:spPr>
            <a:xfrm>
              <a:off x="495597" y="2047557"/>
              <a:ext cx="10898621" cy="3715222"/>
            </a:xfrm>
            <a:prstGeom prst="rect">
              <a:avLst/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31C58BA-A634-AA34-64BF-A84E0420266E}"/>
                </a:ext>
              </a:extLst>
            </p:cNvPr>
            <p:cNvGrpSpPr/>
            <p:nvPr/>
          </p:nvGrpSpPr>
          <p:grpSpPr>
            <a:xfrm>
              <a:off x="495597" y="2205225"/>
              <a:ext cx="10898621" cy="3379210"/>
              <a:chOff x="495597" y="2251525"/>
              <a:chExt cx="10898621" cy="337921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545AC38-E705-F952-328D-6263A8BAE407}"/>
                  </a:ext>
                </a:extLst>
              </p:cNvPr>
              <p:cNvGrpSpPr/>
              <p:nvPr/>
            </p:nvGrpSpPr>
            <p:grpSpPr>
              <a:xfrm>
                <a:off x="763072" y="2251525"/>
                <a:ext cx="10067934" cy="446276"/>
                <a:chOff x="702367" y="2836150"/>
                <a:chExt cx="10067934" cy="539994"/>
              </a:xfrm>
            </p:grpSpPr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6B35C65-5F76-8E76-08CA-D0325516B089}"/>
                    </a:ext>
                  </a:extLst>
                </p:cNvPr>
                <p:cNvSpPr txBox="1"/>
                <p:nvPr/>
              </p:nvSpPr>
              <p:spPr>
                <a:xfrm>
                  <a:off x="702367" y="2836150"/>
                  <a:ext cx="17447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B1451E"/>
                      </a:solidFill>
                      <a:latin typeface="Playfair Display Black" panose="00000500000000000000" pitchFamily="2" charset="0"/>
                    </a:rPr>
                    <a:t>Daily</a:t>
                  </a:r>
                </a:p>
                <a:p>
                  <a:r>
                    <a:rPr lang="en-US" sz="900" spc="300" dirty="0">
                      <a:solidFill>
                        <a:srgbClr val="1A4230"/>
                      </a:solidFill>
                      <a:latin typeface="Playfair Display Medium" panose="00000500000000000000" pitchFamily="2" charset="0"/>
                    </a:rPr>
                    <a:t>EVERY WORKDAY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09B796D-9D95-A5A8-8E02-952B8AC14385}"/>
                    </a:ext>
                  </a:extLst>
                </p:cNvPr>
                <p:cNvSpPr txBox="1"/>
                <p:nvPr/>
              </p:nvSpPr>
              <p:spPr>
                <a:xfrm>
                  <a:off x="3125265" y="2836150"/>
                  <a:ext cx="5349652" cy="5399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1A422F"/>
                      </a:solidFill>
                      <a:latin typeface="Aptos" panose="020B0004020202020204" pitchFamily="34" charset="0"/>
                    </a:rPr>
                    <a:t>Internal Scrum stand-up meetings</a:t>
                  </a:r>
                </a:p>
                <a:p>
                  <a:r>
                    <a:rPr lang="en-US" sz="900" dirty="0">
                      <a:solidFill>
                        <a:srgbClr val="1A4230"/>
                      </a:solidFill>
                      <a:latin typeface="Aptos" panose="020B0004020202020204" pitchFamily="34" charset="0"/>
                    </a:rPr>
                    <a:t>15-minute status from every team member — blockers, yesterday, today. Internal cadence only.</a:t>
                  </a:r>
                </a:p>
              </p:txBody>
            </p: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239643AF-BFA9-C1D8-1AD3-1A655384E632}"/>
                    </a:ext>
                  </a:extLst>
                </p:cNvPr>
                <p:cNvGrpSpPr/>
                <p:nvPr/>
              </p:nvGrpSpPr>
              <p:grpSpPr>
                <a:xfrm>
                  <a:off x="9153108" y="2836150"/>
                  <a:ext cx="1617193" cy="446892"/>
                  <a:chOff x="9153108" y="2836150"/>
                  <a:chExt cx="1617193" cy="446892"/>
                </a:xfrm>
              </p:grpSpPr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FB2D2CDD-2004-6008-A793-35F33292ACD0}"/>
                      </a:ext>
                    </a:extLst>
                  </p:cNvPr>
                  <p:cNvSpPr txBox="1"/>
                  <p:nvPr/>
                </p:nvSpPr>
                <p:spPr>
                  <a:xfrm>
                    <a:off x="9198827" y="2836150"/>
                    <a:ext cx="1571474" cy="44689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900" spc="300" dirty="0">
                        <a:solidFill>
                          <a:srgbClr val="1A4230"/>
                        </a:solidFill>
                        <a:latin typeface="Playfair Display Medium" panose="00000500000000000000" pitchFamily="2" charset="0"/>
                      </a:rPr>
                      <a:t>AUDIENCE</a:t>
                    </a:r>
                  </a:p>
                  <a:p>
                    <a:r>
                      <a:rPr lang="en-US" sz="900" b="1" dirty="0">
                        <a:solidFill>
                          <a:srgbClr val="1A422F"/>
                        </a:solidFill>
                        <a:latin typeface="Playfair Display Black" panose="00000500000000000000" pitchFamily="2" charset="0"/>
                      </a:rPr>
                      <a:t>Consultant's Core Team</a:t>
                    </a:r>
                  </a:p>
                </p:txBody>
              </p:sp>
              <p:sp>
                <p:nvSpPr>
                  <p:cNvPr id="47" name="Rounded Rectangle 46">
                    <a:extLst>
                      <a:ext uri="{FF2B5EF4-FFF2-40B4-BE49-F238E27FC236}">
                        <a16:creationId xmlns:a16="http://schemas.microsoft.com/office/drawing/2014/main" id="{F22E788D-7556-8CE8-6712-F34B6C77289F}"/>
                      </a:ext>
                    </a:extLst>
                  </p:cNvPr>
                  <p:cNvSpPr/>
                  <p:nvPr/>
                </p:nvSpPr>
                <p:spPr>
                  <a:xfrm flipH="1">
                    <a:off x="9153108" y="2882315"/>
                    <a:ext cx="45719" cy="348480"/>
                  </a:xfrm>
                  <a:prstGeom prst="round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BBA7AC1-98E8-B3AD-59D7-D10B60C92899}"/>
                  </a:ext>
                </a:extLst>
              </p:cNvPr>
              <p:cNvGrpSpPr/>
              <p:nvPr/>
            </p:nvGrpSpPr>
            <p:grpSpPr>
              <a:xfrm>
                <a:off x="763072" y="2984759"/>
                <a:ext cx="10067934" cy="446276"/>
                <a:chOff x="702367" y="2836150"/>
                <a:chExt cx="10067934" cy="539994"/>
              </a:xfrm>
            </p:grpSpPr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CA83DA3-2582-BF3C-BF82-90073B1A17DB}"/>
                    </a:ext>
                  </a:extLst>
                </p:cNvPr>
                <p:cNvSpPr txBox="1"/>
                <p:nvPr/>
              </p:nvSpPr>
              <p:spPr>
                <a:xfrm>
                  <a:off x="702367" y="2836150"/>
                  <a:ext cx="1744708" cy="5399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B1451E"/>
                      </a:solidFill>
                      <a:latin typeface="Playfair Display Black" panose="00000500000000000000" pitchFamily="2" charset="0"/>
                    </a:rPr>
                    <a:t>Fortnightly</a:t>
                  </a:r>
                </a:p>
                <a:p>
                  <a:r>
                    <a:rPr lang="en-US" sz="900" spc="300" dirty="0">
                      <a:solidFill>
                        <a:srgbClr val="1A4230"/>
                      </a:solidFill>
                      <a:latin typeface="Playfair Display Medium" panose="00000500000000000000" pitchFamily="2" charset="0"/>
                    </a:rPr>
                    <a:t>EVERY 2 WEEKS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01DCC01-8EF2-FCAC-0156-5F932F0C8141}"/>
                    </a:ext>
                  </a:extLst>
                </p:cNvPr>
                <p:cNvSpPr txBox="1"/>
                <p:nvPr/>
              </p:nvSpPr>
              <p:spPr>
                <a:xfrm>
                  <a:off x="3125265" y="2836150"/>
                  <a:ext cx="5349652" cy="5399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1A422F"/>
                      </a:solidFill>
                      <a:latin typeface="Aptos" panose="020B0004020202020204" pitchFamily="34" charset="0"/>
                    </a:rPr>
                    <a:t>Fortnightly Progress Report to PIU Focal Point</a:t>
                  </a:r>
                </a:p>
                <a:p>
                  <a:r>
                    <a:rPr lang="en-US" sz="900" dirty="0">
                      <a:solidFill>
                        <a:srgbClr val="1A4230"/>
                      </a:solidFill>
                      <a:latin typeface="Aptos" panose="020B0004020202020204" pitchFamily="34" charset="0"/>
                    </a:rPr>
                    <a:t>Formal written report — sprint outcomes, schedule vs. actual, financial status, risk updates.</a:t>
                  </a:r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950BFE01-EA2F-7027-C0D4-B2CF0EFCD471}"/>
                    </a:ext>
                  </a:extLst>
                </p:cNvPr>
                <p:cNvGrpSpPr/>
                <p:nvPr/>
              </p:nvGrpSpPr>
              <p:grpSpPr>
                <a:xfrm>
                  <a:off x="9153108" y="2836150"/>
                  <a:ext cx="1617193" cy="446892"/>
                  <a:chOff x="9153108" y="2836150"/>
                  <a:chExt cx="1617193" cy="446892"/>
                </a:xfrm>
              </p:grpSpPr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33C1CF31-4C24-D6E7-A919-9E0309AEC163}"/>
                      </a:ext>
                    </a:extLst>
                  </p:cNvPr>
                  <p:cNvSpPr txBox="1"/>
                  <p:nvPr/>
                </p:nvSpPr>
                <p:spPr>
                  <a:xfrm>
                    <a:off x="9198827" y="2836150"/>
                    <a:ext cx="1571474" cy="44689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900" spc="300" dirty="0">
                        <a:solidFill>
                          <a:srgbClr val="1A4230"/>
                        </a:solidFill>
                        <a:latin typeface="Playfair Display Medium" panose="00000500000000000000" pitchFamily="2" charset="0"/>
                      </a:rPr>
                      <a:t>AUDIENCE</a:t>
                    </a:r>
                  </a:p>
                  <a:p>
                    <a:r>
                      <a:rPr lang="en-US" sz="900" b="1" dirty="0">
                        <a:solidFill>
                          <a:srgbClr val="1A422F"/>
                        </a:solidFill>
                        <a:latin typeface="Playfair Display Black" panose="00000500000000000000" pitchFamily="2" charset="0"/>
                      </a:rPr>
                      <a:t>PIU Focal Point</a:t>
                    </a:r>
                  </a:p>
                </p:txBody>
              </p:sp>
              <p:sp>
                <p:nvSpPr>
                  <p:cNvPr id="42" name="Rounded Rectangle 41">
                    <a:extLst>
                      <a:ext uri="{FF2B5EF4-FFF2-40B4-BE49-F238E27FC236}">
                        <a16:creationId xmlns:a16="http://schemas.microsoft.com/office/drawing/2014/main" id="{70BF7B57-EE2B-6A1F-47BE-543B3E66C349}"/>
                      </a:ext>
                    </a:extLst>
                  </p:cNvPr>
                  <p:cNvSpPr/>
                  <p:nvPr/>
                </p:nvSpPr>
                <p:spPr>
                  <a:xfrm flipH="1">
                    <a:off x="9153108" y="2882315"/>
                    <a:ext cx="45719" cy="348480"/>
                  </a:xfrm>
                  <a:prstGeom prst="round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A01BA27-8BE8-439D-97BA-C869A44CC26B}"/>
                  </a:ext>
                </a:extLst>
              </p:cNvPr>
              <p:cNvGrpSpPr/>
              <p:nvPr/>
            </p:nvGrpSpPr>
            <p:grpSpPr>
              <a:xfrm>
                <a:off x="763072" y="3717993"/>
                <a:ext cx="10067934" cy="446276"/>
                <a:chOff x="702367" y="2836150"/>
                <a:chExt cx="10067934" cy="539994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0DF4394-B1AB-ABB0-2552-13AD2DAA0490}"/>
                    </a:ext>
                  </a:extLst>
                </p:cNvPr>
                <p:cNvSpPr txBox="1"/>
                <p:nvPr/>
              </p:nvSpPr>
              <p:spPr>
                <a:xfrm>
                  <a:off x="702367" y="2836150"/>
                  <a:ext cx="1744708" cy="5399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B1451E"/>
                      </a:solidFill>
                      <a:latin typeface="Playfair Display Black" panose="00000500000000000000" pitchFamily="2" charset="0"/>
                    </a:rPr>
                    <a:t>Monthly</a:t>
                  </a:r>
                </a:p>
                <a:p>
                  <a:r>
                    <a:rPr lang="en-US" sz="900" spc="300" dirty="0">
                      <a:solidFill>
                        <a:srgbClr val="1A4230"/>
                      </a:solidFill>
                      <a:latin typeface="Playfair Display Medium" panose="00000500000000000000" pitchFamily="2" charset="0"/>
                    </a:rPr>
                    <a:t>EVERY MONTH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DF1EBB5-FC29-C1F5-9F7F-73F6F7205CEA}"/>
                    </a:ext>
                  </a:extLst>
                </p:cNvPr>
                <p:cNvSpPr txBox="1"/>
                <p:nvPr/>
              </p:nvSpPr>
              <p:spPr>
                <a:xfrm>
                  <a:off x="3125264" y="2836150"/>
                  <a:ext cx="5499341" cy="5399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1A422F"/>
                      </a:solidFill>
                      <a:latin typeface="Aptos" panose="020B0004020202020204" pitchFamily="34" charset="0"/>
                    </a:rPr>
                    <a:t>Comprehensive Monthly Progress Report</a:t>
                  </a:r>
                </a:p>
                <a:p>
                  <a:r>
                    <a:rPr lang="en-US" sz="900" dirty="0">
                      <a:solidFill>
                        <a:srgbClr val="1A4230"/>
                      </a:solidFill>
                      <a:latin typeface="Aptos" panose="020B0004020202020204" pitchFamily="34" charset="0"/>
                    </a:rPr>
                    <a:t>Full project health review — scope, timeline, budget, risk register refresh, and forward commitments.</a:t>
                  </a:r>
                </a:p>
              </p:txBody>
            </p: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EEAB0AEB-9107-7A91-36C1-914D081819C5}"/>
                    </a:ext>
                  </a:extLst>
                </p:cNvPr>
                <p:cNvGrpSpPr/>
                <p:nvPr/>
              </p:nvGrpSpPr>
              <p:grpSpPr>
                <a:xfrm>
                  <a:off x="9153108" y="2836150"/>
                  <a:ext cx="1617193" cy="446892"/>
                  <a:chOff x="9153108" y="2836150"/>
                  <a:chExt cx="1617193" cy="446892"/>
                </a:xfrm>
              </p:grpSpPr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B48F186E-6458-348C-7508-4025FAA2D72E}"/>
                      </a:ext>
                    </a:extLst>
                  </p:cNvPr>
                  <p:cNvSpPr txBox="1"/>
                  <p:nvPr/>
                </p:nvSpPr>
                <p:spPr>
                  <a:xfrm>
                    <a:off x="9198827" y="2836150"/>
                    <a:ext cx="1571474" cy="44689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900" spc="300" dirty="0">
                        <a:solidFill>
                          <a:srgbClr val="1A4230"/>
                        </a:solidFill>
                        <a:latin typeface="Playfair Display Medium" panose="00000500000000000000" pitchFamily="2" charset="0"/>
                      </a:rPr>
                      <a:t>AUDIENCE</a:t>
                    </a:r>
                  </a:p>
                  <a:p>
                    <a:r>
                      <a:rPr lang="en-US" sz="900" b="1" dirty="0">
                        <a:solidFill>
                          <a:srgbClr val="1A422F"/>
                        </a:solidFill>
                        <a:latin typeface="Playfair Display Black" panose="00000500000000000000" pitchFamily="2" charset="0"/>
                      </a:rPr>
                      <a:t>Project Director</a:t>
                    </a:r>
                  </a:p>
                </p:txBody>
              </p:sp>
              <p:sp>
                <p:nvSpPr>
                  <p:cNvPr id="37" name="Rounded Rectangle 36">
                    <a:extLst>
                      <a:ext uri="{FF2B5EF4-FFF2-40B4-BE49-F238E27FC236}">
                        <a16:creationId xmlns:a16="http://schemas.microsoft.com/office/drawing/2014/main" id="{21C0F8A4-EB92-A41E-5B62-136F0A00360A}"/>
                      </a:ext>
                    </a:extLst>
                  </p:cNvPr>
                  <p:cNvSpPr/>
                  <p:nvPr/>
                </p:nvSpPr>
                <p:spPr>
                  <a:xfrm flipH="1">
                    <a:off x="9153108" y="2882315"/>
                    <a:ext cx="45719" cy="348480"/>
                  </a:xfrm>
                  <a:prstGeom prst="round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FF31F3A-5A2F-05AE-4606-D2903B096FCA}"/>
                  </a:ext>
                </a:extLst>
              </p:cNvPr>
              <p:cNvGrpSpPr/>
              <p:nvPr/>
            </p:nvGrpSpPr>
            <p:grpSpPr>
              <a:xfrm>
                <a:off x="763072" y="4451227"/>
                <a:ext cx="10241166" cy="446277"/>
                <a:chOff x="702367" y="2836150"/>
                <a:chExt cx="10241166" cy="539995"/>
              </a:xfrm>
            </p:grpSpPr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6250B23-615B-7A58-3479-3BEF063EFE02}"/>
                    </a:ext>
                  </a:extLst>
                </p:cNvPr>
                <p:cNvSpPr txBox="1"/>
                <p:nvPr/>
              </p:nvSpPr>
              <p:spPr>
                <a:xfrm>
                  <a:off x="702367" y="2836150"/>
                  <a:ext cx="1744708" cy="5399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B1451E"/>
                      </a:solidFill>
                      <a:latin typeface="Playfair Display Black" panose="00000500000000000000" pitchFamily="2" charset="0"/>
                    </a:rPr>
                    <a:t>At Gates</a:t>
                  </a:r>
                </a:p>
                <a:p>
                  <a:r>
                    <a:rPr lang="en-US" sz="900" spc="300" dirty="0">
                      <a:solidFill>
                        <a:srgbClr val="1A4230"/>
                      </a:solidFill>
                      <a:latin typeface="Playfair Display Medium" panose="00000500000000000000" pitchFamily="2" charset="0"/>
                    </a:rPr>
                    <a:t>G1 – G5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2EF7F0B-CD6C-D9E2-3138-2BF7913D5B6A}"/>
                    </a:ext>
                  </a:extLst>
                </p:cNvPr>
                <p:cNvSpPr txBox="1"/>
                <p:nvPr/>
              </p:nvSpPr>
              <p:spPr>
                <a:xfrm>
                  <a:off x="3125265" y="2836151"/>
                  <a:ext cx="5349652" cy="5399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1A422F"/>
                      </a:solidFill>
                      <a:latin typeface="Aptos" panose="020B0004020202020204" pitchFamily="34" charset="0"/>
                    </a:rPr>
                    <a:t>Formal Gate submission for Client review &amp; acceptance</a:t>
                  </a:r>
                </a:p>
                <a:p>
                  <a:r>
                    <a:rPr lang="en-US" sz="900" dirty="0">
                      <a:solidFill>
                        <a:srgbClr val="1A4230"/>
                      </a:solidFill>
                      <a:latin typeface="Aptos" panose="020B0004020202020204" pitchFamily="34" charset="0"/>
                    </a:rPr>
                    <a:t>Each phase culminates in a formal sign-off point — SRS, Design Doc, Test Reports, etc.</a:t>
                  </a:r>
                </a:p>
              </p:txBody>
            </p: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6A7D7AF8-35D6-0EE0-B140-728319AA5CE9}"/>
                    </a:ext>
                  </a:extLst>
                </p:cNvPr>
                <p:cNvGrpSpPr/>
                <p:nvPr/>
              </p:nvGrpSpPr>
              <p:grpSpPr>
                <a:xfrm>
                  <a:off x="9153108" y="2836150"/>
                  <a:ext cx="1790425" cy="446891"/>
                  <a:chOff x="9153108" y="2836150"/>
                  <a:chExt cx="1790425" cy="446891"/>
                </a:xfrm>
              </p:grpSpPr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DAA301E6-F51F-5BBF-ED3D-C5771F1A151F}"/>
                      </a:ext>
                    </a:extLst>
                  </p:cNvPr>
                  <p:cNvSpPr txBox="1"/>
                  <p:nvPr/>
                </p:nvSpPr>
                <p:spPr>
                  <a:xfrm>
                    <a:off x="9198826" y="2836150"/>
                    <a:ext cx="1744707" cy="4468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900" spc="300" dirty="0">
                        <a:solidFill>
                          <a:srgbClr val="1A4230"/>
                        </a:solidFill>
                        <a:latin typeface="Playfair Display Medium" panose="00000500000000000000" pitchFamily="2" charset="0"/>
                      </a:rPr>
                      <a:t>AUDIENCE</a:t>
                    </a:r>
                  </a:p>
                  <a:p>
                    <a:r>
                      <a:rPr lang="en-US" sz="900" b="1" dirty="0">
                        <a:solidFill>
                          <a:srgbClr val="1A422F"/>
                        </a:solidFill>
                        <a:latin typeface="Playfair Display Black" panose="00000500000000000000" pitchFamily="2" charset="0"/>
                      </a:rPr>
                      <a:t>Project Director &amp; Imp Team</a:t>
                    </a:r>
                  </a:p>
                </p:txBody>
              </p:sp>
              <p:sp>
                <p:nvSpPr>
                  <p:cNvPr id="32" name="Rounded Rectangle 31">
                    <a:extLst>
                      <a:ext uri="{FF2B5EF4-FFF2-40B4-BE49-F238E27FC236}">
                        <a16:creationId xmlns:a16="http://schemas.microsoft.com/office/drawing/2014/main" id="{7F3E7D54-BDF1-48FF-571F-8CC2E2A2A2F4}"/>
                      </a:ext>
                    </a:extLst>
                  </p:cNvPr>
                  <p:cNvSpPr/>
                  <p:nvPr/>
                </p:nvSpPr>
                <p:spPr>
                  <a:xfrm flipH="1">
                    <a:off x="9153108" y="2882315"/>
                    <a:ext cx="45719" cy="348479"/>
                  </a:xfrm>
                  <a:prstGeom prst="round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AA39DDD-FC38-A1C6-ACE5-FC64B15DB077}"/>
                  </a:ext>
                </a:extLst>
              </p:cNvPr>
              <p:cNvGrpSpPr/>
              <p:nvPr/>
            </p:nvGrpSpPr>
            <p:grpSpPr>
              <a:xfrm>
                <a:off x="763072" y="5184458"/>
                <a:ext cx="10067934" cy="446277"/>
                <a:chOff x="702367" y="2836150"/>
                <a:chExt cx="10067934" cy="539995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C7F47CA-3A5C-A5C3-12B4-B36D0E866A7E}"/>
                    </a:ext>
                  </a:extLst>
                </p:cNvPr>
                <p:cNvSpPr txBox="1"/>
                <p:nvPr/>
              </p:nvSpPr>
              <p:spPr>
                <a:xfrm>
                  <a:off x="702367" y="2836150"/>
                  <a:ext cx="1744708" cy="5399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B1451E"/>
                      </a:solidFill>
                      <a:latin typeface="Playfair Display Black" panose="00000500000000000000" pitchFamily="2" charset="0"/>
                    </a:rPr>
                    <a:t>Ad-hoc</a:t>
                  </a:r>
                </a:p>
                <a:p>
                  <a:r>
                    <a:rPr lang="en-US" sz="900" spc="300" dirty="0">
                      <a:solidFill>
                        <a:srgbClr val="1A4230"/>
                      </a:solidFill>
                      <a:latin typeface="Playfair Display Medium" panose="00000500000000000000" pitchFamily="2" charset="0"/>
                    </a:rPr>
                    <a:t>AS REQUIRED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7D6A180-9CE1-FDD0-77C8-8B34A34D282D}"/>
                    </a:ext>
                  </a:extLst>
                </p:cNvPr>
                <p:cNvSpPr txBox="1"/>
                <p:nvPr/>
              </p:nvSpPr>
              <p:spPr>
                <a:xfrm>
                  <a:off x="3125265" y="2836151"/>
                  <a:ext cx="5349652" cy="5399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1A422F"/>
                      </a:solidFill>
                      <a:latin typeface="Aptos" panose="020B0004020202020204" pitchFamily="34" charset="0"/>
                    </a:rPr>
                    <a:t>Immediate written notification of major issues</a:t>
                  </a:r>
                </a:p>
                <a:p>
                  <a:r>
                    <a:rPr lang="en-US" sz="900" dirty="0">
                      <a:solidFill>
                        <a:srgbClr val="1A4230"/>
                      </a:solidFill>
                      <a:latin typeface="Aptos" panose="020B0004020202020204" pitchFamily="34" charset="0"/>
                    </a:rPr>
                    <a:t>Any major issue, escalating risk, or potential delay — flagged in writing to the PD within 24 hours.</a:t>
                  </a:r>
                </a:p>
              </p:txBody>
            </p: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EB141611-849A-5B39-13AD-A9BF03EB76CF}"/>
                    </a:ext>
                  </a:extLst>
                </p:cNvPr>
                <p:cNvGrpSpPr/>
                <p:nvPr/>
              </p:nvGrpSpPr>
              <p:grpSpPr>
                <a:xfrm>
                  <a:off x="9153108" y="2836150"/>
                  <a:ext cx="1617193" cy="446892"/>
                  <a:chOff x="9153108" y="2836150"/>
                  <a:chExt cx="1617193" cy="446892"/>
                </a:xfrm>
              </p:grpSpPr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59CD7C9B-9DB9-8BE8-2953-025608C24865}"/>
                      </a:ext>
                    </a:extLst>
                  </p:cNvPr>
                  <p:cNvSpPr txBox="1"/>
                  <p:nvPr/>
                </p:nvSpPr>
                <p:spPr>
                  <a:xfrm>
                    <a:off x="9198827" y="2836150"/>
                    <a:ext cx="1571474" cy="44689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900" spc="300" dirty="0">
                        <a:solidFill>
                          <a:srgbClr val="1A4230"/>
                        </a:solidFill>
                        <a:latin typeface="Playfair Display Medium" panose="00000500000000000000" pitchFamily="2" charset="0"/>
                      </a:rPr>
                      <a:t>AUDIENCE</a:t>
                    </a:r>
                  </a:p>
                  <a:p>
                    <a:r>
                      <a:rPr lang="en-US" sz="900" b="1" dirty="0">
                        <a:solidFill>
                          <a:srgbClr val="1A422F"/>
                        </a:solidFill>
                        <a:latin typeface="Playfair Display Black" panose="00000500000000000000" pitchFamily="2" charset="0"/>
                      </a:rPr>
                      <a:t>Project Director </a:t>
                    </a:r>
                  </a:p>
                </p:txBody>
              </p:sp>
              <p:sp>
                <p:nvSpPr>
                  <p:cNvPr id="27" name="Rounded Rectangle 26">
                    <a:extLst>
                      <a:ext uri="{FF2B5EF4-FFF2-40B4-BE49-F238E27FC236}">
                        <a16:creationId xmlns:a16="http://schemas.microsoft.com/office/drawing/2014/main" id="{D2E39724-8A66-E873-7C8D-CA9649728EB7}"/>
                      </a:ext>
                    </a:extLst>
                  </p:cNvPr>
                  <p:cNvSpPr/>
                  <p:nvPr/>
                </p:nvSpPr>
                <p:spPr>
                  <a:xfrm flipH="1">
                    <a:off x="9153108" y="2882315"/>
                    <a:ext cx="45719" cy="348480"/>
                  </a:xfrm>
                  <a:prstGeom prst="round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AFC5E80-6E16-2791-E5B6-CEBD265237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597" y="2841280"/>
                <a:ext cx="10898621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2206693-1A31-570B-DCBB-8A5477A4CE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597" y="3574514"/>
                <a:ext cx="10898621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F6700C5-8BF8-ACCC-FF1E-5DD3ADE117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597" y="4307748"/>
                <a:ext cx="10898621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279DE71-6526-B037-563D-725BA8DF61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597" y="5040982"/>
                <a:ext cx="10898621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36973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F59DF-6D4A-FB5B-E85E-EE96CB899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96238E-D3D3-C5BB-8AB6-574D817BEC79}"/>
              </a:ext>
            </a:extLst>
          </p:cNvPr>
          <p:cNvSpPr/>
          <p:nvPr/>
        </p:nvSpPr>
        <p:spPr>
          <a:xfrm>
            <a:off x="0" y="0"/>
            <a:ext cx="12192000" cy="54296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9727B-E315-4016-916E-2EB13AE50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8" y="51784"/>
            <a:ext cx="427764" cy="435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A095A9-8438-ADC1-5BCA-D16550C2B822}"/>
              </a:ext>
            </a:extLst>
          </p:cNvPr>
          <p:cNvSpPr txBox="1"/>
          <p:nvPr/>
        </p:nvSpPr>
        <p:spPr>
          <a:xfrm>
            <a:off x="535352" y="163757"/>
            <a:ext cx="5261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chemeClr val="bg1"/>
                </a:solidFill>
              </a:rPr>
              <a:t>Government of the People's Republic of Bangladesh</a:t>
            </a:r>
            <a:endParaRPr lang="en-US" sz="800" spc="3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F29F4-AA4D-6141-21D3-6E2774E415CF}"/>
              </a:ext>
            </a:extLst>
          </p:cNvPr>
          <p:cNvSpPr txBox="1"/>
          <p:nvPr/>
        </p:nvSpPr>
        <p:spPr>
          <a:xfrm>
            <a:off x="8344083" y="163757"/>
            <a:ext cx="3847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cap="all" spc="300" dirty="0">
                <a:solidFill>
                  <a:srgbClr val="FFC000"/>
                </a:solidFill>
              </a:rPr>
              <a:t>Ministry of Commerce  ·  BRCP-1 [Part-2]</a:t>
            </a:r>
            <a:endParaRPr lang="en-US" sz="800" spc="300" dirty="0">
              <a:solidFill>
                <a:srgbClr val="FFC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88A36B-9768-FB40-0642-CF367FDD2EBB}"/>
              </a:ext>
            </a:extLst>
          </p:cNvPr>
          <p:cNvSpPr/>
          <p:nvPr/>
        </p:nvSpPr>
        <p:spPr>
          <a:xfrm>
            <a:off x="0" y="6500949"/>
            <a:ext cx="12192000" cy="357051"/>
          </a:xfrm>
          <a:prstGeom prst="rect">
            <a:avLst/>
          </a:prstGeom>
          <a:solidFill>
            <a:srgbClr val="1B42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IBCS-Primax | Tranning Courses">
            <a:extLst>
              <a:ext uri="{FF2B5EF4-FFF2-40B4-BE49-F238E27FC236}">
                <a16:creationId xmlns:a16="http://schemas.microsoft.com/office/drawing/2014/main" id="{23B444C3-C21E-5EDA-C000-60693B06F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3" y="6550512"/>
            <a:ext cx="762924" cy="2612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DE2FBC0-4EF9-F22F-89FB-06C161EA8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901015"/>
            <a:ext cx="10261600" cy="531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22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5AD87-AAFB-FF33-3D1B-A84ACE46B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4E2387-5A79-5736-15B4-6FB368D2B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43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76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2873</TotalTime>
  <Words>2482</Words>
  <Application>Microsoft Macintosh PowerPoint</Application>
  <PresentationFormat>Widescreen</PresentationFormat>
  <Paragraphs>560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Playfair Display Black</vt:lpstr>
      <vt:lpstr>Playfair Display Medium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Tahmid Afsar</dc:creator>
  <cp:lastModifiedBy>Tahmid Afsar</cp:lastModifiedBy>
  <cp:revision>41</cp:revision>
  <dcterms:created xsi:type="dcterms:W3CDTF">2026-09-06T09:37:17Z</dcterms:created>
  <dcterms:modified xsi:type="dcterms:W3CDTF">2026-09-22T07:40:18Z</dcterms:modified>
</cp:coreProperties>
</file>